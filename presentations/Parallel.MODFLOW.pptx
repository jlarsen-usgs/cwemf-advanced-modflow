
<file path=[Content_Types].xml><?xml version="1.0" encoding="utf-8"?>
<Types xmlns="http://schemas.openxmlformats.org/package/2006/content-types">
  <Default Extension="jpeg" ContentType="image/jpeg"/>
  <Default Extension="mp4" ContentType="video/mp4"/>
  <Default Extension="png" ContentType="image/png"/>
  <Default Extension="rels" ContentType="application/vnd.openxmlformats-package.relationships+xml"/>
  <Default Extension="tiff" ContentType="image/tiff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8"/>
  </p:notesMasterIdLst>
  <p:handoutMasterIdLst>
    <p:handoutMasterId r:id="rId19"/>
  </p:handoutMasterIdLst>
  <p:sldIdLst>
    <p:sldId id="349" r:id="rId2"/>
    <p:sldId id="257" r:id="rId3"/>
    <p:sldId id="1276" r:id="rId4"/>
    <p:sldId id="273" r:id="rId5"/>
    <p:sldId id="344" r:id="rId6"/>
    <p:sldId id="313" r:id="rId7"/>
    <p:sldId id="326" r:id="rId8"/>
    <p:sldId id="325" r:id="rId9"/>
    <p:sldId id="318" r:id="rId10"/>
    <p:sldId id="328" r:id="rId11"/>
    <p:sldId id="329" r:id="rId12"/>
    <p:sldId id="319" r:id="rId13"/>
    <p:sldId id="1275" r:id="rId14"/>
    <p:sldId id="1274" r:id="rId15"/>
    <p:sldId id="347" r:id="rId16"/>
    <p:sldId id="272" r:id="rId17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BF8F2"/>
    <a:srgbClr val="44546A"/>
    <a:srgbClr val="FF9300"/>
    <a:srgbClr val="8EFA00"/>
    <a:srgbClr val="942093"/>
    <a:srgbClr val="FF40FF"/>
    <a:srgbClr val="C55A11"/>
    <a:srgbClr val="B5C8E8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5" autoAdjust="0"/>
    <p:restoredTop sz="92154" autoAdjust="0"/>
  </p:normalViewPr>
  <p:slideViewPr>
    <p:cSldViewPr snapToGrid="0">
      <p:cViewPr varScale="1">
        <p:scale>
          <a:sx n="90" d="100"/>
          <a:sy n="90" d="100"/>
        </p:scale>
        <p:origin x="929" y="76"/>
      </p:cViewPr>
      <p:guideLst/>
    </p:cSldViewPr>
  </p:slideViewPr>
  <p:outlineViewPr>
    <p:cViewPr>
      <p:scale>
        <a:sx n="70" d="100"/>
        <a:sy n="70" d="100"/>
      </p:scale>
      <p:origin x="0" y="-11248"/>
    </p:cViewPr>
  </p:outlineViewPr>
  <p:notesTextViewPr>
    <p:cViewPr>
      <p:scale>
        <a:sx n="125" d="100"/>
        <a:sy n="125" d="100"/>
      </p:scale>
      <p:origin x="0" y="0"/>
    </p:cViewPr>
  </p:notesTextViewPr>
  <p:sorterViewPr>
    <p:cViewPr>
      <p:scale>
        <a:sx n="86" d="100"/>
        <a:sy n="86" d="100"/>
      </p:scale>
      <p:origin x="0" y="0"/>
    </p:cViewPr>
  </p:sorterViewPr>
  <p:notesViewPr>
    <p:cSldViewPr snapToGrid="0">
      <p:cViewPr varScale="1">
        <p:scale>
          <a:sx n="113" d="100"/>
          <a:sy n="113" d="100"/>
        </p:scale>
        <p:origin x="4048" y="176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21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handoutMaster" Target="handoutMasters/handout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heme" Target="theme/theme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4AC8313F-D05C-C337-E252-E1E3FE865315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02CEA401-5067-B88B-93B3-4EEC3A925EF8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7C63D62-7C6B-264D-BF2A-05C19DE988BA}" type="datetimeFigureOut">
              <a:rPr lang="en-US" smtClean="0"/>
              <a:t>6/5/2026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3B95B1C-FD8B-50F7-EFEC-03621E0B18D4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263109D-946D-559E-A239-2B91021D6145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B8BBDBE-8D52-E643-94CC-D19241D4BC4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54547211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E16C126-02B6-B04E-9248-119CAF662667}" type="datetimeFigureOut">
              <a:rPr lang="en-US" smtClean="0"/>
              <a:t>6/5/2026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2E4511F-89AD-4F41-8904-318FB6FBD11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785076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2E4511F-89AD-4F41-8904-318FB6FBD11F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2538491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nl-NL" sz="100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2AE3956-8282-4F35-BBF9-4A117B2EA080}" type="slidenum">
              <a:rPr lang="nl-NL" smtClean="0"/>
              <a:t>4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731931828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Processor frequency saturates</a:t>
            </a:r>
          </a:p>
          <a:p>
            <a:r>
              <a:rPr lang="en-US"/>
              <a:t>Transistors go up, but because of cores: need parallel software to leverage that trend</a:t>
            </a:r>
          </a:p>
          <a:p>
            <a:endParaRPr lang="en-US"/>
          </a:p>
          <a:p>
            <a:r>
              <a:rPr lang="en-US" sz="1000"/>
              <a:t>(Why haven’t clock speeds increased, even though transistors have continued to shrink?</a:t>
            </a:r>
            <a:endParaRPr lang="en-US" sz="1000" b="0" i="0">
              <a:solidFill>
                <a:srgbClr val="202124"/>
              </a:solidFill>
              <a:effectLst/>
              <a:latin typeface="arial" panose="020B0604020202020204" pitchFamily="34" charset="0"/>
            </a:endParaRPr>
          </a:p>
          <a:p>
            <a:endParaRPr lang="en-US" sz="1000" b="0" i="0">
              <a:solidFill>
                <a:srgbClr val="202124"/>
              </a:solidFill>
              <a:effectLst/>
              <a:latin typeface="Google Sans"/>
            </a:endParaRPr>
          </a:p>
          <a:p>
            <a:r>
              <a:rPr lang="en-US" sz="1000" b="0" i="0">
                <a:solidFill>
                  <a:srgbClr val="202124"/>
                </a:solidFill>
                <a:effectLst/>
                <a:latin typeface="Google Sans"/>
              </a:rPr>
              <a:t>Dennard Scaling postulated that </a:t>
            </a:r>
            <a:r>
              <a:rPr lang="en-US" sz="1000" b="0" i="0">
                <a:solidFill>
                  <a:srgbClr val="040C28"/>
                </a:solidFill>
                <a:effectLst/>
                <a:latin typeface="Google Sans"/>
              </a:rPr>
              <a:t>as </a:t>
            </a:r>
            <a:r>
              <a:rPr lang="en-US" sz="1000" b="1" i="0">
                <a:solidFill>
                  <a:srgbClr val="040C28"/>
                </a:solidFill>
                <a:effectLst/>
                <a:latin typeface="Google Sans"/>
              </a:rPr>
              <a:t>transistors get smaller their power density stays constant</a:t>
            </a:r>
            <a:r>
              <a:rPr lang="en-US" sz="1000" b="0" i="0">
                <a:solidFill>
                  <a:srgbClr val="040C28"/>
                </a:solidFill>
                <a:effectLst/>
                <a:latin typeface="Google Sans"/>
              </a:rPr>
              <a:t>, so that the power use stays in proportion with area</a:t>
            </a:r>
            <a:r>
              <a:rPr lang="en-US" sz="1000" b="0" i="0">
                <a:solidFill>
                  <a:srgbClr val="202124"/>
                </a:solidFill>
                <a:effectLst/>
                <a:latin typeface="Google Sans"/>
              </a:rPr>
              <a:t>. This allowed CPU manufacturers to raise clock frequencies from one generation to the next without significantly increasing overall circuit power consumption. </a:t>
            </a:r>
            <a:r>
              <a:rPr lang="en-US" sz="1000" b="0" i="0">
                <a:solidFill>
                  <a:srgbClr val="202124"/>
                </a:solidFill>
                <a:effectLst/>
                <a:latin typeface="arial" panose="020B0604020202020204" pitchFamily="34" charset="0"/>
              </a:rPr>
              <a:t>But there was a limit to how long this would last. Smaller devices with thinner dielectrics and shorter channels are more prone to leakage.)</a:t>
            </a:r>
            <a:endParaRPr lang="nl-NL" sz="100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2AE3956-8282-4F35-BBF9-4A117B2EA080}" type="slidenum">
              <a:rPr lang="nl-NL" smtClean="0"/>
              <a:t>5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493382130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CA8386C-EF32-41E6-A110-2ABAB8E46370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3353340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How much faster can you get?</a:t>
            </a:r>
          </a:p>
          <a:p>
            <a:endParaRPr lang="en-US"/>
          </a:p>
          <a:p>
            <a:endParaRPr lang="nl-NL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2AE3956-8282-4F35-BBF9-4A117B2EA080}" type="slidenum">
              <a:rPr lang="nl-NL" smtClean="0"/>
              <a:t>7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00059567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Solve the decomposed domain by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CA8386C-EF32-41E6-A110-2ABAB8E46370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26354113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/>
              <a:t>USGS - Deltares working together on parallelization since 2017 (and first discussion in 2010 even)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/>
              <a:t>Earlier work shows promising performance improvements for real, integrated (5 different codes) national-scale simulation (2021)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/>
              <a:t>Global groundwater simulation with a MODFLOW 6 prototype (2024)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/>
              <a:t>Still it has taken some time to have this available in the core version, because more work was needed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/>
              <a:t>To come up with a </a:t>
            </a:r>
            <a:r>
              <a:rPr lang="en-US" b="1"/>
              <a:t>framework solution</a:t>
            </a:r>
            <a:r>
              <a:rPr lang="en-US" b="0"/>
              <a:t>, that 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en-US" b="0"/>
              <a:t>works for all model types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en-US" b="0"/>
              <a:t>is feature complete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en-US" b="0"/>
              <a:t>supports a separation of concerns such that the parallel details in the code are isolated from the hydrologic concepts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en-US" b="0"/>
              <a:t>Has MODFLOW distributable in its core set of functionality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en-US" b="0"/>
              <a:t>FloPy support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CA8386C-EF32-41E6-A110-2ABAB8E46370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32420399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MODFLOW was designed for domain decomposition</a:t>
            </a:r>
          </a:p>
          <a:p>
            <a:r>
              <a:rPr lang="en-US"/>
              <a:t>Tight coupling at the matrix level through used defined exchanges with connection data</a:t>
            </a:r>
          </a:p>
          <a:p>
            <a:endParaRPr lang="en-US"/>
          </a:p>
          <a:p>
            <a:r>
              <a:rPr lang="en-US"/>
              <a:t>Three building blocks to the method, all of them require no extra work or input from the modeler</a:t>
            </a:r>
          </a:p>
          <a:p>
            <a:r>
              <a:rPr lang="en-US"/>
              <a:t>Let’s have a look at those…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CA8386C-EF32-41E6-A110-2ABAB8E46370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2320574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MODFLOW parallel is not standalone, third party libraries are needed. Mostly MPI and PETSc.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CA8386C-EF32-41E6-A110-2ABAB8E46370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29616284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857CA4D-CC6F-E2F8-2798-62328873DA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2702CFF-42BD-3634-5E1C-9A26663CACF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276326C-03FE-25D7-A105-E66DCFAE881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MODFLOW parallel is not standalone, third party libraries are needed. Mostly MPI and PETSc.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4596E0C-227B-CADD-7E16-D62F09121FC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CA8386C-EF32-41E6-A110-2ABAB8E46370}" type="slidenum">
              <a:rPr lang="en-US" smtClean="0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49299155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E42286B-97A9-3EB4-BC16-7660996280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EE46381-8DCC-4225-F7D2-967BA2B1C8A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E6DCE41-B4B9-DA9F-BE72-893BCC5669F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MODFLOW parallel is not standalone, third party libraries are needed. Mostly MPI and PETSc.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1B0491E-2D39-2FB8-92A3-657C471C0C8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CA8386C-EF32-41E6-A110-2ABAB8E46370}" type="slidenum">
              <a:rPr lang="en-US" smtClean="0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7306612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F5EE73-9F0D-9CBA-3E3F-2C75F8645E2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6C1D58D-93DB-5F5B-5B09-FEAB4BFE5A1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6BAEFB6-4B37-A1C2-8570-B7DDBFA0A56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565F58-1F49-BE46-832A-FEA09DF095BE}" type="datetimeFigureOut">
              <a:rPr lang="en-US" smtClean="0"/>
              <a:t>6/5/2026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A56C952-1334-8537-4A9E-E4697874DDE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0ABAB28-6ABA-5C59-637C-448DAA1F45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B8AFF3A-B64C-FB47-98BE-2C7E8432F1E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2539433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E15758B-1656-5C01-3165-EC2E664A79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0F27428-7273-6203-196A-970C7171667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A9C6C70-ABF9-EBEF-AAA8-4DB65304A43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565F58-1F49-BE46-832A-FEA09DF095BE}" type="datetimeFigureOut">
              <a:rPr lang="en-US" smtClean="0"/>
              <a:t>6/5/2026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2BE0231-47C2-F50F-8779-D003228805C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0215FBE-39AA-2D88-CD95-8FFF78B216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B8AFF3A-B64C-FB47-98BE-2C7E8432F1E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2223524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9716C50-98E8-A5C6-3381-1CE0C27F843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28F142F-894D-AA7C-DBC8-032FC95577F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9BBBF5A-F203-4FDF-CC58-2586231ED8B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565F58-1F49-BE46-832A-FEA09DF095BE}" type="datetimeFigureOut">
              <a:rPr lang="en-US" smtClean="0"/>
              <a:t>6/5/2026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0A9721F-24AE-271F-2CE4-68941A8B003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A26FAD1-05BB-5421-188C-26183E6CDA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B8AFF3A-B64C-FB47-98BE-2C7E8432F1E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7905164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97F5A4F-1513-74AD-7E4C-B092106652A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AC35B28-8AF0-B98E-259C-54573A7213B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54B17B4-C0C0-2FF7-503B-D5018910B04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FDF2D3E-619A-77B5-ED03-96059273BAE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565F58-1F49-BE46-832A-FEA09DF095BE}" type="datetimeFigureOut">
              <a:rPr lang="en-US" smtClean="0"/>
              <a:t>6/5/2026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7847F80-621F-443D-6A38-1C1B067AC35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5C847A3-5DA8-8DCC-691C-1B8811C17D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B8AFF3A-B64C-FB47-98BE-2C7E8432F1E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3653076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0D733B-5A0E-A74B-E3C9-B5129D7EF5C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6572441-F4FF-AFCD-E68F-7EDEF9A2B43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406572C-C462-7A4B-0229-7060B0AC4D2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15B84DC-1E7F-9F05-F755-6F723697B3E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9AA577C6-B025-863A-656E-13F97C1725A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8A920F7D-53FC-B3E7-B652-E59B88443E7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565F58-1F49-BE46-832A-FEA09DF095BE}" type="datetimeFigureOut">
              <a:rPr lang="en-US" smtClean="0"/>
              <a:t>6/5/2026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68108136-3B4C-3D35-1E5F-7C5A6925290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E69EEF81-E836-0823-A1BD-BEAA42689C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B8AFF3A-B64C-FB47-98BE-2C7E8432F1E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0734974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91BC814-18D4-9D2C-3DF6-FB2010C0E3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54CDF83-2EA6-3B85-8246-698396BBED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565F58-1F49-BE46-832A-FEA09DF095BE}" type="datetimeFigureOut">
              <a:rPr lang="en-US" smtClean="0"/>
              <a:t>6/5/2026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314A7FB-91BB-B298-B0D0-A8E1886BDC8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AB1906E-96F2-3C63-FA50-5A9C955191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B8AFF3A-B64C-FB47-98BE-2C7E8432F1E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7548948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365B91C-A436-E67B-375F-F86358978CF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565F58-1F49-BE46-832A-FEA09DF095BE}" type="datetimeFigureOut">
              <a:rPr lang="en-US" smtClean="0"/>
              <a:t>6/5/2026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0A279893-3503-01CE-9B96-58B504D26E5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4038A99-1DA8-2FB6-88F5-8EDD62888EC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B8AFF3A-B64C-FB47-98BE-2C7E8432F1E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7337580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DBD06B-7469-0F36-BC4B-D296A4201C5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96EC4D9-0FC2-7953-723A-E6E2FDE8E9E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3D8BE90-1EE5-689D-5871-D7133D893BE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B2990BA-E436-9EED-E3A2-043FD6E5148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565F58-1F49-BE46-832A-FEA09DF095BE}" type="datetimeFigureOut">
              <a:rPr lang="en-US" smtClean="0"/>
              <a:t>6/5/2026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BCF6BC8-4ECD-5F99-7BCA-39426332C9E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51F4330-289B-420D-E538-7E1BC59322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B8AFF3A-B64C-FB47-98BE-2C7E8432F1E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1561661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1F9BF4-8227-A005-E63F-FBB9832CE69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11928981-2D66-D5A6-1311-C3246C575A3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E7D3A4D-659E-8B0F-78D8-0F13E57E39D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FBB979F-B8FB-B83A-2A56-4886F863825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565F58-1F49-BE46-832A-FEA09DF095BE}" type="datetimeFigureOut">
              <a:rPr lang="en-US" smtClean="0"/>
              <a:t>6/5/2026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465C9F7-013A-5504-EC01-14566EE7185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114B9F1-21AA-8626-D17C-F20B7BE839F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B8AFF3A-B64C-FB47-98BE-2C7E8432F1E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0286626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D7E405E-AB6E-4E4F-EBAC-1C74A0A35B1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1AD0ACE-800C-8BE5-1782-0864B5AAB65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A95567C-96EF-9E0F-113E-2A81F8D9451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565F58-1F49-BE46-832A-FEA09DF095BE}" type="datetimeFigureOut">
              <a:rPr lang="en-US" smtClean="0"/>
              <a:t>6/5/2026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73D8CE6-8BAD-E494-C669-63CB0395620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7F19E4B-BE1C-F3C9-BBFE-A49C71FEC6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B8AFF3A-B64C-FB47-98BE-2C7E8432F1E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0421365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1C0D1714-7553-D80A-1AF7-FBB00BB21C39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0BE473E-D85D-EBE7-4FD7-62BA676602C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5672556-B7A0-B69E-16DC-D8676826642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565F58-1F49-BE46-832A-FEA09DF095BE}" type="datetimeFigureOut">
              <a:rPr lang="en-US" smtClean="0"/>
              <a:t>6/5/2026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284357B-FBA1-9CE8-47F0-BC0E96FC44F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2D08319-3ABE-64F5-5371-6389D40D4CC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B8AFF3A-B64C-FB47-98BE-2C7E8432F1E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182095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F8036C90-ECBD-AECC-D49D-BEDC74C8BD5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BCBA6B6-BF89-3BF2-96C8-B6ABF009595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255B357-5985-0DB7-B224-3AB9F23A9932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C565F58-1F49-BE46-832A-FEA09DF095BE}" type="datetimeFigureOut">
              <a:rPr lang="en-US" smtClean="0"/>
              <a:t>6/5/2026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F82BFDF-6476-53CD-0FDA-2049F89AB6B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FFFB41C-FD52-923F-9BA6-264FE8E27FF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B8AFF3A-B64C-FB47-98BE-2C7E8432F1E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3437391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13" Type="http://schemas.openxmlformats.org/officeDocument/2006/relationships/image" Target="../media/image11.jpeg"/><Relationship Id="rId3" Type="http://schemas.openxmlformats.org/officeDocument/2006/relationships/image" Target="../media/image1.jpeg"/><Relationship Id="rId7" Type="http://schemas.openxmlformats.org/officeDocument/2006/relationships/image" Target="../media/image5.png"/><Relationship Id="rId12" Type="http://schemas.openxmlformats.org/officeDocument/2006/relationships/image" Target="../media/image10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11" Type="http://schemas.openxmlformats.org/officeDocument/2006/relationships/image" Target="../media/image9.png"/><Relationship Id="rId5" Type="http://schemas.openxmlformats.org/officeDocument/2006/relationships/image" Target="../media/image3.png"/><Relationship Id="rId15" Type="http://schemas.openxmlformats.org/officeDocument/2006/relationships/image" Target="../media/image13.jpeg"/><Relationship Id="rId10" Type="http://schemas.openxmlformats.org/officeDocument/2006/relationships/image" Target="../media/image8.jpeg"/><Relationship Id="rId4" Type="http://schemas.openxmlformats.org/officeDocument/2006/relationships/image" Target="../media/image2.tiff"/><Relationship Id="rId9" Type="http://schemas.openxmlformats.org/officeDocument/2006/relationships/image" Target="../media/image7.png"/><Relationship Id="rId14" Type="http://schemas.openxmlformats.org/officeDocument/2006/relationships/image" Target="../media/image12.jpe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6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video" Target="../media/media1.mp4"/><Relationship Id="rId1" Type="http://schemas.microsoft.com/office/2007/relationships/media" Target="../media/media1.mp4"/><Relationship Id="rId6" Type="http://schemas.openxmlformats.org/officeDocument/2006/relationships/image" Target="../media/image19.png"/><Relationship Id="rId5" Type="http://schemas.openxmlformats.org/officeDocument/2006/relationships/image" Target="../media/image18.png"/><Relationship Id="rId4" Type="http://schemas.openxmlformats.org/officeDocument/2006/relationships/image" Target="../media/image17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2.png"/><Relationship Id="rId4" Type="http://schemas.openxmlformats.org/officeDocument/2006/relationships/image" Target="../media/image21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7.png"/><Relationship Id="rId5" Type="http://schemas.openxmlformats.org/officeDocument/2006/relationships/image" Target="../media/image26.png"/><Relationship Id="rId4" Type="http://schemas.openxmlformats.org/officeDocument/2006/relationships/image" Target="../media/image25.jpe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40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7" Type="http://schemas.openxmlformats.org/officeDocument/2006/relationships/image" Target="../media/image25.jpe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2.png"/><Relationship Id="rId5" Type="http://schemas.openxmlformats.org/officeDocument/2006/relationships/image" Target="../media/image31.png"/><Relationship Id="rId4" Type="http://schemas.openxmlformats.org/officeDocument/2006/relationships/image" Target="../media/image30.png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38.png"/><Relationship Id="rId3" Type="http://schemas.openxmlformats.org/officeDocument/2006/relationships/image" Target="../media/image33.png"/><Relationship Id="rId7" Type="http://schemas.openxmlformats.org/officeDocument/2006/relationships/image" Target="../media/image37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6.png"/><Relationship Id="rId5" Type="http://schemas.openxmlformats.org/officeDocument/2006/relationships/image" Target="../media/image35.png"/><Relationship Id="rId4" Type="http://schemas.openxmlformats.org/officeDocument/2006/relationships/image" Target="../media/image34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1.png"/><Relationship Id="rId4" Type="http://schemas.openxmlformats.org/officeDocument/2006/relationships/image" Target="../media/image40.png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2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3.jpe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4.jpe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5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6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8.png"/><Relationship Id="rId2" Type="http://schemas.openxmlformats.org/officeDocument/2006/relationships/image" Target="../media/image47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9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0.png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1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0285F4-E37D-08BC-B81D-6963718425E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2088760"/>
            <a:ext cx="9144000" cy="780715"/>
          </a:xfrm>
        </p:spPr>
        <p:txBody>
          <a:bodyPr>
            <a:normAutofit fontScale="90000"/>
          </a:bodyPr>
          <a:lstStyle/>
          <a:p>
            <a:r>
              <a:rPr lang="en-US" sz="5400" b="1" dirty="0"/>
              <a:t>Parallel MODFLOW 6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176E247-343B-E9C1-80E4-E327ED132DE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5026805"/>
            <a:ext cx="9144000" cy="673079"/>
          </a:xfrm>
        </p:spPr>
        <p:txBody>
          <a:bodyPr>
            <a:noAutofit/>
          </a:bodyPr>
          <a:lstStyle/>
          <a:p>
            <a:r>
              <a:rPr lang="en-US" sz="1600" b="1" dirty="0"/>
              <a:t>By the MODFLOW Development Team</a:t>
            </a:r>
          </a:p>
          <a:p>
            <a:r>
              <a:rPr lang="en-US" sz="1600" b="1" dirty="0"/>
              <a:t>June 5-6, 2026</a:t>
            </a:r>
          </a:p>
        </p:txBody>
      </p:sp>
      <p:pic>
        <p:nvPicPr>
          <p:cNvPr id="15" name="Picture 14" descr="tom_analog_1978">
            <a:extLst>
              <a:ext uri="{FF2B5EF4-FFF2-40B4-BE49-F238E27FC236}">
                <a16:creationId xmlns:a16="http://schemas.microsoft.com/office/drawing/2014/main" id="{52B37853-4E59-185C-9FB9-D429BE189A9B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r="-1" b="-1"/>
          <a:stretch/>
        </p:blipFill>
        <p:spPr bwMode="auto">
          <a:xfrm>
            <a:off x="486608" y="3238270"/>
            <a:ext cx="1600200" cy="1600200"/>
          </a:xfrm>
          <a:custGeom>
            <a:avLst/>
            <a:gdLst/>
            <a:ahLst/>
            <a:cxnLst/>
            <a:rect l="l" t="t" r="r" b="b"/>
            <a:pathLst>
              <a:path w="2282932" h="2282932">
                <a:moveTo>
                  <a:pt x="1141466" y="0"/>
                </a:moveTo>
                <a:cubicBezTo>
                  <a:pt x="1771880" y="0"/>
                  <a:pt x="2282932" y="511052"/>
                  <a:pt x="2282932" y="1141466"/>
                </a:cubicBezTo>
                <a:cubicBezTo>
                  <a:pt x="2282932" y="1771880"/>
                  <a:pt x="1771880" y="2282932"/>
                  <a:pt x="1141466" y="2282932"/>
                </a:cubicBezTo>
                <a:cubicBezTo>
                  <a:pt x="511052" y="2282932"/>
                  <a:pt x="0" y="1771880"/>
                  <a:pt x="0" y="1141466"/>
                </a:cubicBezTo>
                <a:cubicBezTo>
                  <a:pt x="0" y="511052"/>
                  <a:pt x="511052" y="0"/>
                  <a:pt x="1141466" y="0"/>
                </a:cubicBezTo>
                <a:close/>
              </a:path>
            </a:pathLst>
          </a:custGeom>
          <a:noFill/>
          <a:effectLst>
            <a:glow>
              <a:schemeClr val="accent1"/>
            </a:glow>
          </a:effectLst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</a:extLst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D84B3760-DB3B-50E1-7AB2-7D6777C0738B}"/>
              </a:ext>
            </a:extLst>
          </p:cNvPr>
          <p:cNvPicPr>
            <a:picLocks noChangeAspect="1"/>
          </p:cNvPicPr>
          <p:nvPr/>
        </p:nvPicPr>
        <p:blipFill rotWithShape="1"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b="-6"/>
          <a:stretch/>
        </p:blipFill>
        <p:spPr>
          <a:xfrm>
            <a:off x="2439068" y="3293357"/>
            <a:ext cx="1600200" cy="1600200"/>
          </a:xfrm>
          <a:custGeom>
            <a:avLst/>
            <a:gdLst/>
            <a:ahLst/>
            <a:cxnLst/>
            <a:rect l="l" t="t" r="r" b="b"/>
            <a:pathLst>
              <a:path w="2282932" h="2282932">
                <a:moveTo>
                  <a:pt x="1141466" y="0"/>
                </a:moveTo>
                <a:cubicBezTo>
                  <a:pt x="1771880" y="0"/>
                  <a:pt x="2282932" y="511052"/>
                  <a:pt x="2282932" y="1141466"/>
                </a:cubicBezTo>
                <a:cubicBezTo>
                  <a:pt x="2282932" y="1771880"/>
                  <a:pt x="1771880" y="2282932"/>
                  <a:pt x="1141466" y="2282932"/>
                </a:cubicBezTo>
                <a:cubicBezTo>
                  <a:pt x="511052" y="2282932"/>
                  <a:pt x="0" y="1771880"/>
                  <a:pt x="0" y="1141466"/>
                </a:cubicBezTo>
                <a:cubicBezTo>
                  <a:pt x="0" y="511052"/>
                  <a:pt x="511052" y="0"/>
                  <a:pt x="1141466" y="0"/>
                </a:cubicBezTo>
                <a:close/>
              </a:path>
            </a:pathLst>
          </a:custGeom>
          <a:effectLst>
            <a:glow>
              <a:schemeClr val="accent1"/>
            </a:glow>
            <a:reflection endPos="0" dist="50800" dir="5400000" sy="-100000" algn="bl" rotWithShape="0"/>
          </a:effectLst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09117932-75EA-B0AF-4A6B-37E1D93D186C}"/>
              </a:ext>
            </a:extLst>
          </p:cNvPr>
          <p:cNvPicPr>
            <a:picLocks noChangeAspect="1"/>
          </p:cNvPicPr>
          <p:nvPr/>
        </p:nvPicPr>
        <p:blipFill rotWithShape="1">
          <a:blip r:embed="rId5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b="-2"/>
          <a:stretch/>
        </p:blipFill>
        <p:spPr>
          <a:xfrm>
            <a:off x="8296448" y="3315423"/>
            <a:ext cx="1600200" cy="1600200"/>
          </a:xfrm>
          <a:custGeom>
            <a:avLst/>
            <a:gdLst/>
            <a:ahLst/>
            <a:cxnLst/>
            <a:rect l="l" t="t" r="r" b="b"/>
            <a:pathLst>
              <a:path w="2593464" h="2593464">
                <a:moveTo>
                  <a:pt x="1296732" y="0"/>
                </a:moveTo>
                <a:cubicBezTo>
                  <a:pt x="2012897" y="0"/>
                  <a:pt x="2593464" y="580567"/>
                  <a:pt x="2593464" y="1296732"/>
                </a:cubicBezTo>
                <a:cubicBezTo>
                  <a:pt x="2593464" y="2012897"/>
                  <a:pt x="2012897" y="2593464"/>
                  <a:pt x="1296732" y="2593464"/>
                </a:cubicBezTo>
                <a:cubicBezTo>
                  <a:pt x="580567" y="2593464"/>
                  <a:pt x="0" y="2012897"/>
                  <a:pt x="0" y="1296732"/>
                </a:cubicBezTo>
                <a:cubicBezTo>
                  <a:pt x="0" y="580567"/>
                  <a:pt x="580567" y="0"/>
                  <a:pt x="1296732" y="0"/>
                </a:cubicBezTo>
                <a:close/>
              </a:path>
            </a:pathLst>
          </a:custGeom>
          <a:effectLst>
            <a:glow>
              <a:srgbClr val="FFFF00"/>
            </a:glow>
            <a:reflection endPos="0" dist="50800" dir="5400000" sy="-100000" algn="bl" rotWithShape="0"/>
          </a:effectLst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2E355003-9E36-7400-2394-0A3B7B14123C}"/>
              </a:ext>
            </a:extLst>
          </p:cNvPr>
          <p:cNvPicPr>
            <a:picLocks noChangeAspect="1"/>
          </p:cNvPicPr>
          <p:nvPr/>
        </p:nvPicPr>
        <p:blipFill rotWithShape="1">
          <a:blip r:embed="rId6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4391528" y="3315423"/>
            <a:ext cx="1600200" cy="1600200"/>
          </a:xfrm>
          <a:custGeom>
            <a:avLst/>
            <a:gdLst/>
            <a:ahLst/>
            <a:cxnLst/>
            <a:rect l="l" t="t" r="r" b="b"/>
            <a:pathLst>
              <a:path w="2282932" h="2282932">
                <a:moveTo>
                  <a:pt x="1141466" y="0"/>
                </a:moveTo>
                <a:cubicBezTo>
                  <a:pt x="1771880" y="0"/>
                  <a:pt x="2282932" y="511052"/>
                  <a:pt x="2282932" y="1141466"/>
                </a:cubicBezTo>
                <a:cubicBezTo>
                  <a:pt x="2282932" y="1771880"/>
                  <a:pt x="1771880" y="2282932"/>
                  <a:pt x="1141466" y="2282932"/>
                </a:cubicBezTo>
                <a:cubicBezTo>
                  <a:pt x="511052" y="2282932"/>
                  <a:pt x="0" y="1771880"/>
                  <a:pt x="0" y="1141466"/>
                </a:cubicBezTo>
                <a:cubicBezTo>
                  <a:pt x="0" y="511052"/>
                  <a:pt x="511052" y="0"/>
                  <a:pt x="1141466" y="0"/>
                </a:cubicBezTo>
                <a:close/>
              </a:path>
            </a:pathLst>
          </a:custGeom>
          <a:effectLst>
            <a:glow>
              <a:schemeClr val="accent1"/>
            </a:glow>
            <a:reflection endPos="0" dist="50800" dir="5400000" sy="-100000" algn="bl" rotWithShape="0"/>
          </a:effectLst>
        </p:spPr>
      </p:pic>
      <p:pic>
        <p:nvPicPr>
          <p:cNvPr id="19" name="Picture 2">
            <a:extLst>
              <a:ext uri="{FF2B5EF4-FFF2-40B4-BE49-F238E27FC236}">
                <a16:creationId xmlns:a16="http://schemas.microsoft.com/office/drawing/2014/main" id="{C060E891-3C90-9942-EFAB-FC69FE47A822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7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 bwMode="auto">
          <a:xfrm>
            <a:off x="6343988" y="3301929"/>
            <a:ext cx="1600200" cy="1600200"/>
          </a:xfrm>
          <a:custGeom>
            <a:avLst/>
            <a:gdLst/>
            <a:ahLst/>
            <a:cxnLst/>
            <a:rect l="l" t="t" r="r" b="b"/>
            <a:pathLst>
              <a:path w="2282932" h="2282932">
                <a:moveTo>
                  <a:pt x="1141466" y="0"/>
                </a:moveTo>
                <a:cubicBezTo>
                  <a:pt x="1771880" y="0"/>
                  <a:pt x="2282932" y="511052"/>
                  <a:pt x="2282932" y="1141466"/>
                </a:cubicBezTo>
                <a:cubicBezTo>
                  <a:pt x="2282932" y="1771880"/>
                  <a:pt x="1771880" y="2282932"/>
                  <a:pt x="1141466" y="2282932"/>
                </a:cubicBezTo>
                <a:cubicBezTo>
                  <a:pt x="511052" y="2282932"/>
                  <a:pt x="0" y="1771880"/>
                  <a:pt x="0" y="1141466"/>
                </a:cubicBezTo>
                <a:cubicBezTo>
                  <a:pt x="0" y="511052"/>
                  <a:pt x="511052" y="0"/>
                  <a:pt x="1141466" y="0"/>
                </a:cubicBezTo>
                <a:close/>
              </a:path>
            </a:pathLst>
          </a:custGeom>
          <a:solidFill>
            <a:schemeClr val="bg2">
              <a:lumMod val="60000"/>
              <a:lumOff val="40000"/>
            </a:schemeClr>
          </a:solidFill>
          <a:effectLst>
            <a:glow>
              <a:schemeClr val="accent1"/>
            </a:glow>
            <a:reflection endPos="0" dist="50800" dir="5400000" sy="-100000" algn="bl" rotWithShape="0"/>
          </a:effectLst>
        </p:spPr>
      </p:pic>
      <p:pic>
        <p:nvPicPr>
          <p:cNvPr id="20" name="Picture 19">
            <a:extLst>
              <a:ext uri="{FF2B5EF4-FFF2-40B4-BE49-F238E27FC236}">
                <a16:creationId xmlns:a16="http://schemas.microsoft.com/office/drawing/2014/main" id="{979D12B1-D935-CF94-629F-70E2E678634D}"/>
              </a:ext>
            </a:extLst>
          </p:cNvPr>
          <p:cNvPicPr>
            <a:picLocks noChangeAspect="1"/>
          </p:cNvPicPr>
          <p:nvPr/>
        </p:nvPicPr>
        <p:blipFill rotWithShape="1">
          <a:blip r:embed="rId8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r="-2"/>
          <a:stretch/>
        </p:blipFill>
        <p:spPr>
          <a:xfrm>
            <a:off x="10248906" y="3315423"/>
            <a:ext cx="1600200" cy="1600200"/>
          </a:xfrm>
          <a:custGeom>
            <a:avLst/>
            <a:gdLst/>
            <a:ahLst/>
            <a:cxnLst/>
            <a:rect l="l" t="t" r="r" b="b"/>
            <a:pathLst>
              <a:path w="2282932" h="2282932">
                <a:moveTo>
                  <a:pt x="1141466" y="0"/>
                </a:moveTo>
                <a:cubicBezTo>
                  <a:pt x="1771880" y="0"/>
                  <a:pt x="2282932" y="511052"/>
                  <a:pt x="2282932" y="1141466"/>
                </a:cubicBezTo>
                <a:cubicBezTo>
                  <a:pt x="2282932" y="1771880"/>
                  <a:pt x="1771880" y="2282932"/>
                  <a:pt x="1141466" y="2282932"/>
                </a:cubicBezTo>
                <a:cubicBezTo>
                  <a:pt x="511052" y="2282932"/>
                  <a:pt x="0" y="1771880"/>
                  <a:pt x="0" y="1141466"/>
                </a:cubicBezTo>
                <a:cubicBezTo>
                  <a:pt x="0" y="511052"/>
                  <a:pt x="511052" y="0"/>
                  <a:pt x="1141466" y="0"/>
                </a:cubicBezTo>
                <a:close/>
              </a:path>
            </a:pathLst>
          </a:custGeom>
          <a:effectLst>
            <a:glow>
              <a:schemeClr val="accent1"/>
            </a:glow>
            <a:reflection endPos="0" dist="50800" dir="5400000" sy="-100000" algn="bl" rotWithShape="0"/>
          </a:effectLst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C916268C-44BD-5DB0-61A6-E4470305D0F3}"/>
              </a:ext>
            </a:extLst>
          </p:cNvPr>
          <p:cNvPicPr>
            <a:picLocks noChangeAspect="1"/>
          </p:cNvPicPr>
          <p:nvPr/>
        </p:nvPicPr>
        <p:blipFill>
          <a:blip r:embed="rId9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339968" y="6114309"/>
            <a:ext cx="1509138" cy="603654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6005F2AB-931E-B285-D605-C0EFC93D0693}"/>
              </a:ext>
            </a:extLst>
          </p:cNvPr>
          <p:cNvPicPr>
            <a:picLocks noChangeAspect="1"/>
          </p:cNvPicPr>
          <p:nvPr/>
        </p:nvPicPr>
        <p:blipFill>
          <a:blip r:embed="rId10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241805" y="6076364"/>
            <a:ext cx="2090909" cy="679545"/>
          </a:xfrm>
          <a:prstGeom prst="rect">
            <a:avLst/>
          </a:prstGeom>
        </p:spPr>
      </p:pic>
      <p:pic>
        <p:nvPicPr>
          <p:cNvPr id="6" name="Picture 2" descr="S.S. Papadopulos &amp; Associates, Inc">
            <a:extLst>
              <a:ext uri="{FF2B5EF4-FFF2-40B4-BE49-F238E27FC236}">
                <a16:creationId xmlns:a16="http://schemas.microsoft.com/office/drawing/2014/main" id="{722A44AC-28A0-8C07-D625-54E1E6CB827C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11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t="14673" b="17806"/>
          <a:stretch>
            <a:fillRect/>
          </a:stretch>
        </p:blipFill>
        <p:spPr bwMode="auto">
          <a:xfrm>
            <a:off x="6278187" y="5875287"/>
            <a:ext cx="1455414" cy="98271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" name="Picture 4" descr="Our structure | University Corporation for Atmospheric Research">
            <a:extLst>
              <a:ext uri="{FF2B5EF4-FFF2-40B4-BE49-F238E27FC236}">
                <a16:creationId xmlns:a16="http://schemas.microsoft.com/office/drawing/2014/main" id="{42DA06A1-C5A8-6D61-7D2E-D4886F674FD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8122385" y="5975541"/>
            <a:ext cx="1828800" cy="63194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" name="Picture 6" descr="INTERA Incorporated | LinkedIn">
            <a:extLst>
              <a:ext uri="{FF2B5EF4-FFF2-40B4-BE49-F238E27FC236}">
                <a16:creationId xmlns:a16="http://schemas.microsoft.com/office/drawing/2014/main" id="{D5CC6A3D-DBA6-4D92-0986-F63BB1B41AE5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13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4474027" y="5833132"/>
            <a:ext cx="1415376" cy="98270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9" name="Picture 6" descr="GSI Environmental Inc. | LinkedIn">
            <a:extLst>
              <a:ext uri="{FF2B5EF4-FFF2-40B4-BE49-F238E27FC236}">
                <a16:creationId xmlns:a16="http://schemas.microsoft.com/office/drawing/2014/main" id="{2224CE58-04AA-AF4C-3F19-A2A295669F71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14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 bwMode="auto">
          <a:xfrm>
            <a:off x="2721498" y="6009923"/>
            <a:ext cx="1363745" cy="71343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9C859832-B62F-124E-34D2-C178E317FC20}"/>
              </a:ext>
            </a:extLst>
          </p:cNvPr>
          <p:cNvPicPr>
            <a:picLocks noChangeAspect="1"/>
          </p:cNvPicPr>
          <p:nvPr/>
        </p:nvPicPr>
        <p:blipFill>
          <a:blip r:embed="rId15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l="-3213"/>
          <a:stretch>
            <a:fillRect/>
          </a:stretch>
        </p:blipFill>
        <p:spPr>
          <a:xfrm>
            <a:off x="-392856" y="11166"/>
            <a:ext cx="12584856" cy="164147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8292722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46EAA71-8433-2C5B-B140-1691ABD327E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>
                <a:solidFill>
                  <a:schemeClr val="tx2"/>
                </a:solidFill>
              </a:rPr>
              <a:t>Motivation</a:t>
            </a:r>
            <a:endParaRPr lang="en-US" b="1" dirty="0">
              <a:solidFill>
                <a:schemeClr val="tx2"/>
              </a:solidFill>
            </a:endParaRPr>
          </a:p>
        </p:txBody>
      </p:sp>
      <p:sp>
        <p:nvSpPr>
          <p:cNvPr id="11" name="Content Placeholder 2">
            <a:extLst>
              <a:ext uri="{FF2B5EF4-FFF2-40B4-BE49-F238E27FC236}">
                <a16:creationId xmlns:a16="http://schemas.microsoft.com/office/drawing/2014/main" id="{564D7D77-5F49-52BF-4467-3600540632C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49214" y="1818248"/>
            <a:ext cx="6277355" cy="1467007"/>
          </a:xfrm>
        </p:spPr>
        <p:txBody>
          <a:bodyPr>
            <a:normAutofit lnSpcReduction="10000"/>
          </a:bodyPr>
          <a:lstStyle/>
          <a:p>
            <a:r>
              <a:rPr lang="en-US" dirty="0">
                <a:solidFill>
                  <a:schemeClr val="tx2"/>
                </a:solidFill>
                <a:latin typeface="+mj-lt"/>
              </a:rPr>
              <a:t>Large national/continental scale models</a:t>
            </a:r>
          </a:p>
          <a:p>
            <a:r>
              <a:rPr lang="en-US" dirty="0">
                <a:solidFill>
                  <a:schemeClr val="tx2"/>
                </a:solidFill>
                <a:latin typeface="+mj-lt"/>
              </a:rPr>
              <a:t>High resolution, regional models</a:t>
            </a:r>
          </a:p>
          <a:p>
            <a:r>
              <a:rPr lang="en-US" dirty="0">
                <a:solidFill>
                  <a:schemeClr val="tx2"/>
                </a:solidFill>
                <a:latin typeface="+mj-lt"/>
              </a:rPr>
              <a:t>Variable Density flow</a:t>
            </a:r>
          </a:p>
          <a:p>
            <a:endParaRPr lang="en-US" dirty="0">
              <a:solidFill>
                <a:schemeClr val="tx2"/>
              </a:solidFill>
              <a:latin typeface="+mj-lt"/>
            </a:endParaRPr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62CD80EB-FC67-AD3F-ECC3-23EDE67B391F}"/>
              </a:ext>
            </a:extLst>
          </p:cNvPr>
          <p:cNvGrpSpPr/>
          <p:nvPr/>
        </p:nvGrpSpPr>
        <p:grpSpPr>
          <a:xfrm>
            <a:off x="7770078" y="4091511"/>
            <a:ext cx="3691128" cy="2589171"/>
            <a:chOff x="8355618" y="1332272"/>
            <a:chExt cx="3691128" cy="2589171"/>
          </a:xfrm>
        </p:grpSpPr>
        <p:pic>
          <p:nvPicPr>
            <p:cNvPr id="1026" name="Picture 1">
              <a:extLst>
                <a:ext uri="{FF2B5EF4-FFF2-40B4-BE49-F238E27FC236}">
                  <a16:creationId xmlns:a16="http://schemas.microsoft.com/office/drawing/2014/main" id="{6E1BE0EC-FE6B-E696-A144-FABA55A67484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8355618" y="1332272"/>
              <a:ext cx="3691128" cy="2070344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3" name="TextBox 2">
              <a:extLst>
                <a:ext uri="{FF2B5EF4-FFF2-40B4-BE49-F238E27FC236}">
                  <a16:creationId xmlns:a16="http://schemas.microsoft.com/office/drawing/2014/main" id="{1DF04DF5-998D-1CC9-F902-B6B366AD6EAC}"/>
                </a:ext>
              </a:extLst>
            </p:cNvPr>
            <p:cNvSpPr txBox="1"/>
            <p:nvPr/>
          </p:nvSpPr>
          <p:spPr>
            <a:xfrm>
              <a:off x="8817395" y="3429000"/>
              <a:ext cx="3222205" cy="492443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1200" i="1" dirty="0"/>
                <a:t>Model of a Regional Groundwater Basin in Southern California</a:t>
              </a:r>
              <a:r>
                <a:rPr lang="en-US" sz="1400" dirty="0"/>
                <a:t>, Tetra Tech 2023</a:t>
              </a:r>
              <a:endParaRPr lang="nl-NL" sz="1400" dirty="0"/>
            </a:p>
          </p:txBody>
        </p:sp>
      </p:grpSp>
      <p:grpSp>
        <p:nvGrpSpPr>
          <p:cNvPr id="13" name="Group 12">
            <a:extLst>
              <a:ext uri="{FF2B5EF4-FFF2-40B4-BE49-F238E27FC236}">
                <a16:creationId xmlns:a16="http://schemas.microsoft.com/office/drawing/2014/main" id="{4DC5C255-DCC5-910D-73FF-588DCB556BD5}"/>
              </a:ext>
            </a:extLst>
          </p:cNvPr>
          <p:cNvGrpSpPr/>
          <p:nvPr/>
        </p:nvGrpSpPr>
        <p:grpSpPr>
          <a:xfrm>
            <a:off x="7105550" y="1278635"/>
            <a:ext cx="4810957" cy="2706164"/>
            <a:chOff x="-104902" y="3581400"/>
            <a:chExt cx="4810957" cy="2706164"/>
          </a:xfrm>
        </p:grpSpPr>
        <p:pic>
          <p:nvPicPr>
            <p:cNvPr id="8" name="Picture 7" descr="A map of the united states&#10;&#10;Description automatically generated">
              <a:extLst>
                <a:ext uri="{FF2B5EF4-FFF2-40B4-BE49-F238E27FC236}">
                  <a16:creationId xmlns:a16="http://schemas.microsoft.com/office/drawing/2014/main" id="{611F4F33-4581-693F-6ECB-E17EA30518F7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-104902" y="3581400"/>
              <a:ext cx="4810957" cy="2706164"/>
            </a:xfrm>
            <a:prstGeom prst="rect">
              <a:avLst/>
            </a:prstGeom>
          </p:spPr>
        </p:pic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775B5FBF-D05B-678C-886F-B414CCF940AA}"/>
                </a:ext>
              </a:extLst>
            </p:cNvPr>
            <p:cNvSpPr txBox="1"/>
            <p:nvPr/>
          </p:nvSpPr>
          <p:spPr>
            <a:xfrm>
              <a:off x="2416913" y="3915158"/>
              <a:ext cx="1618678" cy="646331"/>
            </a:xfrm>
            <a:prstGeom prst="rect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4"/>
            </a:lnRef>
            <a:fillRef idx="1">
              <a:schemeClr val="lt1"/>
            </a:fillRef>
            <a:effectRef idx="0">
              <a:schemeClr val="accent4"/>
            </a:effectRef>
            <a:fontRef idx="minor">
              <a:schemeClr val="dk1"/>
            </a:fontRef>
          </p:style>
          <p:txBody>
            <a:bodyPr wrap="square" rtlCol="0">
              <a:spAutoFit/>
            </a:bodyPr>
            <a:lstStyle/>
            <a:p>
              <a:r>
                <a:rPr lang="nl-NL" sz="1200" dirty="0"/>
                <a:t>CONUS </a:t>
              </a:r>
              <a:r>
                <a:rPr lang="nl-NL" sz="1200" dirty="0" err="1"/>
                <a:t>runtimes</a:t>
              </a:r>
              <a:r>
                <a:rPr lang="nl-NL" sz="1200" dirty="0"/>
                <a:t>:</a:t>
              </a:r>
            </a:p>
            <a:p>
              <a:r>
                <a:rPr lang="nl-NL" sz="1200" dirty="0"/>
                <a:t>      1* </a:t>
              </a:r>
              <a:r>
                <a:rPr lang="nl-NL" sz="1200" dirty="0" err="1"/>
                <a:t>core</a:t>
              </a:r>
              <a:r>
                <a:rPr lang="nl-NL" sz="1200" dirty="0"/>
                <a:t>:    &gt; 250 </a:t>
              </a:r>
              <a:r>
                <a:rPr lang="nl-NL" sz="1200" dirty="0" err="1"/>
                <a:t>hrs</a:t>
              </a:r>
              <a:endParaRPr lang="nl-NL" sz="1200" dirty="0"/>
            </a:p>
            <a:p>
              <a:r>
                <a:rPr lang="nl-NL" sz="1200" dirty="0"/>
                <a:t>250 </a:t>
              </a:r>
              <a:r>
                <a:rPr lang="nl-NL" sz="1200" dirty="0" err="1"/>
                <a:t>cores</a:t>
              </a:r>
              <a:r>
                <a:rPr lang="nl-NL" sz="1200" dirty="0"/>
                <a:t>:   1.7 </a:t>
              </a:r>
              <a:r>
                <a:rPr lang="nl-NL" sz="1200" dirty="0" err="1"/>
                <a:t>hrs</a:t>
              </a:r>
              <a:endParaRPr lang="nl-NL" sz="1200" dirty="0"/>
            </a:p>
          </p:txBody>
        </p:sp>
      </p:grpSp>
      <p:grpSp>
        <p:nvGrpSpPr>
          <p:cNvPr id="16" name="Group 15">
            <a:extLst>
              <a:ext uri="{FF2B5EF4-FFF2-40B4-BE49-F238E27FC236}">
                <a16:creationId xmlns:a16="http://schemas.microsoft.com/office/drawing/2014/main" id="{4FD4F83F-9F5E-3821-5412-54F5B53F8E17}"/>
              </a:ext>
            </a:extLst>
          </p:cNvPr>
          <p:cNvGrpSpPr/>
          <p:nvPr/>
        </p:nvGrpSpPr>
        <p:grpSpPr>
          <a:xfrm>
            <a:off x="2321540" y="3216440"/>
            <a:ext cx="3511684" cy="3538045"/>
            <a:chOff x="2321540" y="3216440"/>
            <a:chExt cx="3511684" cy="3538045"/>
          </a:xfrm>
        </p:grpSpPr>
        <p:pic>
          <p:nvPicPr>
            <p:cNvPr id="7" name="Picture 6">
              <a:extLst>
                <a:ext uri="{FF2B5EF4-FFF2-40B4-BE49-F238E27FC236}">
                  <a16:creationId xmlns:a16="http://schemas.microsoft.com/office/drawing/2014/main" id="{4C0B3C4E-8CA6-5376-95E2-09194FD36CDB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2321540" y="3216440"/>
              <a:ext cx="3511684" cy="3018894"/>
            </a:xfrm>
            <a:prstGeom prst="rect">
              <a:avLst/>
            </a:prstGeom>
          </p:spPr>
        </p:pic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D1194CAD-FB38-2BDD-34DD-098E483E63D5}"/>
                </a:ext>
              </a:extLst>
            </p:cNvPr>
            <p:cNvSpPr txBox="1"/>
            <p:nvPr/>
          </p:nvSpPr>
          <p:spPr>
            <a:xfrm>
              <a:off x="2576788" y="6231265"/>
              <a:ext cx="3222205" cy="52322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1200" i="1" dirty="0"/>
                <a:t>Variable Density model for the Belgian coast</a:t>
              </a:r>
              <a:r>
                <a:rPr lang="en-US" sz="1400" dirty="0"/>
                <a:t>, Delsman et al., Deltares 2025.</a:t>
              </a:r>
              <a:endParaRPr lang="nl-NL" sz="1400" dirty="0"/>
            </a:p>
          </p:txBody>
        </p:sp>
      </p:grpSp>
    </p:spTree>
    <p:extLst>
      <p:ext uri="{BB962C8B-B14F-4D97-AF65-F5344CB8AC3E}">
        <p14:creationId xmlns:p14="http://schemas.microsoft.com/office/powerpoint/2010/main" val="275696821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DAD4822-B3A9-9F0E-10D6-FAADB73552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BFD590A-9DD2-F0BC-C332-DE9C851F8AA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>
                <a:solidFill>
                  <a:schemeClr val="tx2"/>
                </a:solidFill>
              </a:rPr>
              <a:t>Motivation</a:t>
            </a:r>
          </a:p>
        </p:txBody>
      </p:sp>
      <p:sp>
        <p:nvSpPr>
          <p:cNvPr id="11" name="Content Placeholder 2">
            <a:extLst>
              <a:ext uri="{FF2B5EF4-FFF2-40B4-BE49-F238E27FC236}">
                <a16:creationId xmlns:a16="http://schemas.microsoft.com/office/drawing/2014/main" id="{CD680D9A-A803-D444-6141-854EC8C86DE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49214" y="1818248"/>
            <a:ext cx="9740706" cy="1467007"/>
          </a:xfrm>
        </p:spPr>
        <p:txBody>
          <a:bodyPr>
            <a:normAutofit/>
          </a:bodyPr>
          <a:lstStyle/>
          <a:p>
            <a:r>
              <a:rPr lang="en-US" dirty="0">
                <a:solidFill>
                  <a:schemeClr val="tx2"/>
                </a:solidFill>
                <a:latin typeface="+mj-lt"/>
              </a:rPr>
              <a:t>High accuracy studies, e.g., Salt Lake example: </a:t>
            </a:r>
          </a:p>
          <a:p>
            <a:pPr marL="0" indent="0">
              <a:buNone/>
            </a:pPr>
            <a:r>
              <a:rPr lang="en-US" dirty="0">
                <a:solidFill>
                  <a:schemeClr val="tx2"/>
                </a:solidFill>
                <a:latin typeface="+mj-lt"/>
              </a:rPr>
              <a:t>	</a:t>
            </a:r>
            <a:r>
              <a:rPr lang="en-GB" dirty="0">
                <a:solidFill>
                  <a:schemeClr val="tx2"/>
                </a:solidFill>
                <a:latin typeface="+mj-lt"/>
              </a:rPr>
              <a:t>Coupled variable density flow (Hele-Shaw)</a:t>
            </a:r>
            <a:endParaRPr lang="nl-NL" dirty="0">
              <a:solidFill>
                <a:schemeClr val="tx2"/>
              </a:solidFill>
              <a:latin typeface="+mj-lt"/>
            </a:endParaRPr>
          </a:p>
          <a:p>
            <a:endParaRPr lang="en-US" dirty="0">
              <a:solidFill>
                <a:schemeClr val="tx2"/>
              </a:solidFill>
              <a:latin typeface="+mj-lt"/>
            </a:endParaRPr>
          </a:p>
          <a:p>
            <a:endParaRPr lang="en-US" dirty="0">
              <a:solidFill>
                <a:schemeClr val="tx2"/>
              </a:solidFill>
              <a:latin typeface="+mj-lt"/>
            </a:endParaRPr>
          </a:p>
          <a:p>
            <a:endParaRPr lang="en-US" dirty="0">
              <a:solidFill>
                <a:schemeClr val="tx2"/>
              </a:solidFill>
              <a:latin typeface="+mj-lt"/>
            </a:endParaRPr>
          </a:p>
        </p:txBody>
      </p:sp>
      <p:pic>
        <p:nvPicPr>
          <p:cNvPr id="14" name="animation">
            <a:hlinkClick r:id="" action="ppaction://media"/>
            <a:extLst>
              <a:ext uri="{FF2B5EF4-FFF2-40B4-BE49-F238E27FC236}">
                <a16:creationId xmlns:a16="http://schemas.microsoft.com/office/drawing/2014/main" id="{A3C01B04-D42B-75E3-7A06-8A80328829EF}"/>
              </a:ext>
            </a:extLst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5245822" y="2849252"/>
            <a:ext cx="6732846" cy="2885129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5CE4CFDF-0DDB-428A-632A-1AE23D16C28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95462" y="2849252"/>
            <a:ext cx="5406930" cy="1691364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A82DD8E6-AE84-F8F5-DE08-7F6AEB34D401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017657" y="1593407"/>
            <a:ext cx="8859862" cy="4996708"/>
          </a:xfrm>
          <a:prstGeom prst="rect">
            <a:avLst/>
          </a:prstGeom>
        </p:spPr>
      </p:pic>
      <p:sp>
        <p:nvSpPr>
          <p:cNvPr id="17" name="TextBox 16">
            <a:extLst>
              <a:ext uri="{FF2B5EF4-FFF2-40B4-BE49-F238E27FC236}">
                <a16:creationId xmlns:a16="http://schemas.microsoft.com/office/drawing/2014/main" id="{36E22D63-54AE-F6C9-F095-A1E63054B952}"/>
              </a:ext>
            </a:extLst>
          </p:cNvPr>
          <p:cNvSpPr txBox="1"/>
          <p:nvPr/>
        </p:nvSpPr>
        <p:spPr>
          <a:xfrm>
            <a:off x="4475747" y="1027906"/>
            <a:ext cx="7716253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nl-NL" sz="2000" dirty="0"/>
              <a:t>https://modflow6-examples.readthedocs.io/en/master/examples.html</a:t>
            </a:r>
          </a:p>
        </p:txBody>
      </p:sp>
    </p:spTree>
    <p:extLst>
      <p:ext uri="{BB962C8B-B14F-4D97-AF65-F5344CB8AC3E}">
        <p14:creationId xmlns:p14="http://schemas.microsoft.com/office/powerpoint/2010/main" val="268627991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14" dur="31960" fill="hold"/>
                                        <p:tgtEl>
                                          <p:spTgt spid="14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 showWhenStopped="0">
                <p:cTn id="21" repeatCount="indefinite" fill="hold" display="0">
                  <p:stCondLst>
                    <p:cond delay="indefinite"/>
                  </p:stCondLst>
                </p:cTn>
                <p:tgtEl>
                  <p:spTgt spid="14"/>
                </p:tgtEl>
              </p:cMediaNode>
            </p:video>
            <p:seq concurrent="1" nextAc="seek">
              <p:cTn id="22" restart="whenNotActive" fill="hold" evtFilter="cancelBubble" nodeType="interactiveSeq">
                <p:stCondLst>
                  <p:cond evt="onClick" delay="0">
                    <p:tgtEl>
                      <p:spTgt spid="14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23" fill="hold">
                      <p:stCondLst>
                        <p:cond delay="0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26" dur="1" fill="hold"/>
                                        <p:tgtEl>
                                          <p:spTgt spid="14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4"/>
                  </p:tgtEl>
                </p:cond>
              </p:nextCondLst>
            </p:seq>
          </p:childTnLst>
        </p:cTn>
      </p:par>
    </p:tnLst>
    <p:bldLst>
      <p:bldP spid="17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B30472-9227-010B-B05D-5FB55A2F7E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>
                <a:solidFill>
                  <a:schemeClr val="tx2"/>
                </a:solidFill>
              </a:rPr>
              <a:t>Moore’s Law</a:t>
            </a:r>
            <a:endParaRPr lang="nl-NL" b="1">
              <a:solidFill>
                <a:schemeClr val="tx2"/>
              </a:solidFill>
            </a:endParaRP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30DC5B3D-0DF8-B202-2A55-CF7832E736C4}"/>
              </a:ext>
            </a:extLst>
          </p:cNvPr>
          <p:cNvGrpSpPr/>
          <p:nvPr/>
        </p:nvGrpSpPr>
        <p:grpSpPr>
          <a:xfrm>
            <a:off x="7005490" y="1988496"/>
            <a:ext cx="4110182" cy="3372054"/>
            <a:chOff x="-321453" y="3112290"/>
            <a:chExt cx="4110182" cy="3372054"/>
          </a:xfrm>
          <a:solidFill>
            <a:schemeClr val="bg1"/>
          </a:solidFill>
        </p:grpSpPr>
        <p:grpSp>
          <p:nvGrpSpPr>
            <p:cNvPr id="4" name="Group 3">
              <a:extLst>
                <a:ext uri="{FF2B5EF4-FFF2-40B4-BE49-F238E27FC236}">
                  <a16:creationId xmlns:a16="http://schemas.microsoft.com/office/drawing/2014/main" id="{06ADE5DC-F611-B1D0-ABA5-CC234245981E}"/>
                </a:ext>
              </a:extLst>
            </p:cNvPr>
            <p:cNvGrpSpPr/>
            <p:nvPr/>
          </p:nvGrpSpPr>
          <p:grpSpPr>
            <a:xfrm>
              <a:off x="-321453" y="3112290"/>
              <a:ext cx="4110182" cy="3372054"/>
              <a:chOff x="452582" y="2474599"/>
              <a:chExt cx="4110182" cy="3372054"/>
            </a:xfrm>
            <a:grpFill/>
          </p:grpSpPr>
          <p:sp>
            <p:nvSpPr>
              <p:cNvPr id="8" name="Rectangle 7">
                <a:extLst>
                  <a:ext uri="{FF2B5EF4-FFF2-40B4-BE49-F238E27FC236}">
                    <a16:creationId xmlns:a16="http://schemas.microsoft.com/office/drawing/2014/main" id="{97B7E838-A4A8-5192-25C6-4C693CC9F653}"/>
                  </a:ext>
                </a:extLst>
              </p:cNvPr>
              <p:cNvSpPr/>
              <p:nvPr/>
            </p:nvSpPr>
            <p:spPr>
              <a:xfrm>
                <a:off x="452582" y="2474599"/>
                <a:ext cx="4110182" cy="3372054"/>
              </a:xfrm>
              <a:prstGeom prst="rect">
                <a:avLst/>
              </a:prstGeom>
              <a:grpFill/>
              <a:ln w="1905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nl-NL"/>
              </a:p>
            </p:txBody>
          </p:sp>
          <p:pic>
            <p:nvPicPr>
              <p:cNvPr id="10" name="Picture 9">
                <a:extLst>
                  <a:ext uri="{FF2B5EF4-FFF2-40B4-BE49-F238E27FC236}">
                    <a16:creationId xmlns:a16="http://schemas.microsoft.com/office/drawing/2014/main" id="{96B3A28A-B149-B2EA-E6BD-C1423C2A39C9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3"/>
              <a:srcRect r="11578"/>
              <a:stretch/>
            </p:blipFill>
            <p:spPr>
              <a:xfrm>
                <a:off x="532483" y="2775663"/>
                <a:ext cx="3812428" cy="1094773"/>
              </a:xfrm>
              <a:prstGeom prst="rect">
                <a:avLst/>
              </a:prstGeom>
              <a:grpFill/>
            </p:spPr>
          </p:pic>
          <p:pic>
            <p:nvPicPr>
              <p:cNvPr id="12" name="Picture 11">
                <a:extLst>
                  <a:ext uri="{FF2B5EF4-FFF2-40B4-BE49-F238E27FC236}">
                    <a16:creationId xmlns:a16="http://schemas.microsoft.com/office/drawing/2014/main" id="{62F77F76-B587-9E82-4BB8-2DC338E3918F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532483" y="4002911"/>
                <a:ext cx="3914775" cy="952500"/>
              </a:xfrm>
              <a:prstGeom prst="rect">
                <a:avLst/>
              </a:prstGeom>
              <a:grpFill/>
            </p:spPr>
          </p:pic>
        </p:grpSp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691997B6-3BE5-636F-2DF2-9F5122BEEA52}"/>
                </a:ext>
              </a:extLst>
            </p:cNvPr>
            <p:cNvSpPr txBox="1"/>
            <p:nvPr/>
          </p:nvSpPr>
          <p:spPr>
            <a:xfrm>
              <a:off x="-127496" y="6041630"/>
              <a:ext cx="3616720" cy="307777"/>
            </a:xfrm>
            <a:prstGeom prst="rect">
              <a:avLst/>
            </a:prstGeom>
            <a:grpFill/>
          </p:spPr>
          <p:txBody>
            <a:bodyPr wrap="square">
              <a:spAutoFit/>
            </a:bodyPr>
            <a:lstStyle/>
            <a:p>
              <a:r>
                <a:rPr lang="en-US" sz="1400"/>
                <a:t>from </a:t>
              </a:r>
              <a:r>
                <a:rPr lang="en-US" sz="1400" i="1"/>
                <a:t>Electronics</a:t>
              </a:r>
              <a:r>
                <a:rPr lang="en-US" sz="1400"/>
                <a:t>, pp. 114–117, April 19, 1965</a:t>
              </a:r>
              <a:endParaRPr lang="nl-NL" sz="1400"/>
            </a:p>
          </p:txBody>
        </p:sp>
      </p:grpSp>
      <p:sp>
        <p:nvSpPr>
          <p:cNvPr id="15" name="TextBox 14">
            <a:extLst>
              <a:ext uri="{FF2B5EF4-FFF2-40B4-BE49-F238E27FC236}">
                <a16:creationId xmlns:a16="http://schemas.microsoft.com/office/drawing/2014/main" id="{3B6F2584-C65F-F5F5-552F-5C3C10041758}"/>
              </a:ext>
            </a:extLst>
          </p:cNvPr>
          <p:cNvSpPr txBox="1"/>
          <p:nvPr/>
        </p:nvSpPr>
        <p:spPr>
          <a:xfrm>
            <a:off x="985130" y="5473692"/>
            <a:ext cx="406412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nl-NL" dirty="0"/>
              <a:t>Gordon Moore (1929-2023)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A5B4B4E7-CA54-33D5-41AB-2F916C6AF5C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85130" y="1924500"/>
            <a:ext cx="5630813" cy="350004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113700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50 Years of Microprocessor Trend Data Chart">
            <a:extLst>
              <a:ext uri="{FF2B5EF4-FFF2-40B4-BE49-F238E27FC236}">
                <a16:creationId xmlns:a16="http://schemas.microsoft.com/office/drawing/2014/main" id="{26EEDDAA-20FC-47CF-C2A1-2E2506E8A05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09850" y="1126881"/>
            <a:ext cx="7367592" cy="51435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42B30472-9227-010B-B05D-5FB55A2F7E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>
                <a:solidFill>
                  <a:schemeClr val="tx2"/>
                </a:solidFill>
              </a:rPr>
              <a:t>Moore’s Law: the end of it…</a:t>
            </a:r>
            <a:endParaRPr lang="nl-NL" b="1">
              <a:solidFill>
                <a:schemeClr val="tx2"/>
              </a:solidFill>
            </a:endParaRP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B9D6571D-76CB-BF3B-6123-150BD1363EA5}"/>
              </a:ext>
            </a:extLst>
          </p:cNvPr>
          <p:cNvGrpSpPr/>
          <p:nvPr/>
        </p:nvGrpSpPr>
        <p:grpSpPr>
          <a:xfrm>
            <a:off x="2718852" y="2611878"/>
            <a:ext cx="7558590" cy="972150"/>
            <a:chOff x="2718852" y="2611878"/>
            <a:chExt cx="7558590" cy="972150"/>
          </a:xfrm>
        </p:grpSpPr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77E41607-7DEE-9683-D680-3FE05E6B894F}"/>
                </a:ext>
              </a:extLst>
            </p:cNvPr>
            <p:cNvSpPr txBox="1"/>
            <p:nvPr/>
          </p:nvSpPr>
          <p:spPr>
            <a:xfrm>
              <a:off x="2718852" y="2611878"/>
              <a:ext cx="3377148" cy="707886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wrap="square">
              <a:spAutoFit/>
            </a:bodyPr>
            <a:lstStyle/>
            <a:p>
              <a:r>
                <a:rPr lang="en-US" sz="2000" dirty="0">
                  <a:solidFill>
                    <a:schemeClr val="tx2"/>
                  </a:solidFill>
                  <a:latin typeface="+mj-lt"/>
                </a:rPr>
                <a:t>Processor frequency saturates, we need something else…</a:t>
              </a:r>
              <a:endParaRPr lang="nl-NL" sz="2000" dirty="0">
                <a:solidFill>
                  <a:schemeClr val="tx2"/>
                </a:solidFill>
                <a:latin typeface="+mj-lt"/>
              </a:endParaRPr>
            </a:p>
          </p:txBody>
        </p:sp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3D2EED85-B0EE-1801-12F7-83677C4B32D0}"/>
                </a:ext>
              </a:extLst>
            </p:cNvPr>
            <p:cNvCxnSpPr/>
            <p:nvPr/>
          </p:nvCxnSpPr>
          <p:spPr>
            <a:xfrm>
              <a:off x="3829626" y="3584028"/>
              <a:ext cx="6447816" cy="0"/>
            </a:xfrm>
            <a:prstGeom prst="line">
              <a:avLst/>
            </a:prstGeom>
            <a:ln w="28575">
              <a:solidFill>
                <a:srgbClr val="00B050"/>
              </a:solidFill>
              <a:prstDash val="sys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48697808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C47355-FF35-4CC6-AC4C-14880046D8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b="1">
                <a:solidFill>
                  <a:schemeClr val="tx2"/>
                </a:solidFill>
              </a:rPr>
              <a:t>Strategy: Domain Decomposition</a:t>
            </a:r>
            <a:endParaRPr lang="en-US" b="1" dirty="0">
              <a:solidFill>
                <a:schemeClr val="tx2"/>
              </a:solidFill>
            </a:endParaRPr>
          </a:p>
        </p:txBody>
      </p:sp>
      <p:sp>
        <p:nvSpPr>
          <p:cNvPr id="26" name="Content Placeholder 4">
            <a:extLst>
              <a:ext uri="{FF2B5EF4-FFF2-40B4-BE49-F238E27FC236}">
                <a16:creationId xmlns:a16="http://schemas.microsoft.com/office/drawing/2014/main" id="{0AF015E9-DD97-0F00-2064-2375ED8A0F26}"/>
              </a:ext>
            </a:extLst>
          </p:cNvPr>
          <p:cNvSpPr txBox="1">
            <a:spLocks/>
          </p:cNvSpPr>
          <p:nvPr/>
        </p:nvSpPr>
        <p:spPr>
          <a:xfrm>
            <a:off x="838200" y="1825624"/>
            <a:ext cx="4878133" cy="4903422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nl-NL" dirty="0" err="1">
                <a:solidFill>
                  <a:schemeClr val="tx2"/>
                </a:solidFill>
                <a:latin typeface="+mj-lt"/>
              </a:rPr>
              <a:t>Instead</a:t>
            </a:r>
            <a:r>
              <a:rPr lang="nl-NL" dirty="0">
                <a:solidFill>
                  <a:schemeClr val="tx2"/>
                </a:solidFill>
                <a:latin typeface="+mj-lt"/>
              </a:rPr>
              <a:t> of running a model on 1 processor </a:t>
            </a:r>
            <a:r>
              <a:rPr lang="nl-NL" dirty="0" err="1">
                <a:solidFill>
                  <a:schemeClr val="tx2"/>
                </a:solidFill>
                <a:latin typeface="+mj-lt"/>
              </a:rPr>
              <a:t>core</a:t>
            </a:r>
            <a:r>
              <a:rPr lang="en-US" dirty="0">
                <a:solidFill>
                  <a:schemeClr val="tx2"/>
                </a:solidFill>
                <a:latin typeface="+mj-lt"/>
              </a:rPr>
              <a:t> …</a:t>
            </a:r>
          </a:p>
          <a:p>
            <a:r>
              <a:rPr lang="en-US" dirty="0">
                <a:solidFill>
                  <a:schemeClr val="tx2"/>
                </a:solidFill>
                <a:latin typeface="+mj-lt"/>
              </a:rPr>
              <a:t>… distribute over many cores</a:t>
            </a:r>
          </a:p>
          <a:p>
            <a:r>
              <a:rPr lang="en-US" dirty="0">
                <a:solidFill>
                  <a:schemeClr val="tx2"/>
                </a:solidFill>
                <a:latin typeface="+mj-lt"/>
              </a:rPr>
              <a:t>Exchange of data at the domain interface</a:t>
            </a:r>
          </a:p>
          <a:p>
            <a:r>
              <a:rPr lang="en-US" dirty="0">
                <a:solidFill>
                  <a:schemeClr val="tx2"/>
                </a:solidFill>
                <a:latin typeface="+mj-lt"/>
              </a:rPr>
              <a:t>Efficiency affected by</a:t>
            </a:r>
          </a:p>
          <a:p>
            <a:pPr lvl="1"/>
            <a:r>
              <a:rPr lang="en-US" dirty="0">
                <a:solidFill>
                  <a:schemeClr val="tx2"/>
                </a:solidFill>
                <a:latin typeface="+mj-lt"/>
              </a:rPr>
              <a:t>Amount of communication between domains</a:t>
            </a:r>
          </a:p>
          <a:p>
            <a:pPr lvl="1"/>
            <a:r>
              <a:rPr lang="en-US" dirty="0">
                <a:solidFill>
                  <a:schemeClr val="tx2"/>
                </a:solidFill>
                <a:latin typeface="+mj-lt"/>
              </a:rPr>
              <a:t>Load imbalance: solution of multiple domains proceeds in lock step…</a:t>
            </a:r>
          </a:p>
          <a:p>
            <a:r>
              <a:rPr lang="en-US" dirty="0">
                <a:solidFill>
                  <a:schemeClr val="tx2"/>
                </a:solidFill>
                <a:latin typeface="+mj-lt"/>
              </a:rPr>
              <a:t>Advantage: within each individual domain MODFLOW runs as usual: minimally invasive!</a:t>
            </a:r>
            <a:endParaRPr lang="nl-NL" dirty="0">
              <a:solidFill>
                <a:schemeClr val="tx2"/>
              </a:solidFill>
              <a:latin typeface="+mj-lt"/>
            </a:endParaRPr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A2B66FDE-578E-0F00-29E0-2EB1AFC655F0}"/>
              </a:ext>
            </a:extLst>
          </p:cNvPr>
          <p:cNvGrpSpPr/>
          <p:nvPr/>
        </p:nvGrpSpPr>
        <p:grpSpPr>
          <a:xfrm>
            <a:off x="5808388" y="1690688"/>
            <a:ext cx="4973656" cy="2187976"/>
            <a:chOff x="5808388" y="1690688"/>
            <a:chExt cx="4973656" cy="2187976"/>
          </a:xfrm>
        </p:grpSpPr>
        <p:grpSp>
          <p:nvGrpSpPr>
            <p:cNvPr id="3" name="Group 2">
              <a:extLst>
                <a:ext uri="{FF2B5EF4-FFF2-40B4-BE49-F238E27FC236}">
                  <a16:creationId xmlns:a16="http://schemas.microsoft.com/office/drawing/2014/main" id="{5A8BBB7C-74A2-F7D8-9025-3F34107AFB0B}"/>
                </a:ext>
              </a:extLst>
            </p:cNvPr>
            <p:cNvGrpSpPr/>
            <p:nvPr/>
          </p:nvGrpSpPr>
          <p:grpSpPr>
            <a:xfrm>
              <a:off x="5808388" y="1690688"/>
              <a:ext cx="3573631" cy="2187976"/>
              <a:chOff x="838200" y="1367621"/>
              <a:chExt cx="4732283" cy="2773150"/>
            </a:xfrm>
          </p:grpSpPr>
          <p:pic>
            <p:nvPicPr>
              <p:cNvPr id="4" name="Picture 3">
                <a:extLst>
                  <a:ext uri="{FF2B5EF4-FFF2-40B4-BE49-F238E27FC236}">
                    <a16:creationId xmlns:a16="http://schemas.microsoft.com/office/drawing/2014/main" id="{39E4FCD3-2B8C-8C5E-A08D-793E32B0DD1F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3"/>
              <a:srcRect r="9407"/>
              <a:stretch/>
            </p:blipFill>
            <p:spPr>
              <a:xfrm>
                <a:off x="838200" y="1367621"/>
                <a:ext cx="4732283" cy="2773150"/>
              </a:xfrm>
              <a:prstGeom prst="rect">
                <a:avLst/>
              </a:prstGeom>
            </p:spPr>
          </p:pic>
          <p:sp>
            <p:nvSpPr>
              <p:cNvPr id="6" name="Rectangle 5">
                <a:extLst>
                  <a:ext uri="{FF2B5EF4-FFF2-40B4-BE49-F238E27FC236}">
                    <a16:creationId xmlns:a16="http://schemas.microsoft.com/office/drawing/2014/main" id="{B89A83F9-6C7C-ABF8-B227-8BDD7504CEE6}"/>
                  </a:ext>
                </a:extLst>
              </p:cNvPr>
              <p:cNvSpPr/>
              <p:nvPr/>
            </p:nvSpPr>
            <p:spPr>
              <a:xfrm>
                <a:off x="2767263" y="1367621"/>
                <a:ext cx="1191126" cy="160390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nl-NL"/>
              </a:p>
            </p:txBody>
          </p:sp>
        </p:grpSp>
        <p:pic>
          <p:nvPicPr>
            <p:cNvPr id="27" name="Picture 4" descr="Computer, desktop, internet, monitor, pc, technology, windows computer icon  - Download on Iconfinder">
              <a:extLst>
                <a:ext uri="{FF2B5EF4-FFF2-40B4-BE49-F238E27FC236}">
                  <a16:creationId xmlns:a16="http://schemas.microsoft.com/office/drawing/2014/main" id="{A12FFE68-5CF4-A006-B053-2D63F5A073A0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3449" t="26124" r="12245" b="24533"/>
            <a:stretch/>
          </p:blipFill>
          <p:spPr bwMode="auto">
            <a:xfrm>
              <a:off x="9759174" y="2502040"/>
              <a:ext cx="1022870" cy="67925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9" name="Group 8">
            <a:extLst>
              <a:ext uri="{FF2B5EF4-FFF2-40B4-BE49-F238E27FC236}">
                <a16:creationId xmlns:a16="http://schemas.microsoft.com/office/drawing/2014/main" id="{D67ABEE4-118F-4215-2704-7C6858E35AD3}"/>
              </a:ext>
            </a:extLst>
          </p:cNvPr>
          <p:cNvGrpSpPr/>
          <p:nvPr/>
        </p:nvGrpSpPr>
        <p:grpSpPr>
          <a:xfrm>
            <a:off x="5958670" y="4340521"/>
            <a:ext cx="5012454" cy="1989588"/>
            <a:chOff x="5958670" y="4340521"/>
            <a:chExt cx="5012454" cy="1989588"/>
          </a:xfrm>
        </p:grpSpPr>
        <p:pic>
          <p:nvPicPr>
            <p:cNvPr id="7" name="Picture 6">
              <a:extLst>
                <a:ext uri="{FF2B5EF4-FFF2-40B4-BE49-F238E27FC236}">
                  <a16:creationId xmlns:a16="http://schemas.microsoft.com/office/drawing/2014/main" id="{6540FE0C-59CD-F559-48FF-D299279DE1AE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5958670" y="4340521"/>
              <a:ext cx="3373105" cy="1989588"/>
            </a:xfrm>
            <a:prstGeom prst="rect">
              <a:avLst/>
            </a:prstGeom>
          </p:spPr>
        </p:pic>
        <p:grpSp>
          <p:nvGrpSpPr>
            <p:cNvPr id="8" name="Group 7">
              <a:extLst>
                <a:ext uri="{FF2B5EF4-FFF2-40B4-BE49-F238E27FC236}">
                  <a16:creationId xmlns:a16="http://schemas.microsoft.com/office/drawing/2014/main" id="{465B3CFE-2AF4-603B-363F-4E44EE5ACB21}"/>
                </a:ext>
              </a:extLst>
            </p:cNvPr>
            <p:cNvGrpSpPr/>
            <p:nvPr/>
          </p:nvGrpSpPr>
          <p:grpSpPr>
            <a:xfrm>
              <a:off x="9627996" y="4459424"/>
              <a:ext cx="1343128" cy="1783844"/>
              <a:chOff x="9627996" y="4459424"/>
              <a:chExt cx="1343128" cy="1783844"/>
            </a:xfrm>
          </p:grpSpPr>
          <p:pic>
            <p:nvPicPr>
              <p:cNvPr id="36" name="Picture 4" descr="Computer, desktop, internet, monitor, pc, technology, windows computer icon  - Download on Iconfinder">
                <a:extLst>
                  <a:ext uri="{FF2B5EF4-FFF2-40B4-BE49-F238E27FC236}">
                    <a16:creationId xmlns:a16="http://schemas.microsoft.com/office/drawing/2014/main" id="{E4973DB7-6843-D6D5-8E1C-94E9C508A589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4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13449" t="26124" r="12245" b="24533"/>
              <a:stretch/>
            </p:blipFill>
            <p:spPr bwMode="auto">
              <a:xfrm>
                <a:off x="9627996" y="4459424"/>
                <a:ext cx="671564" cy="445961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37" name="Picture 4" descr="Computer, desktop, internet, monitor, pc, technology, windows computer icon  - Download on Iconfinder">
                <a:extLst>
                  <a:ext uri="{FF2B5EF4-FFF2-40B4-BE49-F238E27FC236}">
                    <a16:creationId xmlns:a16="http://schemas.microsoft.com/office/drawing/2014/main" id="{D073DD0F-C00B-54C1-0C98-5EC2D6EE7F15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4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13449" t="26124" r="12245" b="24533"/>
              <a:stretch/>
            </p:blipFill>
            <p:spPr bwMode="auto">
              <a:xfrm>
                <a:off x="10299560" y="4459424"/>
                <a:ext cx="671564" cy="445961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38" name="Picture 4" descr="Computer, desktop, internet, monitor, pc, technology, windows computer icon  - Download on Iconfinder">
                <a:extLst>
                  <a:ext uri="{FF2B5EF4-FFF2-40B4-BE49-F238E27FC236}">
                    <a16:creationId xmlns:a16="http://schemas.microsoft.com/office/drawing/2014/main" id="{C810E1D8-2139-CB3C-7D87-3C6FC6619A5B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4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13449" t="26124" r="12245" b="24533"/>
              <a:stretch/>
            </p:blipFill>
            <p:spPr bwMode="auto">
              <a:xfrm>
                <a:off x="10299560" y="4905385"/>
                <a:ext cx="671564" cy="445961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39" name="Picture 4" descr="Computer, desktop, internet, monitor, pc, technology, windows computer icon  - Download on Iconfinder">
                <a:extLst>
                  <a:ext uri="{FF2B5EF4-FFF2-40B4-BE49-F238E27FC236}">
                    <a16:creationId xmlns:a16="http://schemas.microsoft.com/office/drawing/2014/main" id="{58B0D2EC-292F-15CA-FE5F-56F7AB2021C8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4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13449" t="26124" r="12245" b="24533"/>
              <a:stretch/>
            </p:blipFill>
            <p:spPr bwMode="auto">
              <a:xfrm>
                <a:off x="9627996" y="4905385"/>
                <a:ext cx="671564" cy="445961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40" name="Picture 4" descr="Computer, desktop, internet, monitor, pc, technology, windows computer icon  - Download on Iconfinder">
                <a:extLst>
                  <a:ext uri="{FF2B5EF4-FFF2-40B4-BE49-F238E27FC236}">
                    <a16:creationId xmlns:a16="http://schemas.microsoft.com/office/drawing/2014/main" id="{2D469181-8AFF-37CD-54E8-B066C4F56BFA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4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13449" t="26124" r="12245" b="24533"/>
              <a:stretch/>
            </p:blipFill>
            <p:spPr bwMode="auto">
              <a:xfrm>
                <a:off x="9627996" y="5351346"/>
                <a:ext cx="671564" cy="445961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41" name="Picture 4" descr="Computer, desktop, internet, monitor, pc, technology, windows computer icon  - Download on Iconfinder">
                <a:extLst>
                  <a:ext uri="{FF2B5EF4-FFF2-40B4-BE49-F238E27FC236}">
                    <a16:creationId xmlns:a16="http://schemas.microsoft.com/office/drawing/2014/main" id="{4238B35F-0FD3-C35B-CCE9-3E1E02745ADA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4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13449" t="26124" r="12245" b="24533"/>
              <a:stretch/>
            </p:blipFill>
            <p:spPr bwMode="auto">
              <a:xfrm>
                <a:off x="10299560" y="5351346"/>
                <a:ext cx="671564" cy="445961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42" name="Picture 4" descr="Computer, desktop, internet, monitor, pc, technology, windows computer icon  - Download on Iconfinder">
                <a:extLst>
                  <a:ext uri="{FF2B5EF4-FFF2-40B4-BE49-F238E27FC236}">
                    <a16:creationId xmlns:a16="http://schemas.microsoft.com/office/drawing/2014/main" id="{8E52F9AB-AED9-30D0-D9A1-CDCA6C5AA7D5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4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13449" t="26124" r="12245" b="24533"/>
              <a:stretch/>
            </p:blipFill>
            <p:spPr bwMode="auto">
              <a:xfrm>
                <a:off x="10299560" y="5797307"/>
                <a:ext cx="671564" cy="445961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43" name="Picture 4" descr="Computer, desktop, internet, monitor, pc, technology, windows computer icon  - Download on Iconfinder">
                <a:extLst>
                  <a:ext uri="{FF2B5EF4-FFF2-40B4-BE49-F238E27FC236}">
                    <a16:creationId xmlns:a16="http://schemas.microsoft.com/office/drawing/2014/main" id="{BE3858F0-3C9D-D1D4-17E5-A4AD7D219110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4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13449" t="26124" r="12245" b="24533"/>
              <a:stretch/>
            </p:blipFill>
            <p:spPr bwMode="auto">
              <a:xfrm>
                <a:off x="9627996" y="5797307"/>
                <a:ext cx="671564" cy="445961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</p:grpSp>
      <p:grpSp>
        <p:nvGrpSpPr>
          <p:cNvPr id="10" name="Group 9">
            <a:extLst>
              <a:ext uri="{FF2B5EF4-FFF2-40B4-BE49-F238E27FC236}">
                <a16:creationId xmlns:a16="http://schemas.microsoft.com/office/drawing/2014/main" id="{C856C4FB-C347-3C08-F009-57317AAC8F33}"/>
              </a:ext>
            </a:extLst>
          </p:cNvPr>
          <p:cNvGrpSpPr/>
          <p:nvPr/>
        </p:nvGrpSpPr>
        <p:grpSpPr>
          <a:xfrm>
            <a:off x="9455499" y="4340521"/>
            <a:ext cx="2562330" cy="1989588"/>
            <a:chOff x="9455499" y="4340521"/>
            <a:chExt cx="2562330" cy="1989588"/>
          </a:xfrm>
        </p:grpSpPr>
        <p:sp>
          <p:nvSpPr>
            <p:cNvPr id="45" name="Rectangle: Rounded Corners 44">
              <a:extLst>
                <a:ext uri="{FF2B5EF4-FFF2-40B4-BE49-F238E27FC236}">
                  <a16:creationId xmlns:a16="http://schemas.microsoft.com/office/drawing/2014/main" id="{CB6190D4-989F-9CDE-CC8F-8F902DFE8439}"/>
                </a:ext>
              </a:extLst>
            </p:cNvPr>
            <p:cNvSpPr/>
            <p:nvPr/>
          </p:nvSpPr>
          <p:spPr>
            <a:xfrm>
              <a:off x="9455499" y="4340521"/>
              <a:ext cx="2562330" cy="1989588"/>
            </a:xfrm>
            <a:prstGeom prst="roundRect">
              <a:avLst/>
            </a:prstGeom>
            <a:noFill/>
            <a:ln w="28575" cap="flat" cmpd="sng" algn="ctr">
              <a:solidFill>
                <a:schemeClr val="accent3">
                  <a:lumMod val="60000"/>
                  <a:lumOff val="40000"/>
                </a:schemeClr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pic>
          <p:nvPicPr>
            <p:cNvPr id="44" name="Picture 6">
              <a:extLst>
                <a:ext uri="{FF2B5EF4-FFF2-40B4-BE49-F238E27FC236}">
                  <a16:creationId xmlns:a16="http://schemas.microsoft.com/office/drawing/2014/main" id="{E270A3B5-93D2-1D6E-7CD1-C5E5F6010714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r="13211"/>
            <a:stretch/>
          </p:blipFill>
          <p:spPr bwMode="auto">
            <a:xfrm>
              <a:off x="11063179" y="4966680"/>
              <a:ext cx="853152" cy="73727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</p:spTree>
    <p:extLst>
      <p:ext uri="{BB962C8B-B14F-4D97-AF65-F5344CB8AC3E}">
        <p14:creationId xmlns:p14="http://schemas.microsoft.com/office/powerpoint/2010/main" val="133606018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ED4DBC4-ABAC-B819-90BB-D2A575C770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>
                <a:solidFill>
                  <a:schemeClr val="tx2"/>
                </a:solidFill>
              </a:rPr>
              <a:t>Limit on Speedup</a:t>
            </a:r>
            <a:endParaRPr lang="nl-NL" b="1">
              <a:solidFill>
                <a:schemeClr val="tx2"/>
              </a:solidFill>
            </a:endParaRP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CBD9E1E0-96DD-9D78-151F-1820364D2805}"/>
              </a:ext>
            </a:extLst>
          </p:cNvPr>
          <p:cNvSpPr/>
          <p:nvPr/>
        </p:nvSpPr>
        <p:spPr>
          <a:xfrm>
            <a:off x="838199" y="1690688"/>
            <a:ext cx="10515599" cy="323165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800" dirty="0">
                <a:solidFill>
                  <a:schemeClr val="tx2"/>
                </a:solidFill>
                <a:latin typeface="+mj-lt"/>
              </a:rPr>
              <a:t>Further division of the work (i.e. smaller domains, increase in processor cores) increases communication overhead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800" dirty="0">
                <a:solidFill>
                  <a:schemeClr val="tx2"/>
                </a:solidFill>
                <a:latin typeface="+mj-lt"/>
              </a:rPr>
              <a:t>Put differently: how large can you make your model?!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2800" dirty="0">
              <a:solidFill>
                <a:schemeClr val="tx2"/>
              </a:solidFill>
              <a:latin typeface="+mj-lt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800" dirty="0">
                <a:solidFill>
                  <a:schemeClr val="tx2"/>
                </a:solidFill>
                <a:latin typeface="+mj-lt"/>
              </a:rPr>
              <a:t>Amdahl’s law:</a:t>
            </a:r>
          </a:p>
          <a:p>
            <a:endParaRPr lang="en-US" sz="2800" dirty="0">
              <a:solidFill>
                <a:schemeClr val="tx2"/>
              </a:solidFill>
              <a:latin typeface="+mj-lt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3600" dirty="0"/>
          </a:p>
        </p:txBody>
      </p:sp>
      <p:pic>
        <p:nvPicPr>
          <p:cNvPr id="28" name="Picture 2" descr="undefined">
            <a:extLst>
              <a:ext uri="{FF2B5EF4-FFF2-40B4-BE49-F238E27FC236}">
                <a16:creationId xmlns:a16="http://schemas.microsoft.com/office/drawing/2014/main" id="{6C4D852D-C25E-4DA2-27B7-153DFA2FDD2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635241" y="3234435"/>
            <a:ext cx="4494908" cy="351139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29" name="TextBox 28">
                <a:extLst>
                  <a:ext uri="{FF2B5EF4-FFF2-40B4-BE49-F238E27FC236}">
                    <a16:creationId xmlns:a16="http://schemas.microsoft.com/office/drawing/2014/main" id="{4F2ED8A5-712A-D941-3C53-9E11183879D2}"/>
                  </a:ext>
                </a:extLst>
              </p:cNvPr>
              <p:cNvSpPr txBox="1"/>
              <p:nvPr/>
            </p:nvSpPr>
            <p:spPr>
              <a:xfrm flipH="1">
                <a:off x="1944899" y="4185426"/>
                <a:ext cx="4572000" cy="162948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nl-NL" sz="2800" dirty="0">
                    <a:solidFill>
                      <a:schemeClr val="tx2"/>
                    </a:solidFill>
                    <a:latin typeface="+mj-lt"/>
                  </a:rPr>
                  <a:t>Speedup  ≤ 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nl-NL" sz="2800" i="1">
                            <a:solidFill>
                              <a:schemeClr val="tx2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nl-NL" sz="2800">
                            <a:solidFill>
                              <a:schemeClr val="tx2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nl-NL" sz="2800">
                            <a:solidFill>
                              <a:schemeClr val="tx2"/>
                            </a:solidFill>
                            <a:latin typeface="Cambria Math" panose="02040503050406030204" pitchFamily="18" charset="0"/>
                          </a:rPr>
                          <m:t>1 − </m:t>
                        </m:r>
                        <m:r>
                          <m:rPr>
                            <m:sty m:val="p"/>
                          </m:rPr>
                          <a:rPr lang="nl-NL" sz="2800">
                            <a:solidFill>
                              <a:schemeClr val="tx2"/>
                            </a:solidFill>
                            <a:latin typeface="Cambria Math" panose="02040503050406030204" pitchFamily="18" charset="0"/>
                          </a:rPr>
                          <m:t>p</m:t>
                        </m:r>
                      </m:den>
                    </m:f>
                  </m:oMath>
                </a14:m>
                <a:endParaRPr lang="nl-NL" sz="2800" dirty="0">
                  <a:solidFill>
                    <a:schemeClr val="tx2"/>
                  </a:solidFill>
                  <a:latin typeface="+mj-lt"/>
                </a:endParaRPr>
              </a:p>
              <a:p>
                <a:endParaRPr lang="nl-NL" sz="2800" dirty="0">
                  <a:solidFill>
                    <a:schemeClr val="tx2"/>
                  </a:solidFill>
                  <a:latin typeface="+mj-lt"/>
                </a:endParaRPr>
              </a:p>
              <a:p>
                <a:r>
                  <a:rPr lang="nl-NL" sz="2800" dirty="0" err="1">
                    <a:solidFill>
                      <a:schemeClr val="tx2"/>
                    </a:solidFill>
                    <a:latin typeface="+mj-lt"/>
                  </a:rPr>
                  <a:t>with</a:t>
                </a:r>
                <a:r>
                  <a:rPr lang="nl-NL" sz="2800" dirty="0">
                    <a:solidFill>
                      <a:schemeClr val="tx2"/>
                    </a:solidFill>
                    <a:latin typeface="+mj-lt"/>
                  </a:rPr>
                  <a:t> p = parallel </a:t>
                </a:r>
                <a:r>
                  <a:rPr lang="nl-NL" sz="2800" dirty="0" err="1">
                    <a:solidFill>
                      <a:schemeClr val="tx2"/>
                    </a:solidFill>
                    <a:latin typeface="+mj-lt"/>
                  </a:rPr>
                  <a:t>portion</a:t>
                </a:r>
                <a:endParaRPr lang="nl-NL" sz="2800" dirty="0">
                  <a:solidFill>
                    <a:schemeClr val="tx2"/>
                  </a:solidFill>
                  <a:latin typeface="+mj-lt"/>
                </a:endParaRPr>
              </a:p>
            </p:txBody>
          </p:sp>
        </mc:Choice>
        <mc:Fallback xmlns="">
          <p:sp>
            <p:nvSpPr>
              <p:cNvPr id="29" name="TextBox 28">
                <a:extLst>
                  <a:ext uri="{FF2B5EF4-FFF2-40B4-BE49-F238E27FC236}">
                    <a16:creationId xmlns:a16="http://schemas.microsoft.com/office/drawing/2014/main" id="{4F2ED8A5-712A-D941-3C53-9E11183879D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 flipH="1">
                <a:off x="1944899" y="4185426"/>
                <a:ext cx="4572000" cy="1629485"/>
              </a:xfrm>
              <a:prstGeom prst="rect">
                <a:avLst/>
              </a:prstGeom>
              <a:blipFill>
                <a:blip r:embed="rId4"/>
                <a:stretch>
                  <a:fillRect l="-2667" b="-9738"/>
                </a:stretch>
              </a:blipFill>
            </p:spPr>
            <p:txBody>
              <a:bodyPr/>
              <a:lstStyle/>
              <a:p>
                <a:r>
                  <a:rPr lang="nl-NL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67147909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Group 10">
            <a:extLst>
              <a:ext uri="{FF2B5EF4-FFF2-40B4-BE49-F238E27FC236}">
                <a16:creationId xmlns:a16="http://schemas.microsoft.com/office/drawing/2014/main" id="{A0E0E795-FD7D-D0F0-961F-341E73E3871B}"/>
              </a:ext>
            </a:extLst>
          </p:cNvPr>
          <p:cNvGrpSpPr/>
          <p:nvPr/>
        </p:nvGrpSpPr>
        <p:grpSpPr>
          <a:xfrm>
            <a:off x="7011727" y="3703847"/>
            <a:ext cx="2735117" cy="2692955"/>
            <a:chOff x="7011727" y="3703847"/>
            <a:chExt cx="2735117" cy="2692955"/>
          </a:xfrm>
        </p:grpSpPr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8C52BFBB-71E9-4332-0EBF-10621173414C}"/>
                </a:ext>
              </a:extLst>
            </p:cNvPr>
            <p:cNvSpPr/>
            <p:nvPr/>
          </p:nvSpPr>
          <p:spPr>
            <a:xfrm>
              <a:off x="7681268" y="3703847"/>
              <a:ext cx="684961" cy="673239"/>
            </a:xfrm>
            <a:prstGeom prst="rect">
              <a:avLst/>
            </a:prstGeom>
            <a:pattFill prst="wdDnDiag">
              <a:fgClr>
                <a:srgbClr val="FDE723"/>
              </a:fgClr>
              <a:bgClr>
                <a:srgbClr val="39B87B"/>
              </a:bgClr>
            </a:patt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13624B49-0052-6AB2-BD0C-762E3253D510}"/>
                </a:ext>
              </a:extLst>
            </p:cNvPr>
            <p:cNvSpPr/>
            <p:nvPr/>
          </p:nvSpPr>
          <p:spPr>
            <a:xfrm>
              <a:off x="7011727" y="4377086"/>
              <a:ext cx="684961" cy="673239"/>
            </a:xfrm>
            <a:prstGeom prst="rect">
              <a:avLst/>
            </a:prstGeom>
            <a:pattFill prst="wdDnDiag">
              <a:fgClr>
                <a:srgbClr val="39B87B"/>
              </a:fgClr>
              <a:bgClr>
                <a:srgbClr val="FDE723"/>
              </a:bgClr>
            </a:patt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7F3ACBFA-F8B7-FB5B-F264-D6C45135D922}"/>
                </a:ext>
              </a:extLst>
            </p:cNvPr>
            <p:cNvSpPr/>
            <p:nvPr/>
          </p:nvSpPr>
          <p:spPr>
            <a:xfrm>
              <a:off x="8376923" y="4377086"/>
              <a:ext cx="684961" cy="673239"/>
            </a:xfrm>
            <a:prstGeom prst="rect">
              <a:avLst/>
            </a:prstGeom>
            <a:pattFill prst="wdDnDiag">
              <a:fgClr>
                <a:srgbClr val="39B87B"/>
              </a:fgClr>
              <a:bgClr>
                <a:srgbClr val="2F668D"/>
              </a:bgClr>
            </a:patt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79F91BD2-D0ED-AAEB-742F-007761356405}"/>
                </a:ext>
              </a:extLst>
            </p:cNvPr>
            <p:cNvSpPr/>
            <p:nvPr/>
          </p:nvSpPr>
          <p:spPr>
            <a:xfrm>
              <a:off x="7694470" y="5050324"/>
              <a:ext cx="684961" cy="673239"/>
            </a:xfrm>
            <a:prstGeom prst="rect">
              <a:avLst/>
            </a:prstGeom>
            <a:pattFill prst="wdDnDiag">
              <a:fgClr>
                <a:srgbClr val="2F668D"/>
              </a:fgClr>
              <a:bgClr>
                <a:srgbClr val="39B87B"/>
              </a:bgClr>
            </a:patt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8779E118-E09F-DD12-5780-0F3A3847F586}"/>
                </a:ext>
              </a:extLst>
            </p:cNvPr>
            <p:cNvSpPr/>
            <p:nvPr/>
          </p:nvSpPr>
          <p:spPr>
            <a:xfrm>
              <a:off x="9061883" y="5050324"/>
              <a:ext cx="684961" cy="673239"/>
            </a:xfrm>
            <a:prstGeom prst="rect">
              <a:avLst/>
            </a:prstGeom>
            <a:pattFill prst="wdDnDiag">
              <a:fgClr>
                <a:srgbClr val="2F668D"/>
              </a:fgClr>
              <a:bgClr>
                <a:srgbClr val="420052"/>
              </a:bgClr>
            </a:patt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CE135AA2-E4AD-750B-0EC1-B0EA89D800E5}"/>
                </a:ext>
              </a:extLst>
            </p:cNvPr>
            <p:cNvSpPr/>
            <p:nvPr/>
          </p:nvSpPr>
          <p:spPr>
            <a:xfrm>
              <a:off x="8380962" y="5723563"/>
              <a:ext cx="684961" cy="673239"/>
            </a:xfrm>
            <a:prstGeom prst="rect">
              <a:avLst/>
            </a:prstGeom>
            <a:pattFill prst="wdDnDiag">
              <a:fgClr>
                <a:srgbClr val="420052"/>
              </a:fgClr>
              <a:bgClr>
                <a:srgbClr val="2F668D"/>
              </a:bgClr>
            </a:patt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</p:grpSp>
      <p:grpSp>
        <p:nvGrpSpPr>
          <p:cNvPr id="3" name="Group 2">
            <a:extLst>
              <a:ext uri="{FF2B5EF4-FFF2-40B4-BE49-F238E27FC236}">
                <a16:creationId xmlns:a16="http://schemas.microsoft.com/office/drawing/2014/main" id="{1A4FA891-8F6F-7432-1DF6-0DA2BA156E61}"/>
              </a:ext>
            </a:extLst>
          </p:cNvPr>
          <p:cNvGrpSpPr/>
          <p:nvPr/>
        </p:nvGrpSpPr>
        <p:grpSpPr>
          <a:xfrm>
            <a:off x="6752492" y="1027906"/>
            <a:ext cx="5225420" cy="2311243"/>
            <a:chOff x="6752492" y="1027906"/>
            <a:chExt cx="5225420" cy="2311243"/>
          </a:xfrm>
        </p:grpSpPr>
        <p:grpSp>
          <p:nvGrpSpPr>
            <p:cNvPr id="138" name="Group 137">
              <a:extLst>
                <a:ext uri="{FF2B5EF4-FFF2-40B4-BE49-F238E27FC236}">
                  <a16:creationId xmlns:a16="http://schemas.microsoft.com/office/drawing/2014/main" id="{C0439ED2-5648-52B2-2C56-5E65B50A417A}"/>
                </a:ext>
              </a:extLst>
            </p:cNvPr>
            <p:cNvGrpSpPr/>
            <p:nvPr/>
          </p:nvGrpSpPr>
          <p:grpSpPr>
            <a:xfrm>
              <a:off x="6752492" y="1027906"/>
              <a:ext cx="5225420" cy="2311243"/>
              <a:chOff x="6752492" y="1027906"/>
              <a:chExt cx="5225420" cy="2311243"/>
            </a:xfrm>
          </p:grpSpPr>
          <p:pic>
            <p:nvPicPr>
              <p:cNvPr id="120" name="Picture 119">
                <a:extLst>
                  <a:ext uri="{FF2B5EF4-FFF2-40B4-BE49-F238E27FC236}">
                    <a16:creationId xmlns:a16="http://schemas.microsoft.com/office/drawing/2014/main" id="{FA7A51C9-7285-8546-E98C-D327389C05DE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6923453" y="1223851"/>
                <a:ext cx="1520347" cy="780213"/>
              </a:xfrm>
              <a:prstGeom prst="rect">
                <a:avLst/>
              </a:prstGeom>
            </p:spPr>
          </p:pic>
          <p:pic>
            <p:nvPicPr>
              <p:cNvPr id="122" name="Picture 121">
                <a:extLst>
                  <a:ext uri="{FF2B5EF4-FFF2-40B4-BE49-F238E27FC236}">
                    <a16:creationId xmlns:a16="http://schemas.microsoft.com/office/drawing/2014/main" id="{C7F11C36-78CB-66D8-D051-5AE1087A81E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9521273" y="1226994"/>
                <a:ext cx="1520347" cy="780213"/>
              </a:xfrm>
              <a:prstGeom prst="rect">
                <a:avLst/>
              </a:prstGeom>
            </p:spPr>
          </p:pic>
          <p:pic>
            <p:nvPicPr>
              <p:cNvPr id="124" name="Picture 123">
                <a:extLst>
                  <a:ext uri="{FF2B5EF4-FFF2-40B4-BE49-F238E27FC236}">
                    <a16:creationId xmlns:a16="http://schemas.microsoft.com/office/drawing/2014/main" id="{FE1B6C1B-8EB2-2B55-9649-03E4396E6F0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6940553" y="2377632"/>
                <a:ext cx="1520347" cy="780213"/>
              </a:xfrm>
              <a:prstGeom prst="rect">
                <a:avLst/>
              </a:prstGeom>
            </p:spPr>
          </p:pic>
          <p:pic>
            <p:nvPicPr>
              <p:cNvPr id="126" name="Picture 125">
                <a:extLst>
                  <a:ext uri="{FF2B5EF4-FFF2-40B4-BE49-F238E27FC236}">
                    <a16:creationId xmlns:a16="http://schemas.microsoft.com/office/drawing/2014/main" id="{27483A07-AA95-7794-BF36-36B060FF322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9521272" y="2365513"/>
                <a:ext cx="1520347" cy="780213"/>
              </a:xfrm>
              <a:prstGeom prst="rect">
                <a:avLst/>
              </a:prstGeom>
            </p:spPr>
          </p:pic>
          <p:pic>
            <p:nvPicPr>
              <p:cNvPr id="127" name="Picture 4" descr="Computer, desktop, internet, monitor, pc, technology, windows computer icon  - Download on Iconfinder">
                <a:extLst>
                  <a:ext uri="{FF2B5EF4-FFF2-40B4-BE49-F238E27FC236}">
                    <a16:creationId xmlns:a16="http://schemas.microsoft.com/office/drawing/2014/main" id="{E9974548-476D-4293-AF3C-788FEE5D0019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7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13449" t="26124" r="12245" b="24533"/>
              <a:stretch/>
            </p:blipFill>
            <p:spPr bwMode="auto">
              <a:xfrm>
                <a:off x="8567446" y="1406730"/>
                <a:ext cx="671564" cy="445961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128" name="Picture 4" descr="Computer, desktop, internet, monitor, pc, technology, windows computer icon  - Download on Iconfinder">
                <a:extLst>
                  <a:ext uri="{FF2B5EF4-FFF2-40B4-BE49-F238E27FC236}">
                    <a16:creationId xmlns:a16="http://schemas.microsoft.com/office/drawing/2014/main" id="{B19F7FB0-324D-3FE3-BA60-37C44BD92821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7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13449" t="26124" r="12245" b="24533"/>
              <a:stretch/>
            </p:blipFill>
            <p:spPr bwMode="auto">
              <a:xfrm>
                <a:off x="8570546" y="2508528"/>
                <a:ext cx="671564" cy="445961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129" name="Picture 4" descr="Computer, desktop, internet, monitor, pc, technology, windows computer icon  - Download on Iconfinder">
                <a:extLst>
                  <a:ext uri="{FF2B5EF4-FFF2-40B4-BE49-F238E27FC236}">
                    <a16:creationId xmlns:a16="http://schemas.microsoft.com/office/drawing/2014/main" id="{FA49564D-83B0-45A2-305F-A6D6AD683B25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7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13449" t="26124" r="12245" b="24533"/>
              <a:stretch/>
            </p:blipFill>
            <p:spPr bwMode="auto">
              <a:xfrm>
                <a:off x="11165267" y="1412713"/>
                <a:ext cx="671564" cy="445961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130" name="Picture 4" descr="Computer, desktop, internet, monitor, pc, technology, windows computer icon  - Download on Iconfinder">
                <a:extLst>
                  <a:ext uri="{FF2B5EF4-FFF2-40B4-BE49-F238E27FC236}">
                    <a16:creationId xmlns:a16="http://schemas.microsoft.com/office/drawing/2014/main" id="{6C0F1F6C-AE13-2467-96EE-5AC6A159E37A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7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13449" t="26124" r="12245" b="24533"/>
              <a:stretch/>
            </p:blipFill>
            <p:spPr bwMode="auto">
              <a:xfrm>
                <a:off x="11165267" y="2508528"/>
                <a:ext cx="671564" cy="445961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sp>
            <p:nvSpPr>
              <p:cNvPr id="131" name="Rectangle 130">
                <a:extLst>
                  <a:ext uri="{FF2B5EF4-FFF2-40B4-BE49-F238E27FC236}">
                    <a16:creationId xmlns:a16="http://schemas.microsoft.com/office/drawing/2014/main" id="{F6E7B847-59B0-B629-6ACD-2D5F6447F454}"/>
                  </a:ext>
                </a:extLst>
              </p:cNvPr>
              <p:cNvSpPr/>
              <p:nvPr/>
            </p:nvSpPr>
            <p:spPr>
              <a:xfrm>
                <a:off x="6752492" y="1027906"/>
                <a:ext cx="5225420" cy="2311243"/>
              </a:xfrm>
              <a:prstGeom prst="rect">
                <a:avLst/>
              </a:prstGeom>
              <a:noFill/>
              <a:ln w="1905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nl-NL"/>
              </a:p>
            </p:txBody>
          </p:sp>
          <p:cxnSp>
            <p:nvCxnSpPr>
              <p:cNvPr id="133" name="Straight Connector 132">
                <a:extLst>
                  <a:ext uri="{FF2B5EF4-FFF2-40B4-BE49-F238E27FC236}">
                    <a16:creationId xmlns:a16="http://schemas.microsoft.com/office/drawing/2014/main" id="{62B351EE-65F0-BF14-9E99-06C74D27F9CC}"/>
                  </a:ext>
                </a:extLst>
              </p:cNvPr>
              <p:cNvCxnSpPr>
                <a:stCxn id="131" idx="0"/>
                <a:endCxn id="131" idx="2"/>
              </p:cNvCxnSpPr>
              <p:nvPr/>
            </p:nvCxnSpPr>
            <p:spPr>
              <a:xfrm>
                <a:off x="9365202" y="1027906"/>
                <a:ext cx="0" cy="2311243"/>
              </a:xfrm>
              <a:prstGeom prst="line">
                <a:avLst/>
              </a:prstGeom>
              <a:ln w="1905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35" name="Straight Connector 134">
                <a:extLst>
                  <a:ext uri="{FF2B5EF4-FFF2-40B4-BE49-F238E27FC236}">
                    <a16:creationId xmlns:a16="http://schemas.microsoft.com/office/drawing/2014/main" id="{2822552B-C195-DFB5-7CF7-26FE64968CE9}"/>
                  </a:ext>
                </a:extLst>
              </p:cNvPr>
              <p:cNvCxnSpPr>
                <a:stCxn id="131" idx="1"/>
                <a:endCxn id="131" idx="3"/>
              </p:cNvCxnSpPr>
              <p:nvPr/>
            </p:nvCxnSpPr>
            <p:spPr>
              <a:xfrm>
                <a:off x="6752492" y="2183528"/>
                <a:ext cx="5225420" cy="0"/>
              </a:xfrm>
              <a:prstGeom prst="line">
                <a:avLst/>
              </a:prstGeom>
              <a:ln w="1905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  <p:sp>
          <p:nvSpPr>
            <p:cNvPr id="142" name="TextBox 141">
              <a:extLst>
                <a:ext uri="{FF2B5EF4-FFF2-40B4-BE49-F238E27FC236}">
                  <a16:creationId xmlns:a16="http://schemas.microsoft.com/office/drawing/2014/main" id="{268F21D1-441F-4352-DE67-58343853BCC2}"/>
                </a:ext>
              </a:extLst>
            </p:cNvPr>
            <p:cNvSpPr txBox="1"/>
            <p:nvPr/>
          </p:nvSpPr>
          <p:spPr>
            <a:xfrm>
              <a:off x="10204534" y="1579268"/>
              <a:ext cx="30168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nl-NL"/>
                <a:t>2</a:t>
              </a:r>
            </a:p>
          </p:txBody>
        </p:sp>
        <p:sp>
          <p:nvSpPr>
            <p:cNvPr id="143" name="TextBox 142">
              <a:extLst>
                <a:ext uri="{FF2B5EF4-FFF2-40B4-BE49-F238E27FC236}">
                  <a16:creationId xmlns:a16="http://schemas.microsoft.com/office/drawing/2014/main" id="{1CC30575-E344-1458-8455-6C74D1AB261F}"/>
                </a:ext>
              </a:extLst>
            </p:cNvPr>
            <p:cNvSpPr txBox="1"/>
            <p:nvPr/>
          </p:nvSpPr>
          <p:spPr>
            <a:xfrm>
              <a:off x="7399040" y="1302540"/>
              <a:ext cx="30168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nl-NL"/>
                <a:t>1</a:t>
              </a:r>
            </a:p>
          </p:txBody>
        </p:sp>
        <p:sp>
          <p:nvSpPr>
            <p:cNvPr id="144" name="TextBox 143">
              <a:extLst>
                <a:ext uri="{FF2B5EF4-FFF2-40B4-BE49-F238E27FC236}">
                  <a16:creationId xmlns:a16="http://schemas.microsoft.com/office/drawing/2014/main" id="{77A714D2-B0CF-B5F4-7A38-DDA230AE9F6C}"/>
                </a:ext>
              </a:extLst>
            </p:cNvPr>
            <p:cNvSpPr txBox="1"/>
            <p:nvPr/>
          </p:nvSpPr>
          <p:spPr>
            <a:xfrm>
              <a:off x="7399040" y="2445506"/>
              <a:ext cx="30168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nl-NL"/>
                <a:t>3</a:t>
              </a:r>
            </a:p>
          </p:txBody>
        </p:sp>
        <p:sp>
          <p:nvSpPr>
            <p:cNvPr id="145" name="TextBox 144">
              <a:extLst>
                <a:ext uri="{FF2B5EF4-FFF2-40B4-BE49-F238E27FC236}">
                  <a16:creationId xmlns:a16="http://schemas.microsoft.com/office/drawing/2014/main" id="{8A30F3B7-1649-6F92-6588-9131DB617CD9}"/>
                </a:ext>
              </a:extLst>
            </p:cNvPr>
            <p:cNvSpPr txBox="1"/>
            <p:nvPr/>
          </p:nvSpPr>
          <p:spPr>
            <a:xfrm>
              <a:off x="10192023" y="2742237"/>
              <a:ext cx="30168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nl-NL"/>
                <a:t>4</a:t>
              </a:r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9BC47355-FF35-4CC6-AC4C-14880046D8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b="1">
                <a:solidFill>
                  <a:schemeClr val="tx2"/>
                </a:solidFill>
              </a:rPr>
              <a:t>Parallel Solution</a:t>
            </a:r>
            <a:endParaRPr lang="en-US" b="1" dirty="0">
              <a:solidFill>
                <a:schemeClr val="tx2"/>
              </a:solidFill>
            </a:endParaRPr>
          </a:p>
        </p:txBody>
      </p:sp>
      <p:sp>
        <p:nvSpPr>
          <p:cNvPr id="82" name="Content Placeholder 4">
            <a:extLst>
              <a:ext uri="{FF2B5EF4-FFF2-40B4-BE49-F238E27FC236}">
                <a16:creationId xmlns:a16="http://schemas.microsoft.com/office/drawing/2014/main" id="{867BE51D-4824-A987-0148-B17EE25ACE3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5826786" cy="4758055"/>
          </a:xfrm>
        </p:spPr>
        <p:txBody>
          <a:bodyPr>
            <a:normAutofit fontScale="25000" lnSpcReduction="20000"/>
          </a:bodyPr>
          <a:lstStyle/>
          <a:p>
            <a:r>
              <a:rPr lang="nl-NL" sz="7400" dirty="0" err="1">
                <a:solidFill>
                  <a:schemeClr val="tx2"/>
                </a:solidFill>
                <a:latin typeface="+mj-lt"/>
              </a:rPr>
              <a:t>Example</a:t>
            </a:r>
            <a:r>
              <a:rPr lang="nl-NL" sz="7400" dirty="0">
                <a:solidFill>
                  <a:schemeClr val="tx2"/>
                </a:solidFill>
                <a:latin typeface="+mj-lt"/>
              </a:rPr>
              <a:t>: </a:t>
            </a:r>
            <a:r>
              <a:rPr lang="nl-NL" sz="7400" dirty="0" err="1">
                <a:solidFill>
                  <a:schemeClr val="tx2"/>
                </a:solidFill>
                <a:latin typeface="+mj-lt"/>
              </a:rPr>
              <a:t>solve</a:t>
            </a:r>
            <a:r>
              <a:rPr lang="nl-NL" sz="7400" dirty="0">
                <a:solidFill>
                  <a:schemeClr val="tx2"/>
                </a:solidFill>
                <a:latin typeface="+mj-lt"/>
              </a:rPr>
              <a:t> </a:t>
            </a:r>
            <a:r>
              <a:rPr lang="nl-NL" sz="7400" dirty="0" err="1">
                <a:solidFill>
                  <a:schemeClr val="tx2"/>
                </a:solidFill>
                <a:latin typeface="+mj-lt"/>
              </a:rPr>
              <a:t>the</a:t>
            </a:r>
            <a:r>
              <a:rPr lang="nl-NL" sz="7400" dirty="0">
                <a:solidFill>
                  <a:schemeClr val="tx2"/>
                </a:solidFill>
                <a:latin typeface="+mj-lt"/>
              </a:rPr>
              <a:t> </a:t>
            </a:r>
            <a:r>
              <a:rPr lang="nl-NL" sz="7400" dirty="0" err="1">
                <a:solidFill>
                  <a:schemeClr val="tx2"/>
                </a:solidFill>
                <a:latin typeface="+mj-lt"/>
              </a:rPr>
              <a:t>groundwater</a:t>
            </a:r>
            <a:r>
              <a:rPr lang="nl-NL" sz="7400" dirty="0">
                <a:solidFill>
                  <a:schemeClr val="tx2"/>
                </a:solidFill>
                <a:latin typeface="+mj-lt"/>
              </a:rPr>
              <a:t> flow </a:t>
            </a:r>
            <a:r>
              <a:rPr lang="nl-NL" sz="7400" dirty="0" err="1">
                <a:solidFill>
                  <a:schemeClr val="tx2"/>
                </a:solidFill>
                <a:latin typeface="+mj-lt"/>
              </a:rPr>
              <a:t>equation</a:t>
            </a:r>
            <a:r>
              <a:rPr lang="nl-NL" sz="7400" dirty="0">
                <a:solidFill>
                  <a:schemeClr val="tx2"/>
                </a:solidFill>
                <a:latin typeface="+mj-lt"/>
              </a:rPr>
              <a:t> (Ax = b) over 4 </a:t>
            </a:r>
            <a:r>
              <a:rPr lang="nl-NL" sz="7400" dirty="0" err="1">
                <a:solidFill>
                  <a:schemeClr val="tx2"/>
                </a:solidFill>
                <a:latin typeface="+mj-lt"/>
              </a:rPr>
              <a:t>domains</a:t>
            </a:r>
            <a:endParaRPr lang="nl-NL" sz="7400" dirty="0">
              <a:solidFill>
                <a:schemeClr val="tx2"/>
              </a:solidFill>
              <a:latin typeface="+mj-lt"/>
            </a:endParaRPr>
          </a:p>
          <a:p>
            <a:r>
              <a:rPr lang="nl-NL" sz="7400" dirty="0" err="1">
                <a:solidFill>
                  <a:schemeClr val="tx2"/>
                </a:solidFill>
                <a:latin typeface="+mj-lt"/>
              </a:rPr>
              <a:t>Dependent</a:t>
            </a:r>
            <a:r>
              <a:rPr lang="nl-NL" sz="7400" dirty="0">
                <a:solidFill>
                  <a:schemeClr val="tx2"/>
                </a:solidFill>
                <a:latin typeface="+mj-lt"/>
              </a:rPr>
              <a:t> </a:t>
            </a:r>
            <a:r>
              <a:rPr lang="nl-NL" sz="7400" dirty="0" err="1">
                <a:solidFill>
                  <a:schemeClr val="tx2"/>
                </a:solidFill>
                <a:latin typeface="+mj-lt"/>
              </a:rPr>
              <a:t>variable</a:t>
            </a:r>
            <a:r>
              <a:rPr lang="nl-NL" sz="7400" dirty="0">
                <a:solidFill>
                  <a:schemeClr val="tx2"/>
                </a:solidFill>
                <a:latin typeface="+mj-lt"/>
              </a:rPr>
              <a:t> </a:t>
            </a:r>
            <a:r>
              <a:rPr lang="nl-NL" sz="7400" b="1" dirty="0">
                <a:solidFill>
                  <a:schemeClr val="tx2"/>
                </a:solidFill>
                <a:latin typeface="+mj-lt"/>
              </a:rPr>
              <a:t>x</a:t>
            </a:r>
            <a:r>
              <a:rPr lang="nl-NL" sz="7400" dirty="0">
                <a:solidFill>
                  <a:schemeClr val="tx2"/>
                </a:solidFill>
                <a:latin typeface="+mj-lt"/>
              </a:rPr>
              <a:t> (</a:t>
            </a:r>
            <a:r>
              <a:rPr lang="nl-NL" sz="7400" dirty="0" err="1">
                <a:solidFill>
                  <a:schemeClr val="tx2"/>
                </a:solidFill>
                <a:latin typeface="+mj-lt"/>
              </a:rPr>
              <a:t>head</a:t>
            </a:r>
            <a:r>
              <a:rPr lang="nl-NL" sz="7400" dirty="0">
                <a:solidFill>
                  <a:schemeClr val="tx2"/>
                </a:solidFill>
                <a:latin typeface="+mj-lt"/>
              </a:rPr>
              <a:t>) </a:t>
            </a:r>
            <a:r>
              <a:rPr lang="nl-NL" sz="7400" dirty="0" err="1">
                <a:solidFill>
                  <a:schemeClr val="tx2"/>
                </a:solidFill>
                <a:latin typeface="+mj-lt"/>
              </a:rPr>
              <a:t>and</a:t>
            </a:r>
            <a:r>
              <a:rPr lang="nl-NL" sz="7400" dirty="0">
                <a:solidFill>
                  <a:schemeClr val="tx2"/>
                </a:solidFill>
                <a:latin typeface="+mj-lt"/>
              </a:rPr>
              <a:t> right-hand side </a:t>
            </a:r>
            <a:r>
              <a:rPr lang="nl-NL" sz="7400" b="1" dirty="0">
                <a:solidFill>
                  <a:schemeClr val="tx2"/>
                </a:solidFill>
                <a:latin typeface="+mj-lt"/>
              </a:rPr>
              <a:t>b</a:t>
            </a:r>
            <a:r>
              <a:rPr lang="nl-NL" sz="7400" dirty="0">
                <a:solidFill>
                  <a:schemeClr val="tx2"/>
                </a:solidFill>
                <a:latin typeface="+mj-lt"/>
              </a:rPr>
              <a:t> are </a:t>
            </a:r>
            <a:r>
              <a:rPr lang="nl-NL" sz="7400" dirty="0" err="1">
                <a:solidFill>
                  <a:schemeClr val="tx2"/>
                </a:solidFill>
                <a:latin typeface="+mj-lt"/>
              </a:rPr>
              <a:t>distributed</a:t>
            </a:r>
            <a:endParaRPr lang="nl-NL" sz="7400" dirty="0">
              <a:solidFill>
                <a:schemeClr val="tx2"/>
              </a:solidFill>
              <a:latin typeface="+mj-lt"/>
            </a:endParaRPr>
          </a:p>
          <a:p>
            <a:r>
              <a:rPr lang="nl-NL" sz="7400" dirty="0" err="1">
                <a:solidFill>
                  <a:schemeClr val="tx2"/>
                </a:solidFill>
                <a:latin typeface="+mj-lt"/>
              </a:rPr>
              <a:t>Each</a:t>
            </a:r>
            <a:r>
              <a:rPr lang="nl-NL" sz="7400" dirty="0">
                <a:solidFill>
                  <a:schemeClr val="tx2"/>
                </a:solidFill>
                <a:latin typeface="+mj-lt"/>
              </a:rPr>
              <a:t> </a:t>
            </a:r>
            <a:r>
              <a:rPr lang="nl-NL" sz="7400" dirty="0" err="1">
                <a:solidFill>
                  <a:schemeClr val="tx2"/>
                </a:solidFill>
                <a:latin typeface="+mj-lt"/>
              </a:rPr>
              <a:t>process</a:t>
            </a:r>
            <a:r>
              <a:rPr lang="nl-NL" sz="7400" dirty="0">
                <a:solidFill>
                  <a:schemeClr val="tx2"/>
                </a:solidFill>
                <a:latin typeface="+mj-lt"/>
              </a:rPr>
              <a:t> </a:t>
            </a:r>
            <a:r>
              <a:rPr lang="nl-NL" sz="7400" dirty="0" err="1">
                <a:solidFill>
                  <a:schemeClr val="tx2"/>
                </a:solidFill>
                <a:latin typeface="+mj-lt"/>
              </a:rPr>
              <a:t>now</a:t>
            </a:r>
            <a:r>
              <a:rPr lang="nl-NL" sz="7400" dirty="0">
                <a:solidFill>
                  <a:schemeClr val="tx2"/>
                </a:solidFill>
                <a:latin typeface="+mj-lt"/>
              </a:rPr>
              <a:t> </a:t>
            </a:r>
            <a:r>
              <a:rPr lang="nl-NL" sz="7400" dirty="0" err="1">
                <a:solidFill>
                  <a:schemeClr val="tx2"/>
                </a:solidFill>
                <a:latin typeface="+mj-lt"/>
              </a:rPr>
              <a:t>manages</a:t>
            </a:r>
            <a:r>
              <a:rPr lang="nl-NL" sz="7400" dirty="0">
                <a:solidFill>
                  <a:schemeClr val="tx2"/>
                </a:solidFill>
                <a:latin typeface="+mj-lt"/>
              </a:rPr>
              <a:t> a </a:t>
            </a:r>
            <a:r>
              <a:rPr lang="nl-NL" sz="7400" dirty="0" err="1">
                <a:solidFill>
                  <a:schemeClr val="tx2"/>
                </a:solidFill>
                <a:latin typeface="+mj-lt"/>
              </a:rPr>
              <a:t>contiguous</a:t>
            </a:r>
            <a:r>
              <a:rPr lang="nl-NL" sz="7400" dirty="0">
                <a:solidFill>
                  <a:schemeClr val="tx2"/>
                </a:solidFill>
                <a:latin typeface="+mj-lt"/>
              </a:rPr>
              <a:t> set of </a:t>
            </a:r>
            <a:r>
              <a:rPr lang="nl-NL" sz="7400" dirty="0" err="1">
                <a:solidFill>
                  <a:schemeClr val="tx2"/>
                </a:solidFill>
                <a:latin typeface="+mj-lt"/>
              </a:rPr>
              <a:t>rows</a:t>
            </a:r>
            <a:r>
              <a:rPr lang="nl-NL" sz="7400" dirty="0">
                <a:solidFill>
                  <a:schemeClr val="tx2"/>
                </a:solidFill>
                <a:latin typeface="+mj-lt"/>
              </a:rPr>
              <a:t> of </a:t>
            </a:r>
            <a:r>
              <a:rPr lang="nl-NL" sz="7400" dirty="0" err="1">
                <a:solidFill>
                  <a:schemeClr val="tx2"/>
                </a:solidFill>
                <a:latin typeface="+mj-lt"/>
              </a:rPr>
              <a:t>the</a:t>
            </a:r>
            <a:r>
              <a:rPr lang="nl-NL" sz="7400" dirty="0">
                <a:solidFill>
                  <a:schemeClr val="tx2"/>
                </a:solidFill>
                <a:latin typeface="+mj-lt"/>
              </a:rPr>
              <a:t> system matrix </a:t>
            </a:r>
          </a:p>
          <a:p>
            <a:pPr marL="0" indent="0">
              <a:buNone/>
            </a:pPr>
            <a:r>
              <a:rPr lang="nl-NL" sz="7400" b="1" dirty="0">
                <a:solidFill>
                  <a:schemeClr val="tx2"/>
                </a:solidFill>
                <a:latin typeface="+mj-lt"/>
              </a:rPr>
              <a:t>Parallel </a:t>
            </a:r>
            <a:r>
              <a:rPr lang="nl-NL" sz="7400" b="1" dirty="0" err="1">
                <a:solidFill>
                  <a:schemeClr val="tx2"/>
                </a:solidFill>
                <a:latin typeface="+mj-lt"/>
              </a:rPr>
              <a:t>iterative</a:t>
            </a:r>
            <a:r>
              <a:rPr lang="nl-NL" sz="7400" b="1" dirty="0">
                <a:solidFill>
                  <a:schemeClr val="tx2"/>
                </a:solidFill>
                <a:latin typeface="+mj-lt"/>
              </a:rPr>
              <a:t> </a:t>
            </a:r>
            <a:r>
              <a:rPr lang="nl-NL" sz="7400" b="1" dirty="0" err="1">
                <a:solidFill>
                  <a:schemeClr val="tx2"/>
                </a:solidFill>
                <a:latin typeface="+mj-lt"/>
              </a:rPr>
              <a:t>solver</a:t>
            </a:r>
            <a:r>
              <a:rPr lang="nl-NL" sz="7400" dirty="0">
                <a:solidFill>
                  <a:schemeClr val="tx2"/>
                </a:solidFill>
                <a:latin typeface="+mj-lt"/>
              </a:rPr>
              <a:t>:</a:t>
            </a:r>
          </a:p>
          <a:p>
            <a:r>
              <a:rPr lang="nl-NL" sz="7400" dirty="0" err="1">
                <a:solidFill>
                  <a:schemeClr val="tx2"/>
                </a:solidFill>
                <a:latin typeface="+mj-lt"/>
              </a:rPr>
              <a:t>choose</a:t>
            </a:r>
            <a:r>
              <a:rPr lang="nl-NL" sz="7400" dirty="0">
                <a:solidFill>
                  <a:schemeClr val="tx2"/>
                </a:solidFill>
                <a:latin typeface="+mj-lt"/>
              </a:rPr>
              <a:t> A = M – N </a:t>
            </a:r>
            <a:r>
              <a:rPr lang="nl-NL" sz="7400" dirty="0" err="1">
                <a:solidFill>
                  <a:schemeClr val="tx2"/>
                </a:solidFill>
                <a:latin typeface="+mj-lt"/>
              </a:rPr>
              <a:t>and</a:t>
            </a:r>
            <a:r>
              <a:rPr lang="nl-NL" sz="7400" dirty="0">
                <a:solidFill>
                  <a:schemeClr val="tx2"/>
                </a:solidFill>
                <a:latin typeface="+mj-lt"/>
              </a:rPr>
              <a:t> </a:t>
            </a:r>
            <a:r>
              <a:rPr lang="nl-NL" sz="7400" dirty="0" err="1">
                <a:solidFill>
                  <a:schemeClr val="tx2"/>
                </a:solidFill>
                <a:latin typeface="+mj-lt"/>
              </a:rPr>
              <a:t>rewrite</a:t>
            </a:r>
            <a:r>
              <a:rPr lang="nl-NL" sz="7400" dirty="0">
                <a:solidFill>
                  <a:schemeClr val="tx2"/>
                </a:solidFill>
                <a:latin typeface="+mj-lt"/>
              </a:rPr>
              <a:t> Ax = b as</a:t>
            </a:r>
          </a:p>
          <a:p>
            <a:pPr marL="0" indent="0">
              <a:buNone/>
            </a:pPr>
            <a:r>
              <a:rPr lang="nl-NL" sz="7400" dirty="0">
                <a:solidFill>
                  <a:schemeClr val="tx2"/>
                </a:solidFill>
                <a:latin typeface="+mj-lt"/>
              </a:rPr>
              <a:t>	</a:t>
            </a:r>
            <a:r>
              <a:rPr lang="nl-NL" sz="8000" dirty="0" err="1">
                <a:solidFill>
                  <a:schemeClr val="tx2"/>
                </a:solidFill>
                <a:latin typeface="+mj-lt"/>
              </a:rPr>
              <a:t>M</a:t>
            </a:r>
            <a:r>
              <a:rPr lang="nl-NL" sz="8000" baseline="-25000" dirty="0" err="1">
                <a:solidFill>
                  <a:schemeClr val="tx2"/>
                </a:solidFill>
                <a:latin typeface="+mj-lt"/>
              </a:rPr>
              <a:t>ij</a:t>
            </a:r>
            <a:r>
              <a:rPr lang="nl-NL" sz="8000" dirty="0" err="1">
                <a:solidFill>
                  <a:schemeClr val="tx2"/>
                </a:solidFill>
                <a:latin typeface="+mj-lt"/>
              </a:rPr>
              <a:t>x</a:t>
            </a:r>
            <a:r>
              <a:rPr lang="nl-NL" sz="8000" baseline="-25000" dirty="0" err="1">
                <a:solidFill>
                  <a:schemeClr val="tx2"/>
                </a:solidFill>
                <a:latin typeface="+mj-lt"/>
              </a:rPr>
              <a:t>j</a:t>
            </a:r>
            <a:r>
              <a:rPr lang="nl-NL" sz="8000" dirty="0">
                <a:solidFill>
                  <a:schemeClr val="tx2"/>
                </a:solidFill>
                <a:latin typeface="+mj-lt"/>
              </a:rPr>
              <a:t> = </a:t>
            </a:r>
            <a:r>
              <a:rPr lang="nl-NL" sz="8000" dirty="0" err="1">
                <a:solidFill>
                  <a:schemeClr val="tx2"/>
                </a:solidFill>
                <a:latin typeface="+mj-lt"/>
              </a:rPr>
              <a:t>N</a:t>
            </a:r>
            <a:r>
              <a:rPr lang="nl-NL" sz="8000" baseline="-25000" dirty="0" err="1">
                <a:solidFill>
                  <a:schemeClr val="tx2"/>
                </a:solidFill>
                <a:latin typeface="+mj-lt"/>
              </a:rPr>
              <a:t>ij</a:t>
            </a:r>
            <a:r>
              <a:rPr lang="nl-NL" sz="8000" dirty="0" err="1">
                <a:solidFill>
                  <a:schemeClr val="tx2"/>
                </a:solidFill>
                <a:latin typeface="+mj-lt"/>
              </a:rPr>
              <a:t>x</a:t>
            </a:r>
            <a:r>
              <a:rPr lang="nl-NL" sz="8000" baseline="-25000" dirty="0" err="1">
                <a:solidFill>
                  <a:schemeClr val="tx2"/>
                </a:solidFill>
                <a:latin typeface="+mj-lt"/>
              </a:rPr>
              <a:t>j</a:t>
            </a:r>
            <a:r>
              <a:rPr lang="nl-NL" sz="8000" dirty="0">
                <a:solidFill>
                  <a:schemeClr val="tx2"/>
                </a:solidFill>
                <a:latin typeface="+mj-lt"/>
              </a:rPr>
              <a:t> + </a:t>
            </a:r>
            <a:r>
              <a:rPr lang="nl-NL" sz="8000" dirty="0" err="1">
                <a:solidFill>
                  <a:schemeClr val="tx2"/>
                </a:solidFill>
                <a:latin typeface="+mj-lt"/>
              </a:rPr>
              <a:t>b</a:t>
            </a:r>
            <a:r>
              <a:rPr lang="nl-NL" sz="8000" baseline="-25000" dirty="0" err="1">
                <a:solidFill>
                  <a:schemeClr val="tx2"/>
                </a:solidFill>
                <a:latin typeface="+mj-lt"/>
              </a:rPr>
              <a:t>j</a:t>
            </a:r>
            <a:r>
              <a:rPr lang="nl-NL" sz="8000" dirty="0">
                <a:solidFill>
                  <a:schemeClr val="tx2"/>
                </a:solidFill>
                <a:latin typeface="+mj-lt"/>
              </a:rPr>
              <a:t> </a:t>
            </a:r>
          </a:p>
          <a:p>
            <a:r>
              <a:rPr lang="nl-NL" sz="7600" dirty="0">
                <a:solidFill>
                  <a:schemeClr val="tx2"/>
                </a:solidFill>
                <a:latin typeface="+mj-lt"/>
              </a:rPr>
              <a:t>or as </a:t>
            </a:r>
            <a:r>
              <a:rPr lang="nl-NL" sz="7600" dirty="0" err="1">
                <a:solidFill>
                  <a:schemeClr val="tx2"/>
                </a:solidFill>
                <a:latin typeface="+mj-lt"/>
              </a:rPr>
              <a:t>an</a:t>
            </a:r>
            <a:r>
              <a:rPr lang="nl-NL" sz="7600" dirty="0">
                <a:solidFill>
                  <a:schemeClr val="tx2"/>
                </a:solidFill>
                <a:latin typeface="+mj-lt"/>
              </a:rPr>
              <a:t> </a:t>
            </a:r>
            <a:r>
              <a:rPr lang="nl-NL" sz="7600" dirty="0" err="1">
                <a:solidFill>
                  <a:schemeClr val="tx2"/>
                </a:solidFill>
                <a:latin typeface="+mj-lt"/>
              </a:rPr>
              <a:t>iterative</a:t>
            </a:r>
            <a:r>
              <a:rPr lang="nl-NL" sz="7600" dirty="0">
                <a:solidFill>
                  <a:schemeClr val="tx2"/>
                </a:solidFill>
                <a:latin typeface="+mj-lt"/>
              </a:rPr>
              <a:t> </a:t>
            </a:r>
            <a:r>
              <a:rPr lang="nl-NL" sz="7600" dirty="0" err="1">
                <a:solidFill>
                  <a:schemeClr val="tx2"/>
                </a:solidFill>
                <a:latin typeface="+mj-lt"/>
              </a:rPr>
              <a:t>scheme</a:t>
            </a:r>
            <a:r>
              <a:rPr lang="nl-NL" sz="7600" dirty="0">
                <a:solidFill>
                  <a:schemeClr val="tx2"/>
                </a:solidFill>
                <a:latin typeface="+mj-lt"/>
              </a:rPr>
              <a:t>, </a:t>
            </a:r>
            <a:r>
              <a:rPr lang="nl-NL" sz="7600" dirty="0" err="1">
                <a:solidFill>
                  <a:schemeClr val="tx2"/>
                </a:solidFill>
                <a:latin typeface="+mj-lt"/>
              </a:rPr>
              <a:t>with</a:t>
            </a:r>
            <a:r>
              <a:rPr lang="nl-NL" sz="7600" dirty="0">
                <a:solidFill>
                  <a:schemeClr val="tx2"/>
                </a:solidFill>
                <a:latin typeface="+mj-lt"/>
              </a:rPr>
              <a:t> k </a:t>
            </a:r>
            <a:r>
              <a:rPr lang="nl-NL" sz="7600" dirty="0" err="1">
                <a:solidFill>
                  <a:schemeClr val="tx2"/>
                </a:solidFill>
                <a:latin typeface="+mj-lt"/>
              </a:rPr>
              <a:t>labeling</a:t>
            </a:r>
            <a:r>
              <a:rPr lang="nl-NL" sz="7600" dirty="0">
                <a:solidFill>
                  <a:schemeClr val="tx2"/>
                </a:solidFill>
                <a:latin typeface="+mj-lt"/>
              </a:rPr>
              <a:t> </a:t>
            </a:r>
            <a:r>
              <a:rPr lang="nl-NL" sz="7600" dirty="0" err="1">
                <a:solidFill>
                  <a:schemeClr val="tx2"/>
                </a:solidFill>
                <a:latin typeface="+mj-lt"/>
              </a:rPr>
              <a:t>iterations</a:t>
            </a:r>
            <a:r>
              <a:rPr lang="nl-NL" sz="7600" dirty="0">
                <a:solidFill>
                  <a:schemeClr val="tx2"/>
                </a:solidFill>
                <a:latin typeface="+mj-lt"/>
              </a:rPr>
              <a:t>:</a:t>
            </a:r>
          </a:p>
          <a:p>
            <a:pPr marL="0" indent="0">
              <a:buNone/>
            </a:pPr>
            <a:r>
              <a:rPr lang="nl-NL" sz="7600" dirty="0">
                <a:solidFill>
                  <a:schemeClr val="tx2"/>
                </a:solidFill>
                <a:latin typeface="+mj-lt"/>
              </a:rPr>
              <a:t>	</a:t>
            </a:r>
            <a:r>
              <a:rPr lang="nl-NL" sz="8000" dirty="0">
                <a:solidFill>
                  <a:schemeClr val="tx2"/>
                </a:solidFill>
                <a:latin typeface="+mj-lt"/>
              </a:rPr>
              <a:t>M</a:t>
            </a:r>
            <a:r>
              <a:rPr lang="nl-NL" sz="8000" baseline="-25000" dirty="0">
                <a:solidFill>
                  <a:schemeClr val="tx2"/>
                </a:solidFill>
                <a:latin typeface="+mj-lt"/>
              </a:rPr>
              <a:t>ij</a:t>
            </a:r>
            <a:r>
              <a:rPr lang="nl-NL" sz="8000" dirty="0">
                <a:solidFill>
                  <a:schemeClr val="tx2"/>
                </a:solidFill>
                <a:latin typeface="+mj-lt"/>
              </a:rPr>
              <a:t>x</a:t>
            </a:r>
            <a:r>
              <a:rPr lang="nl-NL" sz="8000" baseline="-25000" dirty="0">
                <a:solidFill>
                  <a:schemeClr val="tx2"/>
                </a:solidFill>
                <a:latin typeface="+mj-lt"/>
              </a:rPr>
              <a:t>j</a:t>
            </a:r>
            <a:r>
              <a:rPr lang="nl-NL" sz="8000" baseline="30000" dirty="0">
                <a:solidFill>
                  <a:schemeClr val="tx2"/>
                </a:solidFill>
                <a:latin typeface="+mj-lt"/>
              </a:rPr>
              <a:t>k+1 </a:t>
            </a:r>
            <a:r>
              <a:rPr lang="nl-NL" sz="8000" dirty="0">
                <a:solidFill>
                  <a:schemeClr val="tx2"/>
                </a:solidFill>
                <a:latin typeface="+mj-lt"/>
              </a:rPr>
              <a:t>= </a:t>
            </a:r>
            <a:r>
              <a:rPr lang="nl-NL" sz="8000" dirty="0" err="1">
                <a:solidFill>
                  <a:schemeClr val="tx2"/>
                </a:solidFill>
                <a:latin typeface="+mj-lt"/>
              </a:rPr>
              <a:t>N</a:t>
            </a:r>
            <a:r>
              <a:rPr lang="nl-NL" sz="8000" baseline="-25000" dirty="0" err="1">
                <a:solidFill>
                  <a:schemeClr val="tx2"/>
                </a:solidFill>
                <a:latin typeface="+mj-lt"/>
              </a:rPr>
              <a:t>ij</a:t>
            </a:r>
            <a:r>
              <a:rPr lang="nl-NL" sz="8000" dirty="0" err="1">
                <a:solidFill>
                  <a:schemeClr val="tx2"/>
                </a:solidFill>
                <a:latin typeface="+mj-lt"/>
              </a:rPr>
              <a:t>x</a:t>
            </a:r>
            <a:r>
              <a:rPr lang="nl-NL" sz="8000" baseline="-25000" dirty="0" err="1">
                <a:solidFill>
                  <a:schemeClr val="tx2"/>
                </a:solidFill>
                <a:latin typeface="+mj-lt"/>
              </a:rPr>
              <a:t>j</a:t>
            </a:r>
            <a:r>
              <a:rPr lang="nl-NL" sz="8000" baseline="30000" dirty="0" err="1">
                <a:solidFill>
                  <a:schemeClr val="tx2"/>
                </a:solidFill>
                <a:latin typeface="+mj-lt"/>
              </a:rPr>
              <a:t>k</a:t>
            </a:r>
            <a:r>
              <a:rPr lang="nl-NL" sz="8000" dirty="0">
                <a:solidFill>
                  <a:schemeClr val="tx2"/>
                </a:solidFill>
                <a:latin typeface="+mj-lt"/>
              </a:rPr>
              <a:t> + </a:t>
            </a:r>
            <a:r>
              <a:rPr lang="nl-NL" sz="8000" dirty="0" err="1">
                <a:solidFill>
                  <a:schemeClr val="tx2"/>
                </a:solidFill>
                <a:latin typeface="+mj-lt"/>
              </a:rPr>
              <a:t>b</a:t>
            </a:r>
            <a:r>
              <a:rPr lang="nl-NL" sz="8000" baseline="-25000" dirty="0" err="1">
                <a:solidFill>
                  <a:schemeClr val="tx2"/>
                </a:solidFill>
                <a:latin typeface="+mj-lt"/>
              </a:rPr>
              <a:t>j</a:t>
            </a:r>
            <a:endParaRPr lang="nl-NL" sz="8000" baseline="-25000" dirty="0">
              <a:solidFill>
                <a:schemeClr val="tx2"/>
              </a:solidFill>
              <a:latin typeface="+mj-lt"/>
            </a:endParaRPr>
          </a:p>
          <a:p>
            <a:r>
              <a:rPr lang="nl-NL" sz="7400" dirty="0" err="1">
                <a:solidFill>
                  <a:schemeClr val="tx2"/>
                </a:solidFill>
                <a:latin typeface="+mj-lt"/>
              </a:rPr>
              <a:t>Note</a:t>
            </a:r>
            <a:r>
              <a:rPr lang="nl-NL" sz="7400" dirty="0">
                <a:solidFill>
                  <a:schemeClr val="tx2"/>
                </a:solidFill>
                <a:latin typeface="+mj-lt"/>
              </a:rPr>
              <a:t> </a:t>
            </a:r>
            <a:r>
              <a:rPr lang="nl-NL" sz="7400" dirty="0" err="1">
                <a:solidFill>
                  <a:schemeClr val="tx2"/>
                </a:solidFill>
                <a:latin typeface="+mj-lt"/>
              </a:rPr>
              <a:t>that</a:t>
            </a:r>
            <a:r>
              <a:rPr lang="nl-NL" sz="7400" dirty="0">
                <a:solidFill>
                  <a:schemeClr val="tx2"/>
                </a:solidFill>
                <a:latin typeface="+mj-lt"/>
              </a:rPr>
              <a:t> we </a:t>
            </a:r>
            <a:r>
              <a:rPr lang="nl-NL" sz="7400" dirty="0" err="1">
                <a:solidFill>
                  <a:schemeClr val="tx2"/>
                </a:solidFill>
                <a:latin typeface="+mj-lt"/>
              </a:rPr>
              <a:t>can</a:t>
            </a:r>
            <a:r>
              <a:rPr lang="nl-NL" sz="7400" dirty="0">
                <a:solidFill>
                  <a:schemeClr val="tx2"/>
                </a:solidFill>
                <a:latin typeface="+mj-lt"/>
              </a:rPr>
              <a:t> </a:t>
            </a:r>
            <a:r>
              <a:rPr lang="nl-NL" sz="7400" dirty="0" err="1">
                <a:solidFill>
                  <a:schemeClr val="tx2"/>
                </a:solidFill>
                <a:latin typeface="+mj-lt"/>
              </a:rPr>
              <a:t>freely</a:t>
            </a:r>
            <a:r>
              <a:rPr lang="nl-NL" sz="7400" dirty="0">
                <a:solidFill>
                  <a:schemeClr val="tx2"/>
                </a:solidFill>
                <a:latin typeface="+mj-lt"/>
              </a:rPr>
              <a:t> </a:t>
            </a:r>
            <a:r>
              <a:rPr lang="nl-NL" sz="7400" dirty="0" err="1">
                <a:solidFill>
                  <a:schemeClr val="tx2"/>
                </a:solidFill>
                <a:latin typeface="+mj-lt"/>
              </a:rPr>
              <a:t>choose</a:t>
            </a:r>
            <a:r>
              <a:rPr lang="nl-NL" sz="7400" dirty="0">
                <a:solidFill>
                  <a:schemeClr val="tx2"/>
                </a:solidFill>
                <a:latin typeface="+mj-lt"/>
              </a:rPr>
              <a:t> M, </a:t>
            </a:r>
            <a:r>
              <a:rPr lang="nl-NL" sz="7400" dirty="0" err="1">
                <a:solidFill>
                  <a:schemeClr val="tx2"/>
                </a:solidFill>
                <a:latin typeface="+mj-lt"/>
              </a:rPr>
              <a:t>so</a:t>
            </a:r>
            <a:r>
              <a:rPr lang="nl-NL" sz="7400" dirty="0">
                <a:solidFill>
                  <a:schemeClr val="tx2"/>
                </a:solidFill>
                <a:latin typeface="+mj-lt"/>
              </a:rPr>
              <a:t> </a:t>
            </a:r>
            <a:r>
              <a:rPr lang="nl-NL" sz="7400" dirty="0" err="1">
                <a:solidFill>
                  <a:schemeClr val="tx2"/>
                </a:solidFill>
                <a:latin typeface="+mj-lt"/>
              </a:rPr>
              <a:t>let’s</a:t>
            </a:r>
            <a:r>
              <a:rPr lang="nl-NL" sz="7400" dirty="0">
                <a:solidFill>
                  <a:schemeClr val="tx2"/>
                </a:solidFill>
                <a:latin typeface="+mj-lt"/>
              </a:rPr>
              <a:t> take M</a:t>
            </a:r>
            <a:r>
              <a:rPr lang="nl-NL" sz="7400" baseline="-25000" dirty="0">
                <a:solidFill>
                  <a:schemeClr val="tx2"/>
                </a:solidFill>
                <a:latin typeface="+mj-lt"/>
              </a:rPr>
              <a:t>ij </a:t>
            </a:r>
            <a:r>
              <a:rPr lang="nl-NL" sz="7400" dirty="0">
                <a:solidFill>
                  <a:schemeClr val="tx2"/>
                </a:solidFill>
                <a:latin typeface="+mj-lt"/>
              </a:rPr>
              <a:t>= 0 </a:t>
            </a:r>
            <a:r>
              <a:rPr lang="nl-NL" sz="7400" dirty="0" err="1">
                <a:solidFill>
                  <a:schemeClr val="tx2"/>
                </a:solidFill>
                <a:latin typeface="+mj-lt"/>
              </a:rPr>
              <a:t>for</a:t>
            </a:r>
            <a:r>
              <a:rPr lang="nl-NL" sz="7400" dirty="0">
                <a:solidFill>
                  <a:schemeClr val="tx2"/>
                </a:solidFill>
                <a:latin typeface="+mj-lt"/>
              </a:rPr>
              <a:t> </a:t>
            </a:r>
            <a:r>
              <a:rPr lang="nl-NL" sz="7400" dirty="0" err="1">
                <a:solidFill>
                  <a:schemeClr val="tx2"/>
                </a:solidFill>
                <a:latin typeface="+mj-lt"/>
              </a:rPr>
              <a:t>all</a:t>
            </a:r>
            <a:r>
              <a:rPr lang="nl-NL" sz="7400" dirty="0">
                <a:solidFill>
                  <a:schemeClr val="tx2"/>
                </a:solidFill>
                <a:latin typeface="+mj-lt"/>
              </a:rPr>
              <a:t> i ≠ j (</a:t>
            </a:r>
            <a:r>
              <a:rPr lang="nl-NL" sz="7400" dirty="0" err="1">
                <a:solidFill>
                  <a:schemeClr val="tx2"/>
                </a:solidFill>
                <a:latin typeface="+mj-lt"/>
              </a:rPr>
              <a:t>this</a:t>
            </a:r>
            <a:r>
              <a:rPr lang="nl-NL" sz="7400" dirty="0">
                <a:solidFill>
                  <a:schemeClr val="tx2"/>
                </a:solidFill>
                <a:latin typeface="+mj-lt"/>
              </a:rPr>
              <a:t> is </a:t>
            </a:r>
            <a:r>
              <a:rPr lang="nl-NL" sz="7400" dirty="0" err="1">
                <a:solidFill>
                  <a:schemeClr val="tx2"/>
                </a:solidFill>
                <a:latin typeface="+mj-lt"/>
              </a:rPr>
              <a:t>called</a:t>
            </a:r>
            <a:r>
              <a:rPr lang="nl-NL" sz="7400" dirty="0">
                <a:solidFill>
                  <a:schemeClr val="tx2"/>
                </a:solidFill>
                <a:latin typeface="+mj-lt"/>
              </a:rPr>
              <a:t> Block-Jacobi </a:t>
            </a:r>
            <a:r>
              <a:rPr lang="nl-NL" sz="7400" dirty="0" err="1">
                <a:solidFill>
                  <a:schemeClr val="tx2"/>
                </a:solidFill>
                <a:latin typeface="+mj-lt"/>
              </a:rPr>
              <a:t>preconditioning</a:t>
            </a:r>
            <a:r>
              <a:rPr lang="nl-NL" sz="7400" dirty="0">
                <a:solidFill>
                  <a:schemeClr val="tx2"/>
                </a:solidFill>
                <a:latin typeface="+mj-lt"/>
              </a:rPr>
              <a:t>) </a:t>
            </a:r>
            <a:r>
              <a:rPr lang="nl-NL" sz="7400" dirty="0" err="1">
                <a:solidFill>
                  <a:schemeClr val="tx2"/>
                </a:solidFill>
                <a:latin typeface="+mj-lt"/>
              </a:rPr>
              <a:t>such</a:t>
            </a:r>
            <a:r>
              <a:rPr lang="nl-NL" sz="7400" dirty="0">
                <a:solidFill>
                  <a:schemeClr val="tx2"/>
                </a:solidFill>
                <a:latin typeface="+mj-lt"/>
              </a:rPr>
              <a:t> </a:t>
            </a:r>
            <a:r>
              <a:rPr lang="nl-NL" sz="7400" dirty="0" err="1">
                <a:solidFill>
                  <a:schemeClr val="tx2"/>
                </a:solidFill>
                <a:latin typeface="+mj-lt"/>
              </a:rPr>
              <a:t>that</a:t>
            </a:r>
            <a:endParaRPr lang="nl-NL" sz="7400" dirty="0">
              <a:solidFill>
                <a:schemeClr val="tx2"/>
              </a:solidFill>
              <a:latin typeface="+mj-lt"/>
            </a:endParaRPr>
          </a:p>
          <a:p>
            <a:pPr marL="0" indent="0">
              <a:buNone/>
            </a:pPr>
            <a:r>
              <a:rPr lang="nl-NL" sz="7400" b="1" dirty="0">
                <a:solidFill>
                  <a:schemeClr val="tx2"/>
                </a:solidFill>
                <a:latin typeface="+mj-lt"/>
              </a:rPr>
              <a:t>	</a:t>
            </a:r>
            <a:r>
              <a:rPr lang="nl-NL" sz="8000" dirty="0">
                <a:solidFill>
                  <a:schemeClr val="tx2"/>
                </a:solidFill>
                <a:latin typeface="+mj-lt"/>
              </a:rPr>
              <a:t>x</a:t>
            </a:r>
            <a:r>
              <a:rPr lang="nl-NL" sz="8000" baseline="-25000" dirty="0">
                <a:solidFill>
                  <a:schemeClr val="tx2"/>
                </a:solidFill>
                <a:latin typeface="+mj-lt"/>
              </a:rPr>
              <a:t>i</a:t>
            </a:r>
            <a:r>
              <a:rPr lang="en-US" sz="8000" baseline="30000" dirty="0">
                <a:solidFill>
                  <a:schemeClr val="tx2"/>
                </a:solidFill>
                <a:latin typeface="+mj-lt"/>
              </a:rPr>
              <a:t>k+1</a:t>
            </a:r>
            <a:r>
              <a:rPr lang="en-US" sz="8000" dirty="0">
                <a:solidFill>
                  <a:schemeClr val="tx2"/>
                </a:solidFill>
                <a:latin typeface="+mj-lt"/>
              </a:rPr>
              <a:t> = M</a:t>
            </a:r>
            <a:r>
              <a:rPr lang="en-US" sz="8000" baseline="-25000" dirty="0">
                <a:solidFill>
                  <a:schemeClr val="tx2"/>
                </a:solidFill>
                <a:latin typeface="+mj-lt"/>
              </a:rPr>
              <a:t>ii</a:t>
            </a:r>
            <a:r>
              <a:rPr lang="en-US" sz="8000" baseline="30000" dirty="0">
                <a:solidFill>
                  <a:schemeClr val="tx2"/>
                </a:solidFill>
                <a:latin typeface="+mj-lt"/>
              </a:rPr>
              <a:t>-1</a:t>
            </a:r>
            <a:r>
              <a:rPr lang="en-US" sz="8000" dirty="0">
                <a:solidFill>
                  <a:schemeClr val="tx2"/>
                </a:solidFill>
                <a:latin typeface="+mj-lt"/>
              </a:rPr>
              <a:t> (N</a:t>
            </a:r>
            <a:r>
              <a:rPr lang="en-US" sz="8000" baseline="-25000" dirty="0">
                <a:solidFill>
                  <a:schemeClr val="tx2"/>
                </a:solidFill>
                <a:latin typeface="+mj-lt"/>
              </a:rPr>
              <a:t>ij</a:t>
            </a:r>
            <a:r>
              <a:rPr lang="nl-NL" sz="8000" dirty="0" err="1">
                <a:solidFill>
                  <a:schemeClr val="tx2"/>
                </a:solidFill>
                <a:latin typeface="+mj-lt"/>
              </a:rPr>
              <a:t>x</a:t>
            </a:r>
            <a:r>
              <a:rPr lang="nl-NL" sz="8000" baseline="-25000" dirty="0" err="1">
                <a:solidFill>
                  <a:schemeClr val="tx2"/>
                </a:solidFill>
                <a:latin typeface="+mj-lt"/>
              </a:rPr>
              <a:t>j</a:t>
            </a:r>
            <a:r>
              <a:rPr lang="en-US" sz="8000" baseline="30000" dirty="0">
                <a:solidFill>
                  <a:schemeClr val="tx2"/>
                </a:solidFill>
                <a:latin typeface="+mj-lt"/>
              </a:rPr>
              <a:t>k</a:t>
            </a:r>
            <a:r>
              <a:rPr lang="en-US" sz="8000" dirty="0">
                <a:solidFill>
                  <a:schemeClr val="tx2"/>
                </a:solidFill>
                <a:latin typeface="+mj-lt"/>
              </a:rPr>
              <a:t> + b</a:t>
            </a:r>
            <a:r>
              <a:rPr lang="en-US" sz="8000" baseline="-25000" dirty="0">
                <a:solidFill>
                  <a:schemeClr val="tx2"/>
                </a:solidFill>
                <a:latin typeface="+mj-lt"/>
              </a:rPr>
              <a:t>i</a:t>
            </a:r>
            <a:r>
              <a:rPr lang="en-US" sz="8000" dirty="0">
                <a:solidFill>
                  <a:schemeClr val="tx2"/>
                </a:solidFill>
                <a:latin typeface="+mj-lt"/>
              </a:rPr>
              <a:t>)</a:t>
            </a:r>
            <a:endParaRPr lang="nl-NL" sz="8000" dirty="0">
              <a:solidFill>
                <a:schemeClr val="tx2"/>
              </a:solidFill>
              <a:latin typeface="+mj-lt"/>
            </a:endParaRPr>
          </a:p>
          <a:p>
            <a:r>
              <a:rPr lang="nl-NL" sz="7400" dirty="0">
                <a:solidFill>
                  <a:schemeClr val="tx2"/>
                </a:solidFill>
                <a:latin typeface="+mj-lt"/>
              </a:rPr>
              <a:t>RHS </a:t>
            </a:r>
            <a:r>
              <a:rPr lang="nl-NL" sz="7400" dirty="0" err="1">
                <a:solidFill>
                  <a:schemeClr val="tx2"/>
                </a:solidFill>
                <a:latin typeface="+mj-lt"/>
              </a:rPr>
              <a:t>now</a:t>
            </a:r>
            <a:r>
              <a:rPr lang="nl-NL" sz="7400" dirty="0">
                <a:solidFill>
                  <a:schemeClr val="tx2"/>
                </a:solidFill>
                <a:latin typeface="+mj-lt"/>
              </a:rPr>
              <a:t> no </a:t>
            </a:r>
            <a:r>
              <a:rPr lang="nl-NL" sz="7400" dirty="0" err="1">
                <a:solidFill>
                  <a:schemeClr val="tx2"/>
                </a:solidFill>
                <a:latin typeface="+mj-lt"/>
              </a:rPr>
              <a:t>longer</a:t>
            </a:r>
            <a:r>
              <a:rPr lang="nl-NL" sz="7400" dirty="0">
                <a:solidFill>
                  <a:schemeClr val="tx2"/>
                </a:solidFill>
                <a:latin typeface="+mj-lt"/>
              </a:rPr>
              <a:t> </a:t>
            </a:r>
            <a:r>
              <a:rPr lang="nl-NL" sz="7400" dirty="0" err="1">
                <a:solidFill>
                  <a:schemeClr val="tx2"/>
                </a:solidFill>
                <a:latin typeface="+mj-lt"/>
              </a:rPr>
              <a:t>depends</a:t>
            </a:r>
            <a:r>
              <a:rPr lang="nl-NL" sz="7400" dirty="0">
                <a:solidFill>
                  <a:schemeClr val="tx2"/>
                </a:solidFill>
                <a:latin typeface="+mj-lt"/>
              </a:rPr>
              <a:t> on x</a:t>
            </a:r>
            <a:r>
              <a:rPr lang="nl-NL" sz="7400" baseline="-25000" dirty="0">
                <a:solidFill>
                  <a:schemeClr val="tx2"/>
                </a:solidFill>
                <a:latin typeface="+mj-lt"/>
              </a:rPr>
              <a:t>j</a:t>
            </a:r>
            <a:r>
              <a:rPr lang="nl-NL" sz="7400" baseline="30000" dirty="0">
                <a:solidFill>
                  <a:schemeClr val="tx2"/>
                </a:solidFill>
                <a:latin typeface="+mj-lt"/>
              </a:rPr>
              <a:t>k+1</a:t>
            </a:r>
            <a:r>
              <a:rPr lang="nl-NL" sz="7400" dirty="0">
                <a:solidFill>
                  <a:schemeClr val="tx2"/>
                </a:solidFill>
                <a:latin typeface="+mj-lt"/>
              </a:rPr>
              <a:t>:    </a:t>
            </a:r>
            <a:r>
              <a:rPr lang="nl-NL" sz="7400" b="1" dirty="0">
                <a:solidFill>
                  <a:schemeClr val="tx2"/>
                </a:solidFill>
                <a:latin typeface="+mj-lt"/>
              </a:rPr>
              <a:t>parallel!</a:t>
            </a:r>
            <a:endParaRPr lang="nl-NL" b="1" baseline="30000" dirty="0">
              <a:solidFill>
                <a:schemeClr val="tx2"/>
              </a:solidFill>
              <a:latin typeface="+mj-lt"/>
            </a:endParaRP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BFC0AA2A-E175-96EF-CA4C-21A19523C96A}"/>
              </a:ext>
            </a:extLst>
          </p:cNvPr>
          <p:cNvGrpSpPr/>
          <p:nvPr/>
        </p:nvGrpSpPr>
        <p:grpSpPr>
          <a:xfrm>
            <a:off x="6936940" y="3653103"/>
            <a:ext cx="4903566" cy="2784141"/>
            <a:chOff x="6936940" y="3653103"/>
            <a:chExt cx="4903566" cy="2784141"/>
          </a:xfrm>
        </p:grpSpPr>
        <p:grpSp>
          <p:nvGrpSpPr>
            <p:cNvPr id="83" name="Group 82">
              <a:extLst>
                <a:ext uri="{FF2B5EF4-FFF2-40B4-BE49-F238E27FC236}">
                  <a16:creationId xmlns:a16="http://schemas.microsoft.com/office/drawing/2014/main" id="{46856D89-457F-2228-2057-5D9F71B09F36}"/>
                </a:ext>
              </a:extLst>
            </p:cNvPr>
            <p:cNvGrpSpPr/>
            <p:nvPr/>
          </p:nvGrpSpPr>
          <p:grpSpPr>
            <a:xfrm>
              <a:off x="6936940" y="3653104"/>
              <a:ext cx="2866220" cy="2783890"/>
              <a:chOff x="7941777" y="3526471"/>
              <a:chExt cx="2866220" cy="2783890"/>
            </a:xfrm>
          </p:grpSpPr>
          <p:sp>
            <p:nvSpPr>
              <p:cNvPr id="26" name="Rectangle 25">
                <a:extLst>
                  <a:ext uri="{FF2B5EF4-FFF2-40B4-BE49-F238E27FC236}">
                    <a16:creationId xmlns:a16="http://schemas.microsoft.com/office/drawing/2014/main" id="{2DC83328-4BD0-7FAA-BB16-5D0A88B0DB44}"/>
                  </a:ext>
                </a:extLst>
              </p:cNvPr>
              <p:cNvSpPr/>
              <p:nvPr/>
            </p:nvSpPr>
            <p:spPr>
              <a:xfrm>
                <a:off x="8011838" y="3577214"/>
                <a:ext cx="684961" cy="673239"/>
              </a:xfrm>
              <a:prstGeom prst="rect">
                <a:avLst/>
              </a:prstGeom>
              <a:solidFill>
                <a:srgbClr val="FDE723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nl-NL"/>
              </a:p>
            </p:txBody>
          </p:sp>
          <p:sp>
            <p:nvSpPr>
              <p:cNvPr id="31" name="Left Bracket 30">
                <a:extLst>
                  <a:ext uri="{FF2B5EF4-FFF2-40B4-BE49-F238E27FC236}">
                    <a16:creationId xmlns:a16="http://schemas.microsoft.com/office/drawing/2014/main" id="{BE5A829B-931B-CC69-E6A5-7BF552D2EEB0}"/>
                  </a:ext>
                </a:extLst>
              </p:cNvPr>
              <p:cNvSpPr/>
              <p:nvPr/>
            </p:nvSpPr>
            <p:spPr>
              <a:xfrm>
                <a:off x="7941777" y="3526472"/>
                <a:ext cx="105301" cy="2783889"/>
              </a:xfrm>
              <a:prstGeom prst="leftBracket">
                <a:avLst/>
              </a:prstGeom>
              <a:ln w="381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nl-NL"/>
              </a:p>
            </p:txBody>
          </p:sp>
          <p:sp>
            <p:nvSpPr>
              <p:cNvPr id="32" name="Left Bracket 31">
                <a:extLst>
                  <a:ext uri="{FF2B5EF4-FFF2-40B4-BE49-F238E27FC236}">
                    <a16:creationId xmlns:a16="http://schemas.microsoft.com/office/drawing/2014/main" id="{B1B039E8-CBD1-FBDA-6BED-9705C707F0BF}"/>
                  </a:ext>
                </a:extLst>
              </p:cNvPr>
              <p:cNvSpPr/>
              <p:nvPr/>
            </p:nvSpPr>
            <p:spPr>
              <a:xfrm flipH="1">
                <a:off x="10722517" y="3526471"/>
                <a:ext cx="85480" cy="2783889"/>
              </a:xfrm>
              <a:prstGeom prst="leftBracket">
                <a:avLst/>
              </a:prstGeom>
              <a:ln w="381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nl-NL"/>
              </a:p>
            </p:txBody>
          </p:sp>
          <p:sp>
            <p:nvSpPr>
              <p:cNvPr id="49" name="Rectangle 48">
                <a:extLst>
                  <a:ext uri="{FF2B5EF4-FFF2-40B4-BE49-F238E27FC236}">
                    <a16:creationId xmlns:a16="http://schemas.microsoft.com/office/drawing/2014/main" id="{27CB76C5-960E-3211-3EC5-F8CD01DE53DE}"/>
                  </a:ext>
                </a:extLst>
              </p:cNvPr>
              <p:cNvSpPr/>
              <p:nvPr/>
            </p:nvSpPr>
            <p:spPr>
              <a:xfrm>
                <a:off x="8696799" y="4250453"/>
                <a:ext cx="684961" cy="673239"/>
              </a:xfrm>
              <a:prstGeom prst="rect">
                <a:avLst/>
              </a:prstGeom>
              <a:solidFill>
                <a:srgbClr val="39B87B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nl-NL"/>
              </a:p>
            </p:txBody>
          </p:sp>
          <p:sp>
            <p:nvSpPr>
              <p:cNvPr id="50" name="Rectangle 49">
                <a:extLst>
                  <a:ext uri="{FF2B5EF4-FFF2-40B4-BE49-F238E27FC236}">
                    <a16:creationId xmlns:a16="http://schemas.microsoft.com/office/drawing/2014/main" id="{F256F2D8-791A-ED6F-0DB2-A87033D4BD87}"/>
                  </a:ext>
                </a:extLst>
              </p:cNvPr>
              <p:cNvSpPr/>
              <p:nvPr/>
            </p:nvSpPr>
            <p:spPr>
              <a:xfrm>
                <a:off x="9381760" y="4923692"/>
                <a:ext cx="684961" cy="673239"/>
              </a:xfrm>
              <a:prstGeom prst="rect">
                <a:avLst/>
              </a:prstGeom>
              <a:solidFill>
                <a:srgbClr val="2F668D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nl-NL"/>
              </a:p>
            </p:txBody>
          </p:sp>
          <p:sp>
            <p:nvSpPr>
              <p:cNvPr id="51" name="Rectangle 50">
                <a:extLst>
                  <a:ext uri="{FF2B5EF4-FFF2-40B4-BE49-F238E27FC236}">
                    <a16:creationId xmlns:a16="http://schemas.microsoft.com/office/drawing/2014/main" id="{E913F39C-C1C4-5D4D-8010-F189C391EB15}"/>
                  </a:ext>
                </a:extLst>
              </p:cNvPr>
              <p:cNvSpPr/>
              <p:nvPr/>
            </p:nvSpPr>
            <p:spPr>
              <a:xfrm>
                <a:off x="10066721" y="5596931"/>
                <a:ext cx="684961" cy="673239"/>
              </a:xfrm>
              <a:prstGeom prst="rect">
                <a:avLst/>
              </a:prstGeom>
              <a:solidFill>
                <a:srgbClr val="420052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nl-NL"/>
              </a:p>
            </p:txBody>
          </p:sp>
          <p:cxnSp>
            <p:nvCxnSpPr>
              <p:cNvPr id="34" name="Straight Connector 33">
                <a:extLst>
                  <a:ext uri="{FF2B5EF4-FFF2-40B4-BE49-F238E27FC236}">
                    <a16:creationId xmlns:a16="http://schemas.microsoft.com/office/drawing/2014/main" id="{796BCEBA-8F8B-5F9F-D41A-22E6E5C22233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8011838" y="4250453"/>
                <a:ext cx="2730392" cy="0"/>
              </a:xfrm>
              <a:prstGeom prst="line">
                <a:avLst/>
              </a:prstGeom>
              <a:ln w="25400">
                <a:solidFill>
                  <a:schemeClr val="tx1"/>
                </a:solidFill>
                <a:prstDash val="sysDash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0" name="Straight Connector 59">
                <a:extLst>
                  <a:ext uri="{FF2B5EF4-FFF2-40B4-BE49-F238E27FC236}">
                    <a16:creationId xmlns:a16="http://schemas.microsoft.com/office/drawing/2014/main" id="{C90A0395-B0E5-BB2D-E8BA-958B4C929449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8011838" y="4918667"/>
                <a:ext cx="2730392" cy="15071"/>
              </a:xfrm>
              <a:prstGeom prst="line">
                <a:avLst/>
              </a:prstGeom>
              <a:ln w="25400">
                <a:solidFill>
                  <a:schemeClr val="tx1"/>
                </a:solidFill>
                <a:prstDash val="sysDash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1" name="Straight Connector 60">
                <a:extLst>
                  <a:ext uri="{FF2B5EF4-FFF2-40B4-BE49-F238E27FC236}">
                    <a16:creationId xmlns:a16="http://schemas.microsoft.com/office/drawing/2014/main" id="{7E56FB46-F9C4-54B9-6C47-94793FA12B9A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8011838" y="5596930"/>
                <a:ext cx="2730392" cy="0"/>
              </a:xfrm>
              <a:prstGeom prst="line">
                <a:avLst/>
              </a:prstGeom>
              <a:ln w="25400">
                <a:solidFill>
                  <a:schemeClr val="tx1"/>
                </a:solidFill>
                <a:prstDash val="sysDash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2" name="Straight Connector 61">
                <a:extLst>
                  <a:ext uri="{FF2B5EF4-FFF2-40B4-BE49-F238E27FC236}">
                    <a16:creationId xmlns:a16="http://schemas.microsoft.com/office/drawing/2014/main" id="{B6B83B93-8CED-2AFF-CAA4-50878A1A55A2}"/>
                  </a:ext>
                </a:extLst>
              </p:cNvPr>
              <p:cNvCxnSpPr>
                <a:cxnSpLocks/>
              </p:cNvCxnSpPr>
              <p:nvPr/>
            </p:nvCxnSpPr>
            <p:spPr>
              <a:xfrm flipH="1" flipV="1">
                <a:off x="8675213" y="3577214"/>
                <a:ext cx="30351" cy="2692955"/>
              </a:xfrm>
              <a:prstGeom prst="line">
                <a:avLst/>
              </a:prstGeom>
              <a:ln w="25400">
                <a:solidFill>
                  <a:schemeClr val="tx1"/>
                </a:solidFill>
                <a:prstDash val="sysDash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5" name="Straight Connector 64">
                <a:extLst>
                  <a:ext uri="{FF2B5EF4-FFF2-40B4-BE49-F238E27FC236}">
                    <a16:creationId xmlns:a16="http://schemas.microsoft.com/office/drawing/2014/main" id="{624322D7-BADC-A3B4-0359-CA26E4134056}"/>
                  </a:ext>
                </a:extLst>
              </p:cNvPr>
              <p:cNvCxnSpPr>
                <a:cxnSpLocks/>
              </p:cNvCxnSpPr>
              <p:nvPr/>
            </p:nvCxnSpPr>
            <p:spPr>
              <a:xfrm flipH="1" flipV="1">
                <a:off x="9361742" y="3577214"/>
                <a:ext cx="19820" cy="2692955"/>
              </a:xfrm>
              <a:prstGeom prst="line">
                <a:avLst/>
              </a:prstGeom>
              <a:ln w="25400">
                <a:solidFill>
                  <a:schemeClr val="tx1"/>
                </a:solidFill>
                <a:prstDash val="sysDash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6" name="Straight Connector 65">
                <a:extLst>
                  <a:ext uri="{FF2B5EF4-FFF2-40B4-BE49-F238E27FC236}">
                    <a16:creationId xmlns:a16="http://schemas.microsoft.com/office/drawing/2014/main" id="{3B0B3771-AA4B-BC90-04BF-5CB98F97752D}"/>
                  </a:ext>
                </a:extLst>
              </p:cNvPr>
              <p:cNvCxnSpPr>
                <a:cxnSpLocks/>
              </p:cNvCxnSpPr>
              <p:nvPr/>
            </p:nvCxnSpPr>
            <p:spPr>
              <a:xfrm flipH="1" flipV="1">
                <a:off x="10031283" y="3577214"/>
                <a:ext cx="45486" cy="2692955"/>
              </a:xfrm>
              <a:prstGeom prst="line">
                <a:avLst/>
              </a:prstGeom>
              <a:ln w="25400">
                <a:solidFill>
                  <a:schemeClr val="tx1"/>
                </a:solidFill>
                <a:prstDash val="sysDash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92" name="TextBox 91">
              <a:extLst>
                <a:ext uri="{FF2B5EF4-FFF2-40B4-BE49-F238E27FC236}">
                  <a16:creationId xmlns:a16="http://schemas.microsoft.com/office/drawing/2014/main" id="{1DA1B12B-7058-EC3A-DB22-B262F8701958}"/>
                </a:ext>
              </a:extLst>
            </p:cNvPr>
            <p:cNvSpPr txBox="1"/>
            <p:nvPr/>
          </p:nvSpPr>
          <p:spPr>
            <a:xfrm>
              <a:off x="10704571" y="4679057"/>
              <a:ext cx="439544" cy="70788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nl-NL" sz="4000"/>
                <a:t>=</a:t>
              </a:r>
              <a:endParaRPr lang="nl-NL"/>
            </a:p>
          </p:txBody>
        </p:sp>
        <p:sp>
          <p:nvSpPr>
            <p:cNvPr id="99" name="TextBox 98">
              <a:extLst>
                <a:ext uri="{FF2B5EF4-FFF2-40B4-BE49-F238E27FC236}">
                  <a16:creationId xmlns:a16="http://schemas.microsoft.com/office/drawing/2014/main" id="{E2761838-7ADC-4EFE-5143-5C5385CA9A09}"/>
                </a:ext>
              </a:extLst>
            </p:cNvPr>
            <p:cNvSpPr txBox="1"/>
            <p:nvPr/>
          </p:nvSpPr>
          <p:spPr>
            <a:xfrm>
              <a:off x="7141735" y="3855801"/>
              <a:ext cx="47481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nl-NL">
                  <a:solidFill>
                    <a:schemeClr val="bg1"/>
                  </a:solidFill>
                </a:rPr>
                <a:t>A</a:t>
              </a:r>
              <a:r>
                <a:rPr lang="nl-NL" baseline="-25000">
                  <a:solidFill>
                    <a:schemeClr val="bg1"/>
                  </a:solidFill>
                </a:rPr>
                <a:t>11</a:t>
              </a:r>
              <a:endParaRPr lang="nl-NL">
                <a:solidFill>
                  <a:schemeClr val="bg1"/>
                </a:solidFill>
              </a:endParaRPr>
            </a:p>
          </p:txBody>
        </p:sp>
        <p:sp>
          <p:nvSpPr>
            <p:cNvPr id="100" name="TextBox 99">
              <a:extLst>
                <a:ext uri="{FF2B5EF4-FFF2-40B4-BE49-F238E27FC236}">
                  <a16:creationId xmlns:a16="http://schemas.microsoft.com/office/drawing/2014/main" id="{2D409AD8-D607-533D-7F15-716E6047A5C4}"/>
                </a:ext>
              </a:extLst>
            </p:cNvPr>
            <p:cNvSpPr txBox="1"/>
            <p:nvPr/>
          </p:nvSpPr>
          <p:spPr>
            <a:xfrm>
              <a:off x="7807169" y="4549135"/>
              <a:ext cx="47481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nl-NL">
                  <a:solidFill>
                    <a:schemeClr val="bg1"/>
                  </a:solidFill>
                </a:rPr>
                <a:t>A</a:t>
              </a:r>
              <a:r>
                <a:rPr lang="nl-NL" baseline="-25000">
                  <a:solidFill>
                    <a:schemeClr val="bg1"/>
                  </a:solidFill>
                </a:rPr>
                <a:t>22</a:t>
              </a:r>
              <a:endParaRPr lang="nl-NL">
                <a:solidFill>
                  <a:schemeClr val="bg1"/>
                </a:solidFill>
              </a:endParaRPr>
            </a:p>
          </p:txBody>
        </p:sp>
        <p:sp>
          <p:nvSpPr>
            <p:cNvPr id="101" name="TextBox 100">
              <a:extLst>
                <a:ext uri="{FF2B5EF4-FFF2-40B4-BE49-F238E27FC236}">
                  <a16:creationId xmlns:a16="http://schemas.microsoft.com/office/drawing/2014/main" id="{20EFD601-7FC6-5201-20A1-CA5D407504B3}"/>
                </a:ext>
              </a:extLst>
            </p:cNvPr>
            <p:cNvSpPr txBox="1"/>
            <p:nvPr/>
          </p:nvSpPr>
          <p:spPr>
            <a:xfrm>
              <a:off x="8492129" y="5232420"/>
              <a:ext cx="47481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nl-NL">
                  <a:solidFill>
                    <a:schemeClr val="bg1"/>
                  </a:solidFill>
                </a:rPr>
                <a:t>A</a:t>
              </a:r>
              <a:r>
                <a:rPr lang="nl-NL" baseline="-25000">
                  <a:solidFill>
                    <a:schemeClr val="bg1"/>
                  </a:solidFill>
                </a:rPr>
                <a:t>33</a:t>
              </a:r>
              <a:endParaRPr lang="nl-NL">
                <a:solidFill>
                  <a:schemeClr val="bg1"/>
                </a:solidFill>
              </a:endParaRPr>
            </a:p>
          </p:txBody>
        </p:sp>
        <p:sp>
          <p:nvSpPr>
            <p:cNvPr id="102" name="TextBox 101">
              <a:extLst>
                <a:ext uri="{FF2B5EF4-FFF2-40B4-BE49-F238E27FC236}">
                  <a16:creationId xmlns:a16="http://schemas.microsoft.com/office/drawing/2014/main" id="{B6A410D9-6B2D-561D-CF28-07C1EB48845C}"/>
                </a:ext>
              </a:extLst>
            </p:cNvPr>
            <p:cNvSpPr txBox="1"/>
            <p:nvPr/>
          </p:nvSpPr>
          <p:spPr>
            <a:xfrm>
              <a:off x="9195717" y="5895612"/>
              <a:ext cx="47481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nl-NL">
                  <a:solidFill>
                    <a:schemeClr val="bg1"/>
                  </a:solidFill>
                </a:rPr>
                <a:t>A</a:t>
              </a:r>
              <a:r>
                <a:rPr lang="nl-NL" baseline="-25000">
                  <a:solidFill>
                    <a:schemeClr val="bg1"/>
                  </a:solidFill>
                </a:rPr>
                <a:t>44</a:t>
              </a:r>
              <a:endParaRPr lang="nl-NL">
                <a:solidFill>
                  <a:schemeClr val="bg1"/>
                </a:solidFill>
              </a:endParaRPr>
            </a:p>
          </p:txBody>
        </p:sp>
        <p:grpSp>
          <p:nvGrpSpPr>
            <p:cNvPr id="118" name="Group 117">
              <a:extLst>
                <a:ext uri="{FF2B5EF4-FFF2-40B4-BE49-F238E27FC236}">
                  <a16:creationId xmlns:a16="http://schemas.microsoft.com/office/drawing/2014/main" id="{ACA33641-EA24-B710-C8DF-4BAAF7B79052}"/>
                </a:ext>
              </a:extLst>
            </p:cNvPr>
            <p:cNvGrpSpPr/>
            <p:nvPr/>
          </p:nvGrpSpPr>
          <p:grpSpPr>
            <a:xfrm>
              <a:off x="10011258" y="3653103"/>
              <a:ext cx="523130" cy="2783889"/>
              <a:chOff x="9850486" y="3100444"/>
              <a:chExt cx="523130" cy="2783889"/>
            </a:xfrm>
          </p:grpSpPr>
          <p:sp>
            <p:nvSpPr>
              <p:cNvPr id="86" name="Left Bracket 85">
                <a:extLst>
                  <a:ext uri="{FF2B5EF4-FFF2-40B4-BE49-F238E27FC236}">
                    <a16:creationId xmlns:a16="http://schemas.microsoft.com/office/drawing/2014/main" id="{335EA650-B308-7A81-294B-B635A238CB66}"/>
                  </a:ext>
                </a:extLst>
              </p:cNvPr>
              <p:cNvSpPr/>
              <p:nvPr/>
            </p:nvSpPr>
            <p:spPr>
              <a:xfrm>
                <a:off x="9850486" y="3100444"/>
                <a:ext cx="105301" cy="2783889"/>
              </a:xfrm>
              <a:prstGeom prst="leftBracket">
                <a:avLst/>
              </a:prstGeom>
              <a:ln w="381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nl-NL"/>
              </a:p>
            </p:txBody>
          </p:sp>
          <p:sp>
            <p:nvSpPr>
              <p:cNvPr id="87" name="Left Bracket 86">
                <a:extLst>
                  <a:ext uri="{FF2B5EF4-FFF2-40B4-BE49-F238E27FC236}">
                    <a16:creationId xmlns:a16="http://schemas.microsoft.com/office/drawing/2014/main" id="{65A2C2F1-B0A1-C3A0-5A1C-212D115F6946}"/>
                  </a:ext>
                </a:extLst>
              </p:cNvPr>
              <p:cNvSpPr/>
              <p:nvPr/>
            </p:nvSpPr>
            <p:spPr>
              <a:xfrm flipH="1">
                <a:off x="10288136" y="3100444"/>
                <a:ext cx="85480" cy="2783889"/>
              </a:xfrm>
              <a:prstGeom prst="leftBracket">
                <a:avLst/>
              </a:prstGeom>
              <a:ln w="381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nl-NL"/>
              </a:p>
            </p:txBody>
          </p:sp>
          <p:sp>
            <p:nvSpPr>
              <p:cNvPr id="88" name="Rectangle 87">
                <a:extLst>
                  <a:ext uri="{FF2B5EF4-FFF2-40B4-BE49-F238E27FC236}">
                    <a16:creationId xmlns:a16="http://schemas.microsoft.com/office/drawing/2014/main" id="{5C8F555E-F143-F3BE-AB3F-7EDDA128CD8C}"/>
                  </a:ext>
                </a:extLst>
              </p:cNvPr>
              <p:cNvSpPr/>
              <p:nvPr/>
            </p:nvSpPr>
            <p:spPr>
              <a:xfrm>
                <a:off x="9990468" y="3151187"/>
                <a:ext cx="257476" cy="673239"/>
              </a:xfrm>
              <a:prstGeom prst="rect">
                <a:avLst/>
              </a:prstGeom>
              <a:solidFill>
                <a:srgbClr val="FDE723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nl-NL"/>
              </a:p>
            </p:txBody>
          </p:sp>
          <p:sp>
            <p:nvSpPr>
              <p:cNvPr id="89" name="Rectangle 88">
                <a:extLst>
                  <a:ext uri="{FF2B5EF4-FFF2-40B4-BE49-F238E27FC236}">
                    <a16:creationId xmlns:a16="http://schemas.microsoft.com/office/drawing/2014/main" id="{312A6F6C-7BF1-915F-EBFC-0AA110DFF400}"/>
                  </a:ext>
                </a:extLst>
              </p:cNvPr>
              <p:cNvSpPr/>
              <p:nvPr/>
            </p:nvSpPr>
            <p:spPr>
              <a:xfrm>
                <a:off x="9990468" y="3834473"/>
                <a:ext cx="257476" cy="673239"/>
              </a:xfrm>
              <a:prstGeom prst="rect">
                <a:avLst/>
              </a:prstGeom>
              <a:solidFill>
                <a:srgbClr val="39B87B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nl-NL"/>
              </a:p>
            </p:txBody>
          </p:sp>
          <p:sp>
            <p:nvSpPr>
              <p:cNvPr id="90" name="Rectangle 89">
                <a:extLst>
                  <a:ext uri="{FF2B5EF4-FFF2-40B4-BE49-F238E27FC236}">
                    <a16:creationId xmlns:a16="http://schemas.microsoft.com/office/drawing/2014/main" id="{AA3E9610-F1A0-BD01-F702-4AA6C60D2534}"/>
                  </a:ext>
                </a:extLst>
              </p:cNvPr>
              <p:cNvSpPr/>
              <p:nvPr/>
            </p:nvSpPr>
            <p:spPr>
              <a:xfrm>
                <a:off x="9990468" y="4507712"/>
                <a:ext cx="257476" cy="673239"/>
              </a:xfrm>
              <a:prstGeom prst="rect">
                <a:avLst/>
              </a:prstGeom>
              <a:solidFill>
                <a:srgbClr val="2F668D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nl-NL"/>
              </a:p>
            </p:txBody>
          </p:sp>
          <p:sp>
            <p:nvSpPr>
              <p:cNvPr id="91" name="Rectangle 90">
                <a:extLst>
                  <a:ext uri="{FF2B5EF4-FFF2-40B4-BE49-F238E27FC236}">
                    <a16:creationId xmlns:a16="http://schemas.microsoft.com/office/drawing/2014/main" id="{D5E4A622-A5ED-D519-F777-C465EFD00036}"/>
                  </a:ext>
                </a:extLst>
              </p:cNvPr>
              <p:cNvSpPr/>
              <p:nvPr/>
            </p:nvSpPr>
            <p:spPr>
              <a:xfrm>
                <a:off x="9990468" y="5180951"/>
                <a:ext cx="257476" cy="673239"/>
              </a:xfrm>
              <a:prstGeom prst="rect">
                <a:avLst/>
              </a:prstGeom>
              <a:solidFill>
                <a:srgbClr val="420052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nl-NL"/>
              </a:p>
            </p:txBody>
          </p:sp>
          <p:sp>
            <p:nvSpPr>
              <p:cNvPr id="103" name="TextBox 102">
                <a:extLst>
                  <a:ext uri="{FF2B5EF4-FFF2-40B4-BE49-F238E27FC236}">
                    <a16:creationId xmlns:a16="http://schemas.microsoft.com/office/drawing/2014/main" id="{F66418C5-CE5C-CBF7-CA5D-C87605F67FD4}"/>
                  </a:ext>
                </a:extLst>
              </p:cNvPr>
              <p:cNvSpPr txBox="1"/>
              <p:nvPr/>
            </p:nvSpPr>
            <p:spPr>
              <a:xfrm>
                <a:off x="9945739" y="3287632"/>
                <a:ext cx="362600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nl-NL">
                    <a:solidFill>
                      <a:schemeClr val="bg1"/>
                    </a:solidFill>
                  </a:rPr>
                  <a:t>x</a:t>
                </a:r>
                <a:r>
                  <a:rPr lang="nl-NL" baseline="-25000">
                    <a:solidFill>
                      <a:schemeClr val="bg1"/>
                    </a:solidFill>
                  </a:rPr>
                  <a:t>1</a:t>
                </a:r>
                <a:endParaRPr lang="nl-NL">
                  <a:solidFill>
                    <a:schemeClr val="bg1"/>
                  </a:solidFill>
                </a:endParaRPr>
              </a:p>
            </p:txBody>
          </p:sp>
          <p:sp>
            <p:nvSpPr>
              <p:cNvPr id="104" name="TextBox 103">
                <a:extLst>
                  <a:ext uri="{FF2B5EF4-FFF2-40B4-BE49-F238E27FC236}">
                    <a16:creationId xmlns:a16="http://schemas.microsoft.com/office/drawing/2014/main" id="{27D98D82-8F46-5E35-5FEF-2C345CA255DC}"/>
                  </a:ext>
                </a:extLst>
              </p:cNvPr>
              <p:cNvSpPr txBox="1"/>
              <p:nvPr/>
            </p:nvSpPr>
            <p:spPr>
              <a:xfrm>
                <a:off x="9949071" y="3960871"/>
                <a:ext cx="362600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nl-NL">
                    <a:solidFill>
                      <a:schemeClr val="bg1"/>
                    </a:solidFill>
                  </a:rPr>
                  <a:t>x</a:t>
                </a:r>
                <a:r>
                  <a:rPr lang="nl-NL" baseline="-25000">
                    <a:solidFill>
                      <a:schemeClr val="bg1"/>
                    </a:solidFill>
                  </a:rPr>
                  <a:t>2</a:t>
                </a:r>
                <a:endParaRPr lang="nl-NL">
                  <a:solidFill>
                    <a:schemeClr val="bg1"/>
                  </a:solidFill>
                </a:endParaRPr>
              </a:p>
            </p:txBody>
          </p:sp>
          <p:sp>
            <p:nvSpPr>
              <p:cNvPr id="105" name="TextBox 104">
                <a:extLst>
                  <a:ext uri="{FF2B5EF4-FFF2-40B4-BE49-F238E27FC236}">
                    <a16:creationId xmlns:a16="http://schemas.microsoft.com/office/drawing/2014/main" id="{8AA5877C-CC88-E429-CCFD-AF70AD05F9CD}"/>
                  </a:ext>
                </a:extLst>
              </p:cNvPr>
              <p:cNvSpPr txBox="1"/>
              <p:nvPr/>
            </p:nvSpPr>
            <p:spPr>
              <a:xfrm>
                <a:off x="9940667" y="4644157"/>
                <a:ext cx="362600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nl-NL">
                    <a:solidFill>
                      <a:schemeClr val="bg1"/>
                    </a:solidFill>
                  </a:rPr>
                  <a:t>x</a:t>
                </a:r>
                <a:r>
                  <a:rPr lang="nl-NL" baseline="-25000">
                    <a:solidFill>
                      <a:schemeClr val="bg1"/>
                    </a:solidFill>
                  </a:rPr>
                  <a:t>3</a:t>
                </a:r>
                <a:endParaRPr lang="nl-NL">
                  <a:solidFill>
                    <a:schemeClr val="bg1"/>
                  </a:solidFill>
                </a:endParaRPr>
              </a:p>
            </p:txBody>
          </p:sp>
          <p:sp>
            <p:nvSpPr>
              <p:cNvPr id="106" name="TextBox 105">
                <a:extLst>
                  <a:ext uri="{FF2B5EF4-FFF2-40B4-BE49-F238E27FC236}">
                    <a16:creationId xmlns:a16="http://schemas.microsoft.com/office/drawing/2014/main" id="{02504EF6-5488-699D-9D3D-EB54DA423F63}"/>
                  </a:ext>
                </a:extLst>
              </p:cNvPr>
              <p:cNvSpPr txBox="1"/>
              <p:nvPr/>
            </p:nvSpPr>
            <p:spPr>
              <a:xfrm>
                <a:off x="9939023" y="5327443"/>
                <a:ext cx="362600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nl-NL">
                    <a:solidFill>
                      <a:schemeClr val="bg1"/>
                    </a:solidFill>
                  </a:rPr>
                  <a:t>x</a:t>
                </a:r>
                <a:r>
                  <a:rPr lang="nl-NL" baseline="-25000">
                    <a:solidFill>
                      <a:schemeClr val="bg1"/>
                    </a:solidFill>
                  </a:rPr>
                  <a:t>4</a:t>
                </a:r>
                <a:endParaRPr lang="nl-NL">
                  <a:solidFill>
                    <a:schemeClr val="bg1"/>
                  </a:solidFill>
                </a:endParaRPr>
              </a:p>
            </p:txBody>
          </p:sp>
        </p:grpSp>
        <p:grpSp>
          <p:nvGrpSpPr>
            <p:cNvPr id="117" name="Group 116">
              <a:extLst>
                <a:ext uri="{FF2B5EF4-FFF2-40B4-BE49-F238E27FC236}">
                  <a16:creationId xmlns:a16="http://schemas.microsoft.com/office/drawing/2014/main" id="{06B136C1-F686-98F6-71F0-EED15F8E4BC1}"/>
                </a:ext>
              </a:extLst>
            </p:cNvPr>
            <p:cNvGrpSpPr/>
            <p:nvPr/>
          </p:nvGrpSpPr>
          <p:grpSpPr>
            <a:xfrm>
              <a:off x="11317376" y="3653355"/>
              <a:ext cx="523130" cy="2783889"/>
              <a:chOff x="11156604" y="3100696"/>
              <a:chExt cx="523130" cy="2783889"/>
            </a:xfrm>
          </p:grpSpPr>
          <p:sp>
            <p:nvSpPr>
              <p:cNvPr id="107" name="Left Bracket 106">
                <a:extLst>
                  <a:ext uri="{FF2B5EF4-FFF2-40B4-BE49-F238E27FC236}">
                    <a16:creationId xmlns:a16="http://schemas.microsoft.com/office/drawing/2014/main" id="{E452E968-38B0-14F8-E2B2-2DBFA9269603}"/>
                  </a:ext>
                </a:extLst>
              </p:cNvPr>
              <p:cNvSpPr/>
              <p:nvPr/>
            </p:nvSpPr>
            <p:spPr>
              <a:xfrm>
                <a:off x="11156604" y="3100696"/>
                <a:ext cx="105301" cy="2783889"/>
              </a:xfrm>
              <a:prstGeom prst="leftBracket">
                <a:avLst/>
              </a:prstGeom>
              <a:ln w="381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nl-NL"/>
              </a:p>
            </p:txBody>
          </p:sp>
          <p:sp>
            <p:nvSpPr>
              <p:cNvPr id="108" name="Left Bracket 107">
                <a:extLst>
                  <a:ext uri="{FF2B5EF4-FFF2-40B4-BE49-F238E27FC236}">
                    <a16:creationId xmlns:a16="http://schemas.microsoft.com/office/drawing/2014/main" id="{83D38BBA-3DF2-9FF1-9D78-43E121B953A8}"/>
                  </a:ext>
                </a:extLst>
              </p:cNvPr>
              <p:cNvSpPr/>
              <p:nvPr/>
            </p:nvSpPr>
            <p:spPr>
              <a:xfrm flipH="1">
                <a:off x="11594254" y="3100696"/>
                <a:ext cx="85480" cy="2783889"/>
              </a:xfrm>
              <a:prstGeom prst="leftBracket">
                <a:avLst/>
              </a:prstGeom>
              <a:ln w="381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nl-NL"/>
              </a:p>
            </p:txBody>
          </p:sp>
          <p:sp>
            <p:nvSpPr>
              <p:cNvPr id="109" name="Rectangle 108">
                <a:extLst>
                  <a:ext uri="{FF2B5EF4-FFF2-40B4-BE49-F238E27FC236}">
                    <a16:creationId xmlns:a16="http://schemas.microsoft.com/office/drawing/2014/main" id="{DFF27EB2-58EF-7E14-5FE6-16303236A38C}"/>
                  </a:ext>
                </a:extLst>
              </p:cNvPr>
              <p:cNvSpPr/>
              <p:nvPr/>
            </p:nvSpPr>
            <p:spPr>
              <a:xfrm>
                <a:off x="11296586" y="3151439"/>
                <a:ext cx="257476" cy="673239"/>
              </a:xfrm>
              <a:prstGeom prst="rect">
                <a:avLst/>
              </a:prstGeom>
              <a:solidFill>
                <a:srgbClr val="FDE723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nl-NL"/>
              </a:p>
            </p:txBody>
          </p:sp>
          <p:sp>
            <p:nvSpPr>
              <p:cNvPr id="110" name="Rectangle 109">
                <a:extLst>
                  <a:ext uri="{FF2B5EF4-FFF2-40B4-BE49-F238E27FC236}">
                    <a16:creationId xmlns:a16="http://schemas.microsoft.com/office/drawing/2014/main" id="{D799A6EE-1F31-B5A9-6FD2-788BDDA0E49E}"/>
                  </a:ext>
                </a:extLst>
              </p:cNvPr>
              <p:cNvSpPr/>
              <p:nvPr/>
            </p:nvSpPr>
            <p:spPr>
              <a:xfrm>
                <a:off x="11296586" y="3834725"/>
                <a:ext cx="257476" cy="673239"/>
              </a:xfrm>
              <a:prstGeom prst="rect">
                <a:avLst/>
              </a:prstGeom>
              <a:solidFill>
                <a:srgbClr val="39B87B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nl-NL"/>
              </a:p>
            </p:txBody>
          </p:sp>
          <p:sp>
            <p:nvSpPr>
              <p:cNvPr id="111" name="Rectangle 110">
                <a:extLst>
                  <a:ext uri="{FF2B5EF4-FFF2-40B4-BE49-F238E27FC236}">
                    <a16:creationId xmlns:a16="http://schemas.microsoft.com/office/drawing/2014/main" id="{71B2E476-B287-61CB-CBAA-80AD4A6E537E}"/>
                  </a:ext>
                </a:extLst>
              </p:cNvPr>
              <p:cNvSpPr/>
              <p:nvPr/>
            </p:nvSpPr>
            <p:spPr>
              <a:xfrm>
                <a:off x="11296586" y="4507964"/>
                <a:ext cx="257476" cy="673239"/>
              </a:xfrm>
              <a:prstGeom prst="rect">
                <a:avLst/>
              </a:prstGeom>
              <a:solidFill>
                <a:srgbClr val="2F668D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nl-NL"/>
              </a:p>
            </p:txBody>
          </p:sp>
          <p:sp>
            <p:nvSpPr>
              <p:cNvPr id="112" name="Rectangle 111">
                <a:extLst>
                  <a:ext uri="{FF2B5EF4-FFF2-40B4-BE49-F238E27FC236}">
                    <a16:creationId xmlns:a16="http://schemas.microsoft.com/office/drawing/2014/main" id="{5B017947-E040-1754-99A3-F2D79EB3B639}"/>
                  </a:ext>
                </a:extLst>
              </p:cNvPr>
              <p:cNvSpPr/>
              <p:nvPr/>
            </p:nvSpPr>
            <p:spPr>
              <a:xfrm>
                <a:off x="11296586" y="5181203"/>
                <a:ext cx="257476" cy="673239"/>
              </a:xfrm>
              <a:prstGeom prst="rect">
                <a:avLst/>
              </a:prstGeom>
              <a:solidFill>
                <a:srgbClr val="420052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nl-NL"/>
              </a:p>
            </p:txBody>
          </p:sp>
          <p:sp>
            <p:nvSpPr>
              <p:cNvPr id="113" name="TextBox 112">
                <a:extLst>
                  <a:ext uri="{FF2B5EF4-FFF2-40B4-BE49-F238E27FC236}">
                    <a16:creationId xmlns:a16="http://schemas.microsoft.com/office/drawing/2014/main" id="{764C5DEF-FD62-695E-635C-4E68401CAD4E}"/>
                  </a:ext>
                </a:extLst>
              </p:cNvPr>
              <p:cNvSpPr txBox="1"/>
              <p:nvPr/>
            </p:nvSpPr>
            <p:spPr>
              <a:xfrm>
                <a:off x="11241809" y="3287884"/>
                <a:ext cx="385042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nl-NL">
                    <a:solidFill>
                      <a:schemeClr val="bg1"/>
                    </a:solidFill>
                  </a:rPr>
                  <a:t>b</a:t>
                </a:r>
                <a:r>
                  <a:rPr lang="nl-NL" baseline="-25000">
                    <a:solidFill>
                      <a:schemeClr val="bg1"/>
                    </a:solidFill>
                  </a:rPr>
                  <a:t>1</a:t>
                </a:r>
                <a:endParaRPr lang="nl-NL">
                  <a:solidFill>
                    <a:schemeClr val="bg1"/>
                  </a:solidFill>
                </a:endParaRPr>
              </a:p>
            </p:txBody>
          </p:sp>
          <p:sp>
            <p:nvSpPr>
              <p:cNvPr id="114" name="TextBox 113">
                <a:extLst>
                  <a:ext uri="{FF2B5EF4-FFF2-40B4-BE49-F238E27FC236}">
                    <a16:creationId xmlns:a16="http://schemas.microsoft.com/office/drawing/2014/main" id="{6B9C4B95-8E50-194A-EF2C-CE1B2A1B8F48}"/>
                  </a:ext>
                </a:extLst>
              </p:cNvPr>
              <p:cNvSpPr txBox="1"/>
              <p:nvPr/>
            </p:nvSpPr>
            <p:spPr>
              <a:xfrm>
                <a:off x="11235093" y="3961123"/>
                <a:ext cx="385042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nl-NL">
                    <a:solidFill>
                      <a:schemeClr val="bg1"/>
                    </a:solidFill>
                  </a:rPr>
                  <a:t>b</a:t>
                </a:r>
                <a:r>
                  <a:rPr lang="nl-NL" baseline="-25000">
                    <a:solidFill>
                      <a:schemeClr val="bg1"/>
                    </a:solidFill>
                  </a:rPr>
                  <a:t>2</a:t>
                </a:r>
                <a:endParaRPr lang="nl-NL">
                  <a:solidFill>
                    <a:schemeClr val="bg1"/>
                  </a:solidFill>
                </a:endParaRPr>
              </a:p>
            </p:txBody>
          </p:sp>
          <p:sp>
            <p:nvSpPr>
              <p:cNvPr id="115" name="TextBox 114">
                <a:extLst>
                  <a:ext uri="{FF2B5EF4-FFF2-40B4-BE49-F238E27FC236}">
                    <a16:creationId xmlns:a16="http://schemas.microsoft.com/office/drawing/2014/main" id="{2107D930-B13A-6B28-493E-14602AAD5FDC}"/>
                  </a:ext>
                </a:extLst>
              </p:cNvPr>
              <p:cNvSpPr txBox="1"/>
              <p:nvPr/>
            </p:nvSpPr>
            <p:spPr>
              <a:xfrm>
                <a:off x="11236737" y="4644409"/>
                <a:ext cx="385042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nl-NL">
                    <a:solidFill>
                      <a:schemeClr val="bg1"/>
                    </a:solidFill>
                  </a:rPr>
                  <a:t>b</a:t>
                </a:r>
                <a:r>
                  <a:rPr lang="nl-NL" baseline="-25000">
                    <a:solidFill>
                      <a:schemeClr val="bg1"/>
                    </a:solidFill>
                  </a:rPr>
                  <a:t>3</a:t>
                </a:r>
                <a:endParaRPr lang="nl-NL">
                  <a:solidFill>
                    <a:schemeClr val="bg1"/>
                  </a:solidFill>
                </a:endParaRPr>
              </a:p>
            </p:txBody>
          </p:sp>
          <p:sp>
            <p:nvSpPr>
              <p:cNvPr id="116" name="TextBox 115">
                <a:extLst>
                  <a:ext uri="{FF2B5EF4-FFF2-40B4-BE49-F238E27FC236}">
                    <a16:creationId xmlns:a16="http://schemas.microsoft.com/office/drawing/2014/main" id="{BE3AD88F-FDD7-35CD-58AE-331AB944E849}"/>
                  </a:ext>
                </a:extLst>
              </p:cNvPr>
              <p:cNvSpPr txBox="1"/>
              <p:nvPr/>
            </p:nvSpPr>
            <p:spPr>
              <a:xfrm>
                <a:off x="11245141" y="5327695"/>
                <a:ext cx="385042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nl-NL">
                    <a:solidFill>
                      <a:schemeClr val="bg1"/>
                    </a:solidFill>
                  </a:rPr>
                  <a:t>b</a:t>
                </a:r>
                <a:r>
                  <a:rPr lang="nl-NL" baseline="-25000">
                    <a:solidFill>
                      <a:schemeClr val="bg1"/>
                    </a:solidFill>
                  </a:rPr>
                  <a:t>4</a:t>
                </a:r>
                <a:endParaRPr lang="nl-NL">
                  <a:solidFill>
                    <a:schemeClr val="bg1"/>
                  </a:solidFill>
                </a:endParaRPr>
              </a:p>
            </p:txBody>
          </p:sp>
        </p:grpSp>
      </p:grpSp>
      <p:sp>
        <p:nvSpPr>
          <p:cNvPr id="139" name="Rectangle 138">
            <a:extLst>
              <a:ext uri="{FF2B5EF4-FFF2-40B4-BE49-F238E27FC236}">
                <a16:creationId xmlns:a16="http://schemas.microsoft.com/office/drawing/2014/main" id="{166167F6-8A1E-D162-68B9-888C3D62F841}"/>
              </a:ext>
            </a:extLst>
          </p:cNvPr>
          <p:cNvSpPr/>
          <p:nvPr/>
        </p:nvSpPr>
        <p:spPr>
          <a:xfrm>
            <a:off x="9365202" y="1027906"/>
            <a:ext cx="2612705" cy="1150049"/>
          </a:xfrm>
          <a:prstGeom prst="rect">
            <a:avLst/>
          </a:prstGeom>
          <a:noFill/>
          <a:ln w="57150" cap="flat" cmpd="sng" algn="ctr">
            <a:solidFill>
              <a:srgbClr val="C00000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nl-NL"/>
          </a:p>
        </p:txBody>
      </p:sp>
      <p:sp>
        <p:nvSpPr>
          <p:cNvPr id="141" name="Rectangle 140">
            <a:extLst>
              <a:ext uri="{FF2B5EF4-FFF2-40B4-BE49-F238E27FC236}">
                <a16:creationId xmlns:a16="http://schemas.microsoft.com/office/drawing/2014/main" id="{292C1A87-18E1-763C-0D1C-9126AE3BA603}"/>
              </a:ext>
            </a:extLst>
          </p:cNvPr>
          <p:cNvSpPr/>
          <p:nvPr/>
        </p:nvSpPr>
        <p:spPr>
          <a:xfrm>
            <a:off x="6873084" y="4336388"/>
            <a:ext cx="5037758" cy="749537"/>
          </a:xfrm>
          <a:prstGeom prst="rect">
            <a:avLst/>
          </a:prstGeom>
          <a:noFill/>
          <a:ln w="57150" cap="flat" cmpd="sng" algn="ctr">
            <a:solidFill>
              <a:srgbClr val="C00000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50011043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2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2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2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9" grpId="0" animBg="1"/>
      <p:bldP spid="141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2">
            <a:extLst>
              <a:ext uri="{FF2B5EF4-FFF2-40B4-BE49-F238E27FC236}">
                <a16:creationId xmlns:a16="http://schemas.microsoft.com/office/drawing/2014/main" id="{B6D071C5-6FE6-2187-EA03-62149FDF537F}"/>
              </a:ext>
            </a:extLst>
          </p:cNvPr>
          <p:cNvGrpSpPr/>
          <p:nvPr/>
        </p:nvGrpSpPr>
        <p:grpSpPr>
          <a:xfrm>
            <a:off x="8134656" y="981711"/>
            <a:ext cx="3584724" cy="2887974"/>
            <a:chOff x="8134656" y="981711"/>
            <a:chExt cx="3584724" cy="2887974"/>
          </a:xfrm>
        </p:grpSpPr>
        <p:pic>
          <p:nvPicPr>
            <p:cNvPr id="4" name="Content Placeholder 5">
              <a:extLst>
                <a:ext uri="{FF2B5EF4-FFF2-40B4-BE49-F238E27FC236}">
                  <a16:creationId xmlns:a16="http://schemas.microsoft.com/office/drawing/2014/main" id="{5B48A31C-525F-05BB-AFF9-73528F3849FA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8411151" y="981711"/>
              <a:ext cx="1382323" cy="1687826"/>
            </a:xfrm>
            <a:prstGeom prst="rect">
              <a:avLst/>
            </a:prstGeom>
          </p:spPr>
        </p:pic>
        <p:pic>
          <p:nvPicPr>
            <p:cNvPr id="11" name="Picture 10">
              <a:extLst>
                <a:ext uri="{FF2B5EF4-FFF2-40B4-BE49-F238E27FC236}">
                  <a16:creationId xmlns:a16="http://schemas.microsoft.com/office/drawing/2014/main" id="{5833792B-C761-73C6-4C8B-9E7F0F0D4739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8134656" y="2800257"/>
              <a:ext cx="3584724" cy="1069428"/>
            </a:xfrm>
            <a:prstGeom prst="rect">
              <a:avLst/>
            </a:prstGeom>
          </p:spPr>
        </p:pic>
        <p:pic>
          <p:nvPicPr>
            <p:cNvPr id="13" name="Picture 12">
              <a:extLst>
                <a:ext uri="{FF2B5EF4-FFF2-40B4-BE49-F238E27FC236}">
                  <a16:creationId xmlns:a16="http://schemas.microsoft.com/office/drawing/2014/main" id="{FEE3B425-FA13-0155-83AF-64B24A2ACDE4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9793474" y="1027593"/>
              <a:ext cx="1925906" cy="1688657"/>
            </a:xfrm>
            <a:prstGeom prst="rect">
              <a:avLst/>
            </a:prstGeom>
          </p:spPr>
        </p:pic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9BC47355-FF35-4CC6-AC4C-14880046D8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b="1">
                <a:solidFill>
                  <a:schemeClr val="tx2"/>
                </a:solidFill>
              </a:rPr>
              <a:t>Earlier Work</a:t>
            </a:r>
            <a:endParaRPr lang="en-US" b="1" dirty="0">
              <a:solidFill>
                <a:schemeClr val="tx2"/>
              </a:solidFill>
            </a:endParaRP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4B4A57E1-FC5E-4B79-811D-87641220FCC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4"/>
            <a:ext cx="7079902" cy="4858539"/>
          </a:xfrm>
        </p:spPr>
        <p:txBody>
          <a:bodyPr>
            <a:normAutofit/>
          </a:bodyPr>
          <a:lstStyle/>
          <a:p>
            <a:r>
              <a:rPr lang="nl-NL">
                <a:solidFill>
                  <a:schemeClr val="tx2"/>
                </a:solidFill>
                <a:latin typeface="+mj-lt"/>
              </a:rPr>
              <a:t>Good results for national-scale model</a:t>
            </a:r>
          </a:p>
          <a:p>
            <a:r>
              <a:rPr lang="nl-NL">
                <a:solidFill>
                  <a:schemeClr val="tx2"/>
                </a:solidFill>
                <a:latin typeface="+mj-lt"/>
              </a:rPr>
              <a:t>Global groundwater with MODFLOW 6 prototype</a:t>
            </a:r>
          </a:p>
          <a:p>
            <a:pPr marL="0" indent="0">
              <a:buNone/>
            </a:pPr>
            <a:r>
              <a:rPr lang="nl-NL">
                <a:solidFill>
                  <a:schemeClr val="tx2"/>
                </a:solidFill>
                <a:latin typeface="+mj-lt"/>
              </a:rPr>
              <a:t>More work needed: </a:t>
            </a:r>
            <a:r>
              <a:rPr lang="en-US">
                <a:solidFill>
                  <a:schemeClr val="tx2"/>
                </a:solidFill>
                <a:latin typeface="+mj-lt"/>
              </a:rPr>
              <a:t>a </a:t>
            </a:r>
            <a:r>
              <a:rPr lang="en-US" b="1">
                <a:solidFill>
                  <a:schemeClr val="tx2"/>
                </a:solidFill>
                <a:latin typeface="+mj-lt"/>
              </a:rPr>
              <a:t>framework solution</a:t>
            </a:r>
          </a:p>
          <a:p>
            <a:pPr lvl="1"/>
            <a:r>
              <a:rPr lang="en-US">
                <a:solidFill>
                  <a:schemeClr val="tx2"/>
                </a:solidFill>
                <a:latin typeface="+mj-lt"/>
              </a:rPr>
              <a:t>Current and future model types</a:t>
            </a:r>
          </a:p>
          <a:p>
            <a:pPr lvl="1"/>
            <a:r>
              <a:rPr lang="en-US">
                <a:solidFill>
                  <a:schemeClr val="tx2"/>
                </a:solidFill>
                <a:latin typeface="+mj-lt"/>
              </a:rPr>
              <a:t>Feature complete: XT3D, BUY, TVD, MVR, …</a:t>
            </a:r>
          </a:p>
          <a:p>
            <a:pPr lvl="1"/>
            <a:r>
              <a:rPr lang="en-US">
                <a:solidFill>
                  <a:schemeClr val="tx2"/>
                </a:solidFill>
                <a:latin typeface="+mj-lt"/>
              </a:rPr>
              <a:t>Possible to add or modify hydrologic concepts without expert knowledge on parallelization</a:t>
            </a:r>
          </a:p>
          <a:p>
            <a:pPr lvl="1"/>
            <a:r>
              <a:rPr lang="en-US">
                <a:solidFill>
                  <a:schemeClr val="tx2"/>
                </a:solidFill>
                <a:latin typeface="+mj-lt"/>
              </a:rPr>
              <a:t>MODFLOW remains available in its core set of functionality</a:t>
            </a:r>
          </a:p>
          <a:p>
            <a:pPr lvl="1"/>
            <a:r>
              <a:rPr lang="en-US">
                <a:solidFill>
                  <a:schemeClr val="tx2"/>
                </a:solidFill>
                <a:latin typeface="+mj-lt"/>
              </a:rPr>
              <a:t>FloPy support for pre- and post-processing</a:t>
            </a:r>
            <a:endParaRPr lang="en-US" dirty="0">
              <a:solidFill>
                <a:schemeClr val="tx2"/>
              </a:solidFill>
              <a:latin typeface="+mj-lt"/>
            </a:endParaRP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2C65CC33-7A4E-1291-C3E7-8923147F413A}"/>
              </a:ext>
            </a:extLst>
          </p:cNvPr>
          <p:cNvGrpSpPr/>
          <p:nvPr/>
        </p:nvGrpSpPr>
        <p:grpSpPr>
          <a:xfrm>
            <a:off x="8134656" y="3933588"/>
            <a:ext cx="3500699" cy="2750575"/>
            <a:chOff x="8134656" y="3933588"/>
            <a:chExt cx="3500699" cy="2750575"/>
          </a:xfrm>
        </p:grpSpPr>
        <p:pic>
          <p:nvPicPr>
            <p:cNvPr id="7" name="Picture 6">
              <a:extLst>
                <a:ext uri="{FF2B5EF4-FFF2-40B4-BE49-F238E27FC236}">
                  <a16:creationId xmlns:a16="http://schemas.microsoft.com/office/drawing/2014/main" id="{57942E2E-4D71-440D-238C-A8D9221F600E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8411151" y="3933588"/>
              <a:ext cx="2504160" cy="1781504"/>
            </a:xfrm>
            <a:prstGeom prst="rect">
              <a:avLst/>
            </a:prstGeom>
          </p:spPr>
        </p:pic>
        <p:pic>
          <p:nvPicPr>
            <p:cNvPr id="9" name="Picture 8">
              <a:extLst>
                <a:ext uri="{FF2B5EF4-FFF2-40B4-BE49-F238E27FC236}">
                  <a16:creationId xmlns:a16="http://schemas.microsoft.com/office/drawing/2014/main" id="{7FEF24C2-09E3-5D64-45F0-FBFDD6C488C5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8134656" y="5761805"/>
              <a:ext cx="3500699" cy="922358"/>
            </a:xfrm>
            <a:prstGeom prst="rect">
              <a:avLst/>
            </a:prstGeom>
          </p:spPr>
        </p:pic>
      </p:grpSp>
      <p:grpSp>
        <p:nvGrpSpPr>
          <p:cNvPr id="15" name="Group 14">
            <a:extLst>
              <a:ext uri="{FF2B5EF4-FFF2-40B4-BE49-F238E27FC236}">
                <a16:creationId xmlns:a16="http://schemas.microsoft.com/office/drawing/2014/main" id="{3973249F-EA44-FA13-AAD4-6F042EB5349A}"/>
              </a:ext>
            </a:extLst>
          </p:cNvPr>
          <p:cNvGrpSpPr/>
          <p:nvPr/>
        </p:nvGrpSpPr>
        <p:grpSpPr>
          <a:xfrm>
            <a:off x="7295950" y="1434164"/>
            <a:ext cx="4751053" cy="2012398"/>
            <a:chOff x="7324825" y="741146"/>
            <a:chExt cx="4751053" cy="2012398"/>
          </a:xfrm>
        </p:grpSpPr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8494D41E-1984-EAEB-695D-BD66A3DB1BFA}"/>
                </a:ext>
              </a:extLst>
            </p:cNvPr>
            <p:cNvSpPr/>
            <p:nvPr/>
          </p:nvSpPr>
          <p:spPr>
            <a:xfrm>
              <a:off x="7324825" y="741146"/>
              <a:ext cx="4751053" cy="2012398"/>
            </a:xfrm>
            <a:prstGeom prst="rect">
              <a:avLst/>
            </a:prstGeom>
            <a:solidFill>
              <a:schemeClr val="bg1"/>
            </a:solidFill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pic>
          <p:nvPicPr>
            <p:cNvPr id="10" name="Picture 9">
              <a:extLst>
                <a:ext uri="{FF2B5EF4-FFF2-40B4-BE49-F238E27FC236}">
                  <a16:creationId xmlns:a16="http://schemas.microsoft.com/office/drawing/2014/main" id="{2FAE590E-180B-1498-5ACC-892BB855A3FD}"/>
                </a:ext>
              </a:extLst>
            </p:cNvPr>
            <p:cNvPicPr>
              <a:picLocks noChangeAspect="1"/>
            </p:cNvPicPr>
            <p:nvPr/>
          </p:nvPicPr>
          <p:blipFill>
            <a:blip r:embed="rId8"/>
            <a:stretch>
              <a:fillRect/>
            </a:stretch>
          </p:blipFill>
          <p:spPr>
            <a:xfrm>
              <a:off x="7395569" y="1558613"/>
              <a:ext cx="4641809" cy="952610"/>
            </a:xfrm>
            <a:prstGeom prst="rect">
              <a:avLst/>
            </a:prstGeom>
          </p:spPr>
        </p:pic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F6538B81-2C00-8019-F729-156AD0FC1272}"/>
                </a:ext>
              </a:extLst>
            </p:cNvPr>
            <p:cNvSpPr txBox="1"/>
            <p:nvPr/>
          </p:nvSpPr>
          <p:spPr>
            <a:xfrm>
              <a:off x="7395569" y="917808"/>
              <a:ext cx="4641809" cy="646331"/>
            </a:xfrm>
            <a:prstGeom prst="rect">
              <a:avLst/>
            </a:prstGeom>
            <a:solidFill>
              <a:schemeClr val="bg1"/>
            </a:solidFill>
          </p:spPr>
          <p:txBody>
            <a:bodyPr wrap="square" rtlCol="0">
              <a:spAutoFit/>
            </a:bodyPr>
            <a:lstStyle/>
            <a:p>
              <a:r>
                <a:rPr lang="en-GB" dirty="0"/>
                <a:t>Special session on MODFLOW 6,</a:t>
              </a:r>
            </a:p>
            <a:p>
              <a:r>
                <a:rPr lang="en-GB" dirty="0"/>
                <a:t>Tuesday morning 8.30-10.00, </a:t>
              </a:r>
              <a:r>
                <a:rPr lang="en-GB" i="1" dirty="0"/>
                <a:t>Friend 101</a:t>
              </a:r>
              <a:r>
                <a:rPr lang="en-GB" dirty="0"/>
                <a:t>:</a:t>
              </a:r>
              <a:endParaRPr lang="nl-NL" dirty="0"/>
            </a:p>
          </p:txBody>
        </p:sp>
      </p:grpSp>
    </p:spTree>
    <p:extLst>
      <p:ext uri="{BB962C8B-B14F-4D97-AF65-F5344CB8AC3E}">
        <p14:creationId xmlns:p14="http://schemas.microsoft.com/office/powerpoint/2010/main" val="367538560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4B4A57E1-FC5E-4B79-811D-87641220FCC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1" y="1825624"/>
            <a:ext cx="6252404" cy="4758055"/>
          </a:xfrm>
        </p:spPr>
        <p:txBody>
          <a:bodyPr>
            <a:normAutofit/>
          </a:bodyPr>
          <a:lstStyle/>
          <a:p>
            <a:r>
              <a:rPr lang="en-US" dirty="0">
                <a:solidFill>
                  <a:schemeClr val="tx2"/>
                </a:solidFill>
                <a:latin typeface="+mj-lt"/>
              </a:rPr>
              <a:t>MODFLOW 6 has conceptualized a hydrologic process model into a “Numerical Model”</a:t>
            </a:r>
          </a:p>
          <a:p>
            <a:r>
              <a:rPr lang="nl-NL" dirty="0">
                <a:solidFill>
                  <a:schemeClr val="tx2"/>
                </a:solidFill>
                <a:latin typeface="+mj-lt"/>
              </a:rPr>
              <a:t>Multiple </a:t>
            </a:r>
            <a:r>
              <a:rPr lang="nl-NL" dirty="0" err="1">
                <a:solidFill>
                  <a:schemeClr val="tx2"/>
                </a:solidFill>
                <a:latin typeface="+mj-lt"/>
              </a:rPr>
              <a:t>models</a:t>
            </a:r>
            <a:r>
              <a:rPr lang="nl-NL" dirty="0">
                <a:solidFill>
                  <a:schemeClr val="tx2"/>
                </a:solidFill>
                <a:latin typeface="+mj-lt"/>
              </a:rPr>
              <a:t> </a:t>
            </a:r>
            <a:r>
              <a:rPr lang="nl-NL" dirty="0" err="1">
                <a:solidFill>
                  <a:schemeClr val="tx2"/>
                </a:solidFill>
                <a:latin typeface="+mj-lt"/>
              </a:rPr>
              <a:t>can</a:t>
            </a:r>
            <a:r>
              <a:rPr lang="nl-NL" dirty="0">
                <a:solidFill>
                  <a:schemeClr val="tx2"/>
                </a:solidFill>
                <a:latin typeface="+mj-lt"/>
              </a:rPr>
              <a:t> </a:t>
            </a:r>
            <a:r>
              <a:rPr lang="nl-NL" dirty="0" err="1">
                <a:solidFill>
                  <a:schemeClr val="tx2"/>
                </a:solidFill>
                <a:latin typeface="+mj-lt"/>
              </a:rPr>
              <a:t>be</a:t>
            </a:r>
            <a:r>
              <a:rPr lang="nl-NL" dirty="0">
                <a:solidFill>
                  <a:schemeClr val="tx2"/>
                </a:solidFill>
                <a:latin typeface="+mj-lt"/>
              </a:rPr>
              <a:t> </a:t>
            </a:r>
            <a:r>
              <a:rPr lang="nl-NL" dirty="0" err="1">
                <a:solidFill>
                  <a:schemeClr val="tx2"/>
                </a:solidFill>
                <a:latin typeface="+mj-lt"/>
              </a:rPr>
              <a:t>connected</a:t>
            </a:r>
            <a:r>
              <a:rPr lang="nl-NL" dirty="0">
                <a:solidFill>
                  <a:schemeClr val="tx2"/>
                </a:solidFill>
                <a:latin typeface="+mj-lt"/>
              </a:rPr>
              <a:t> </a:t>
            </a:r>
            <a:r>
              <a:rPr lang="nl-NL" dirty="0" err="1">
                <a:solidFill>
                  <a:schemeClr val="tx2"/>
                </a:solidFill>
                <a:latin typeface="+mj-lt"/>
              </a:rPr>
              <a:t>with</a:t>
            </a:r>
            <a:r>
              <a:rPr lang="nl-NL" dirty="0">
                <a:solidFill>
                  <a:schemeClr val="tx2"/>
                </a:solidFill>
                <a:latin typeface="+mj-lt"/>
              </a:rPr>
              <a:t> Exchanges </a:t>
            </a:r>
            <a:r>
              <a:rPr lang="nl-NL" dirty="0" err="1">
                <a:solidFill>
                  <a:schemeClr val="tx2"/>
                </a:solidFill>
                <a:latin typeface="+mj-lt"/>
              </a:rPr>
              <a:t>to</a:t>
            </a:r>
            <a:r>
              <a:rPr lang="nl-NL" dirty="0">
                <a:solidFill>
                  <a:schemeClr val="tx2"/>
                </a:solidFill>
                <a:latin typeface="+mj-lt"/>
              </a:rPr>
              <a:t> </a:t>
            </a:r>
            <a:r>
              <a:rPr lang="nl-NL" dirty="0" err="1">
                <a:solidFill>
                  <a:schemeClr val="tx2"/>
                </a:solidFill>
                <a:latin typeface="+mj-lt"/>
              </a:rPr>
              <a:t>be</a:t>
            </a:r>
            <a:r>
              <a:rPr lang="nl-NL" dirty="0">
                <a:solidFill>
                  <a:schemeClr val="tx2"/>
                </a:solidFill>
                <a:latin typeface="+mj-lt"/>
              </a:rPr>
              <a:t> </a:t>
            </a:r>
            <a:r>
              <a:rPr lang="nl-NL" dirty="0" err="1">
                <a:solidFill>
                  <a:schemeClr val="tx2"/>
                </a:solidFill>
                <a:latin typeface="+mj-lt"/>
              </a:rPr>
              <a:t>solved</a:t>
            </a:r>
            <a:r>
              <a:rPr lang="nl-NL" dirty="0">
                <a:solidFill>
                  <a:schemeClr val="tx2"/>
                </a:solidFill>
                <a:latin typeface="+mj-lt"/>
              </a:rPr>
              <a:t> in a single </a:t>
            </a:r>
            <a:r>
              <a:rPr lang="nl-NL" dirty="0" err="1">
                <a:solidFill>
                  <a:schemeClr val="tx2"/>
                </a:solidFill>
                <a:latin typeface="+mj-lt"/>
              </a:rPr>
              <a:t>Numerical</a:t>
            </a:r>
            <a:r>
              <a:rPr lang="nl-NL" dirty="0">
                <a:solidFill>
                  <a:schemeClr val="tx2"/>
                </a:solidFill>
                <a:latin typeface="+mj-lt"/>
              </a:rPr>
              <a:t> Solution</a:t>
            </a:r>
          </a:p>
          <a:p>
            <a:r>
              <a:rPr lang="nl-NL" dirty="0" err="1">
                <a:solidFill>
                  <a:schemeClr val="tx2"/>
                </a:solidFill>
                <a:latin typeface="+mj-lt"/>
              </a:rPr>
              <a:t>When</a:t>
            </a:r>
            <a:r>
              <a:rPr lang="nl-NL" dirty="0">
                <a:solidFill>
                  <a:schemeClr val="tx2"/>
                </a:solidFill>
                <a:latin typeface="+mj-lt"/>
              </a:rPr>
              <a:t> </a:t>
            </a:r>
            <a:r>
              <a:rPr lang="nl-NL" dirty="0" err="1">
                <a:solidFill>
                  <a:schemeClr val="tx2"/>
                </a:solidFill>
                <a:latin typeface="+mj-lt"/>
              </a:rPr>
              <a:t>models</a:t>
            </a:r>
            <a:r>
              <a:rPr lang="nl-NL" dirty="0">
                <a:solidFill>
                  <a:schemeClr val="tx2"/>
                </a:solidFill>
                <a:latin typeface="+mj-lt"/>
              </a:rPr>
              <a:t> are </a:t>
            </a:r>
            <a:r>
              <a:rPr lang="nl-NL" dirty="0" err="1">
                <a:solidFill>
                  <a:schemeClr val="tx2"/>
                </a:solidFill>
                <a:latin typeface="+mj-lt"/>
              </a:rPr>
              <a:t>distributed</a:t>
            </a:r>
            <a:r>
              <a:rPr lang="nl-NL" dirty="0">
                <a:solidFill>
                  <a:schemeClr val="tx2"/>
                </a:solidFill>
                <a:latin typeface="+mj-lt"/>
              </a:rPr>
              <a:t> over processors, “Virtual </a:t>
            </a:r>
            <a:r>
              <a:rPr lang="nl-NL" dirty="0" err="1">
                <a:solidFill>
                  <a:schemeClr val="tx2"/>
                </a:solidFill>
                <a:latin typeface="+mj-lt"/>
              </a:rPr>
              <a:t>Models</a:t>
            </a:r>
            <a:r>
              <a:rPr lang="nl-NL" dirty="0">
                <a:solidFill>
                  <a:schemeClr val="tx2"/>
                </a:solidFill>
                <a:latin typeface="+mj-lt"/>
              </a:rPr>
              <a:t>” are </a:t>
            </a:r>
            <a:r>
              <a:rPr lang="nl-NL" dirty="0" err="1">
                <a:solidFill>
                  <a:schemeClr val="tx2"/>
                </a:solidFill>
                <a:latin typeface="+mj-lt"/>
              </a:rPr>
              <a:t>used</a:t>
            </a:r>
            <a:r>
              <a:rPr lang="nl-NL" dirty="0">
                <a:solidFill>
                  <a:schemeClr val="tx2"/>
                </a:solidFill>
                <a:latin typeface="+mj-lt"/>
              </a:rPr>
              <a:t> </a:t>
            </a:r>
            <a:r>
              <a:rPr lang="nl-NL" dirty="0" err="1">
                <a:solidFill>
                  <a:schemeClr val="tx2"/>
                </a:solidFill>
                <a:latin typeface="+mj-lt"/>
              </a:rPr>
              <a:t>to</a:t>
            </a:r>
            <a:r>
              <a:rPr lang="nl-NL" dirty="0">
                <a:solidFill>
                  <a:schemeClr val="tx2"/>
                </a:solidFill>
                <a:latin typeface="+mj-lt"/>
              </a:rPr>
              <a:t> access remote data</a:t>
            </a:r>
          </a:p>
          <a:p>
            <a:r>
              <a:rPr lang="nl-NL" dirty="0">
                <a:solidFill>
                  <a:schemeClr val="tx2"/>
                </a:solidFill>
                <a:latin typeface="+mj-lt"/>
              </a:rPr>
              <a:t>The IMS </a:t>
            </a:r>
            <a:r>
              <a:rPr lang="nl-NL" dirty="0" err="1">
                <a:solidFill>
                  <a:schemeClr val="tx2"/>
                </a:solidFill>
                <a:latin typeface="+mj-lt"/>
              </a:rPr>
              <a:t>solver</a:t>
            </a:r>
            <a:r>
              <a:rPr lang="nl-NL" dirty="0">
                <a:solidFill>
                  <a:schemeClr val="tx2"/>
                </a:solidFill>
                <a:latin typeface="+mj-lt"/>
              </a:rPr>
              <a:t> is </a:t>
            </a:r>
            <a:r>
              <a:rPr lang="nl-NL" dirty="0" err="1">
                <a:solidFill>
                  <a:schemeClr val="tx2"/>
                </a:solidFill>
                <a:latin typeface="+mj-lt"/>
              </a:rPr>
              <a:t>silently</a:t>
            </a:r>
            <a:r>
              <a:rPr lang="nl-NL" dirty="0">
                <a:solidFill>
                  <a:schemeClr val="tx2"/>
                </a:solidFill>
                <a:latin typeface="+mj-lt"/>
              </a:rPr>
              <a:t> </a:t>
            </a:r>
            <a:r>
              <a:rPr lang="nl-NL" dirty="0" err="1">
                <a:solidFill>
                  <a:schemeClr val="tx2"/>
                </a:solidFill>
                <a:latin typeface="+mj-lt"/>
              </a:rPr>
              <a:t>replaces</a:t>
            </a:r>
            <a:r>
              <a:rPr lang="nl-NL" dirty="0">
                <a:solidFill>
                  <a:schemeClr val="tx2"/>
                </a:solidFill>
                <a:latin typeface="+mj-lt"/>
              </a:rPr>
              <a:t> </a:t>
            </a:r>
            <a:r>
              <a:rPr lang="nl-NL" dirty="0" err="1">
                <a:solidFill>
                  <a:schemeClr val="tx2"/>
                </a:solidFill>
                <a:latin typeface="+mj-lt"/>
              </a:rPr>
              <a:t>internally</a:t>
            </a:r>
            <a:r>
              <a:rPr lang="nl-NL" dirty="0">
                <a:solidFill>
                  <a:schemeClr val="tx2"/>
                </a:solidFill>
                <a:latin typeface="+mj-lt"/>
              </a:rPr>
              <a:t> </a:t>
            </a:r>
            <a:r>
              <a:rPr lang="nl-NL" dirty="0" err="1">
                <a:solidFill>
                  <a:schemeClr val="tx2"/>
                </a:solidFill>
                <a:latin typeface="+mj-lt"/>
              </a:rPr>
              <a:t>with</a:t>
            </a:r>
            <a:r>
              <a:rPr lang="nl-NL" dirty="0">
                <a:solidFill>
                  <a:schemeClr val="tx2"/>
                </a:solidFill>
                <a:latin typeface="+mj-lt"/>
              </a:rPr>
              <a:t> a </a:t>
            </a:r>
            <a:r>
              <a:rPr lang="nl-NL" dirty="0" err="1">
                <a:solidFill>
                  <a:schemeClr val="tx2"/>
                </a:solidFill>
                <a:latin typeface="+mj-lt"/>
              </a:rPr>
              <a:t>PETSc</a:t>
            </a:r>
            <a:r>
              <a:rPr lang="nl-NL" dirty="0">
                <a:solidFill>
                  <a:schemeClr val="tx2"/>
                </a:solidFill>
                <a:latin typeface="+mj-lt"/>
              </a:rPr>
              <a:t> </a:t>
            </a:r>
            <a:r>
              <a:rPr lang="nl-NL" dirty="0" err="1">
                <a:solidFill>
                  <a:schemeClr val="tx2"/>
                </a:solidFill>
                <a:latin typeface="+mj-lt"/>
              </a:rPr>
              <a:t>solver</a:t>
            </a:r>
            <a:endParaRPr lang="nl-NL" dirty="0">
              <a:solidFill>
                <a:schemeClr val="tx2"/>
              </a:solidFill>
              <a:latin typeface="+mj-lt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BC47355-FF35-4CC6-AC4C-14880046D8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b="1">
                <a:solidFill>
                  <a:schemeClr val="tx2"/>
                </a:solidFill>
              </a:rPr>
              <a:t>Framework Solution</a:t>
            </a:r>
            <a:endParaRPr lang="en-US" b="1" dirty="0">
              <a:solidFill>
                <a:schemeClr val="tx2"/>
              </a:solidFill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4BFDF9AA-7576-E24C-123A-38E9283824EE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t="8240"/>
          <a:stretch/>
        </p:blipFill>
        <p:spPr>
          <a:xfrm>
            <a:off x="8402046" y="679452"/>
            <a:ext cx="2378248" cy="2815413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ABA65982-FBD1-DE71-2E36-E63B55D3395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29369" y="3584300"/>
            <a:ext cx="3124430" cy="3092941"/>
          </a:xfrm>
          <a:prstGeom prst="rect">
            <a:avLst/>
          </a:prstGeom>
        </p:spPr>
      </p:pic>
      <p:grpSp>
        <p:nvGrpSpPr>
          <p:cNvPr id="6" name="Group 5">
            <a:extLst>
              <a:ext uri="{FF2B5EF4-FFF2-40B4-BE49-F238E27FC236}">
                <a16:creationId xmlns:a16="http://schemas.microsoft.com/office/drawing/2014/main" id="{0F631FEF-D6D1-B3A9-596C-E0E109374B7D}"/>
              </a:ext>
            </a:extLst>
          </p:cNvPr>
          <p:cNvGrpSpPr/>
          <p:nvPr/>
        </p:nvGrpSpPr>
        <p:grpSpPr>
          <a:xfrm>
            <a:off x="3243714" y="2194560"/>
            <a:ext cx="4584645" cy="3561347"/>
            <a:chOff x="3243714" y="2194560"/>
            <a:chExt cx="4584645" cy="3561347"/>
          </a:xfrm>
        </p:grpSpPr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9738D1B3-BFE6-D210-455B-C6A42243B88A}"/>
                </a:ext>
              </a:extLst>
            </p:cNvPr>
            <p:cNvSpPr/>
            <p:nvPr/>
          </p:nvSpPr>
          <p:spPr>
            <a:xfrm>
              <a:off x="3243714" y="2194560"/>
              <a:ext cx="4584645" cy="3561347"/>
            </a:xfrm>
            <a:prstGeom prst="rect">
              <a:avLst/>
            </a:prstGeom>
            <a:solidFill>
              <a:schemeClr val="bg1"/>
            </a:solidFill>
            <a:ln w="190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grpSp>
          <p:nvGrpSpPr>
            <p:cNvPr id="13" name="Group 12">
              <a:extLst>
                <a:ext uri="{FF2B5EF4-FFF2-40B4-BE49-F238E27FC236}">
                  <a16:creationId xmlns:a16="http://schemas.microsoft.com/office/drawing/2014/main" id="{4D8B6AD6-9EF3-C31D-3FDC-E84BCFC3A3CC}"/>
                </a:ext>
              </a:extLst>
            </p:cNvPr>
            <p:cNvGrpSpPr/>
            <p:nvPr/>
          </p:nvGrpSpPr>
          <p:grpSpPr>
            <a:xfrm>
              <a:off x="3601327" y="2435107"/>
              <a:ext cx="4062965" cy="3240287"/>
              <a:chOff x="7489933" y="3513137"/>
              <a:chExt cx="4062965" cy="3240287"/>
            </a:xfrm>
          </p:grpSpPr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43B97C17-393D-F578-2126-22EEF714D850}"/>
                  </a:ext>
                </a:extLst>
              </p:cNvPr>
              <p:cNvSpPr txBox="1"/>
              <p:nvPr/>
            </p:nvSpPr>
            <p:spPr>
              <a:xfrm>
                <a:off x="7489933" y="5830094"/>
                <a:ext cx="3053080" cy="92333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nl-NL" dirty="0"/>
                  <a:t>More in </a:t>
                </a:r>
                <a:r>
                  <a:rPr lang="nl-NL" dirty="0" err="1"/>
                  <a:t>the</a:t>
                </a:r>
                <a:r>
                  <a:rPr lang="nl-NL" dirty="0"/>
                  <a:t> Special </a:t>
                </a:r>
                <a:r>
                  <a:rPr lang="nl-NL" dirty="0" err="1"/>
                  <a:t>Session</a:t>
                </a:r>
                <a:r>
                  <a:rPr lang="nl-NL" dirty="0"/>
                  <a:t>, </a:t>
                </a:r>
              </a:p>
              <a:p>
                <a:r>
                  <a:rPr lang="nl-NL" dirty="0" err="1"/>
                  <a:t>Tuesday</a:t>
                </a:r>
                <a:r>
                  <a:rPr lang="nl-NL" dirty="0"/>
                  <a:t> </a:t>
                </a:r>
                <a:r>
                  <a:rPr lang="nl-NL" dirty="0" err="1"/>
                  <a:t>morning</a:t>
                </a:r>
                <a:r>
                  <a:rPr lang="nl-NL" dirty="0"/>
                  <a:t> 8.30 – 10.00,</a:t>
                </a:r>
              </a:p>
              <a:p>
                <a:r>
                  <a:rPr lang="nl-NL" i="1" dirty="0" err="1"/>
                  <a:t>Friend</a:t>
                </a:r>
                <a:r>
                  <a:rPr lang="nl-NL" i="1" dirty="0"/>
                  <a:t> 101</a:t>
                </a:r>
              </a:p>
            </p:txBody>
          </p:sp>
          <p:pic>
            <p:nvPicPr>
              <p:cNvPr id="12" name="Picture 11">
                <a:extLst>
                  <a:ext uri="{FF2B5EF4-FFF2-40B4-BE49-F238E27FC236}">
                    <a16:creationId xmlns:a16="http://schemas.microsoft.com/office/drawing/2014/main" id="{FFB7A043-ABA9-13BF-83C4-A70E4D43C8DD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7489933" y="3513137"/>
                <a:ext cx="4062965" cy="2285643"/>
              </a:xfrm>
              <a:prstGeom prst="rect">
                <a:avLst/>
              </a:prstGeom>
            </p:spPr>
          </p:pic>
        </p:grpSp>
      </p:grpSp>
    </p:spTree>
    <p:extLst>
      <p:ext uri="{BB962C8B-B14F-4D97-AF65-F5344CB8AC3E}">
        <p14:creationId xmlns:p14="http://schemas.microsoft.com/office/powerpoint/2010/main" val="425832570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049B61E-897F-D5D1-CB8F-6EEFE8FD597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nl-NL" b="1">
                <a:solidFill>
                  <a:schemeClr val="tx2"/>
                </a:solidFill>
              </a:rPr>
              <a:t>Parallel Solver: PETSc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0431E6C-442F-78E0-B072-64CC5F20A7B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1" y="1825625"/>
            <a:ext cx="5153526" cy="4875800"/>
          </a:xfrm>
        </p:spPr>
        <p:txBody>
          <a:bodyPr>
            <a:normAutofit lnSpcReduction="10000"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nl-NL" sz="2600" dirty="0">
                <a:solidFill>
                  <a:schemeClr val="tx2"/>
                </a:solidFill>
                <a:latin typeface="+mj-lt"/>
              </a:rPr>
              <a:t>The Portable, </a:t>
            </a:r>
            <a:r>
              <a:rPr lang="nl-NL" sz="2600" dirty="0" err="1">
                <a:solidFill>
                  <a:schemeClr val="tx2"/>
                </a:solidFill>
                <a:latin typeface="+mj-lt"/>
              </a:rPr>
              <a:t>Extensible</a:t>
            </a:r>
            <a:r>
              <a:rPr lang="nl-NL" sz="2600" dirty="0">
                <a:solidFill>
                  <a:schemeClr val="tx2"/>
                </a:solidFill>
                <a:latin typeface="+mj-lt"/>
              </a:rPr>
              <a:t> Toolkit </a:t>
            </a:r>
            <a:r>
              <a:rPr lang="nl-NL" sz="2600" dirty="0" err="1">
                <a:solidFill>
                  <a:schemeClr val="tx2"/>
                </a:solidFill>
                <a:latin typeface="+mj-lt"/>
              </a:rPr>
              <a:t>for</a:t>
            </a:r>
            <a:r>
              <a:rPr lang="nl-NL" sz="2600" dirty="0">
                <a:solidFill>
                  <a:schemeClr val="tx2"/>
                </a:solidFill>
                <a:latin typeface="+mj-lt"/>
              </a:rPr>
              <a:t> </a:t>
            </a:r>
            <a:r>
              <a:rPr lang="nl-NL" sz="2600" dirty="0" err="1">
                <a:solidFill>
                  <a:schemeClr val="tx2"/>
                </a:solidFill>
                <a:latin typeface="+mj-lt"/>
              </a:rPr>
              <a:t>Scientific</a:t>
            </a:r>
            <a:r>
              <a:rPr lang="nl-NL" sz="2600" dirty="0">
                <a:solidFill>
                  <a:schemeClr val="tx2"/>
                </a:solidFill>
                <a:latin typeface="+mj-lt"/>
              </a:rPr>
              <a:t> </a:t>
            </a:r>
            <a:r>
              <a:rPr lang="nl-NL" sz="2600" dirty="0" err="1">
                <a:solidFill>
                  <a:schemeClr val="tx2"/>
                </a:solidFill>
                <a:latin typeface="+mj-lt"/>
              </a:rPr>
              <a:t>Computation</a:t>
            </a:r>
            <a:endParaRPr lang="nl-NL" sz="2600" dirty="0">
              <a:solidFill>
                <a:schemeClr val="tx2"/>
              </a:solidFill>
              <a:latin typeface="+mj-lt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600" dirty="0">
                <a:solidFill>
                  <a:schemeClr val="tx2"/>
                </a:solidFill>
                <a:latin typeface="+mj-lt"/>
              </a:rPr>
              <a:t>Suite of data structures and routines developed and maintained by ANL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600" dirty="0">
                <a:solidFill>
                  <a:schemeClr val="tx2"/>
                </a:solidFill>
                <a:latin typeface="+mj-lt"/>
              </a:rPr>
              <a:t>Scalable (parallel) solution of scientific applications modeled by partial differential equations</a:t>
            </a:r>
          </a:p>
          <a:p>
            <a:r>
              <a:rPr lang="nl-NL" sz="2600" dirty="0" err="1">
                <a:solidFill>
                  <a:schemeClr val="tx2"/>
                </a:solidFill>
                <a:latin typeface="+mj-lt"/>
              </a:rPr>
              <a:t>Robust</a:t>
            </a:r>
            <a:r>
              <a:rPr lang="nl-NL" sz="2600" dirty="0">
                <a:solidFill>
                  <a:schemeClr val="tx2"/>
                </a:solidFill>
                <a:latin typeface="+mj-lt"/>
              </a:rPr>
              <a:t>, </a:t>
            </a:r>
            <a:r>
              <a:rPr lang="nl-NL" sz="2600" dirty="0" err="1">
                <a:solidFill>
                  <a:schemeClr val="tx2"/>
                </a:solidFill>
                <a:latin typeface="+mj-lt"/>
              </a:rPr>
              <a:t>Efficient</a:t>
            </a:r>
            <a:r>
              <a:rPr lang="nl-NL" sz="2600" dirty="0">
                <a:solidFill>
                  <a:schemeClr val="tx2"/>
                </a:solidFill>
                <a:latin typeface="+mj-lt"/>
              </a:rPr>
              <a:t>, Portable</a:t>
            </a:r>
          </a:p>
          <a:p>
            <a:r>
              <a:rPr lang="nl-NL" sz="2600" dirty="0">
                <a:solidFill>
                  <a:schemeClr val="tx2"/>
                </a:solidFill>
                <a:latin typeface="+mj-lt"/>
              </a:rPr>
              <a:t>Fortran </a:t>
            </a:r>
            <a:r>
              <a:rPr lang="nl-NL" sz="2600" dirty="0" err="1">
                <a:solidFill>
                  <a:schemeClr val="tx2"/>
                </a:solidFill>
                <a:latin typeface="+mj-lt"/>
              </a:rPr>
              <a:t>bindings</a:t>
            </a:r>
            <a:endParaRPr lang="nl-NL" sz="2600" dirty="0">
              <a:solidFill>
                <a:schemeClr val="tx2"/>
              </a:solidFill>
              <a:latin typeface="+mj-lt"/>
            </a:endParaRPr>
          </a:p>
          <a:p>
            <a:r>
              <a:rPr lang="nl-NL" sz="2600" dirty="0" err="1">
                <a:solidFill>
                  <a:schemeClr val="tx2"/>
                </a:solidFill>
                <a:latin typeface="+mj-lt"/>
              </a:rPr>
              <a:t>And</a:t>
            </a:r>
            <a:r>
              <a:rPr lang="nl-NL" sz="2600" dirty="0">
                <a:solidFill>
                  <a:schemeClr val="tx2"/>
                </a:solidFill>
                <a:latin typeface="+mj-lt"/>
              </a:rPr>
              <a:t>: </a:t>
            </a:r>
            <a:r>
              <a:rPr lang="nl-NL" sz="2600" dirty="0" err="1">
                <a:solidFill>
                  <a:schemeClr val="tx2"/>
                </a:solidFill>
                <a:latin typeface="+mj-lt"/>
              </a:rPr>
              <a:t>PETSc</a:t>
            </a:r>
            <a:r>
              <a:rPr lang="nl-NL" sz="2600" dirty="0">
                <a:solidFill>
                  <a:schemeClr val="tx2"/>
                </a:solidFill>
                <a:latin typeface="+mj-lt"/>
              </a:rPr>
              <a:t> </a:t>
            </a:r>
            <a:r>
              <a:rPr lang="nl-NL" sz="2600" dirty="0" err="1">
                <a:solidFill>
                  <a:schemeClr val="tx2"/>
                </a:solidFill>
                <a:latin typeface="+mj-lt"/>
              </a:rPr>
              <a:t>solver</a:t>
            </a:r>
            <a:r>
              <a:rPr lang="nl-NL" sz="2600" dirty="0">
                <a:solidFill>
                  <a:schemeClr val="tx2"/>
                </a:solidFill>
                <a:latin typeface="+mj-lt"/>
              </a:rPr>
              <a:t> </a:t>
            </a:r>
            <a:r>
              <a:rPr lang="nl-NL" sz="2600" dirty="0" err="1">
                <a:solidFill>
                  <a:schemeClr val="tx2"/>
                </a:solidFill>
                <a:latin typeface="+mj-lt"/>
              </a:rPr>
              <a:t>configured</a:t>
            </a:r>
            <a:r>
              <a:rPr lang="nl-NL" sz="2600" dirty="0">
                <a:solidFill>
                  <a:schemeClr val="tx2"/>
                </a:solidFill>
                <a:latin typeface="+mj-lt"/>
              </a:rPr>
              <a:t> </a:t>
            </a:r>
            <a:r>
              <a:rPr lang="nl-NL" sz="2600" dirty="0" err="1">
                <a:solidFill>
                  <a:schemeClr val="tx2"/>
                </a:solidFill>
                <a:latin typeface="+mj-lt"/>
              </a:rPr>
              <a:t>from</a:t>
            </a:r>
            <a:r>
              <a:rPr lang="nl-NL" sz="2600" dirty="0">
                <a:solidFill>
                  <a:schemeClr val="tx2"/>
                </a:solidFill>
                <a:latin typeface="+mj-lt"/>
              </a:rPr>
              <a:t> IMS </a:t>
            </a:r>
            <a:r>
              <a:rPr lang="nl-NL" sz="2600" dirty="0" err="1">
                <a:solidFill>
                  <a:schemeClr val="tx2"/>
                </a:solidFill>
                <a:latin typeface="+mj-lt"/>
              </a:rPr>
              <a:t>settings</a:t>
            </a:r>
            <a:r>
              <a:rPr lang="nl-NL" sz="2600" dirty="0">
                <a:solidFill>
                  <a:schemeClr val="tx2"/>
                </a:solidFill>
                <a:latin typeface="+mj-lt"/>
              </a:rPr>
              <a:t>, </a:t>
            </a:r>
            <a:r>
              <a:rPr lang="nl-NL" sz="2600" dirty="0" err="1">
                <a:solidFill>
                  <a:schemeClr val="tx2"/>
                </a:solidFill>
                <a:latin typeface="+mj-lt"/>
              </a:rPr>
              <a:t>including</a:t>
            </a:r>
            <a:r>
              <a:rPr lang="nl-NL" sz="2600" dirty="0">
                <a:solidFill>
                  <a:schemeClr val="tx2"/>
                </a:solidFill>
                <a:latin typeface="+mj-lt"/>
              </a:rPr>
              <a:t> MILU(T)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EB02281F-8F7F-08C8-0477-55E5411027A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6000" y="1755023"/>
            <a:ext cx="5938310" cy="3347954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C9C25B23-C3F4-E77E-B359-FE172AEABC64}"/>
              </a:ext>
            </a:extLst>
          </p:cNvPr>
          <p:cNvSpPr txBox="1"/>
          <p:nvPr/>
        </p:nvSpPr>
        <p:spPr>
          <a:xfrm>
            <a:off x="5970396" y="5538768"/>
            <a:ext cx="6063914" cy="954107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wrap="square" rtlCol="0">
            <a:spAutoFit/>
          </a:bodyPr>
          <a:lstStyle/>
          <a:p>
            <a:r>
              <a:rPr lang="nl-NL" sz="2800" dirty="0"/>
              <a:t>The </a:t>
            </a:r>
            <a:r>
              <a:rPr lang="nl-NL" sz="2800" dirty="0" err="1"/>
              <a:t>good</a:t>
            </a:r>
            <a:r>
              <a:rPr lang="nl-NL" sz="2800" dirty="0"/>
              <a:t> news: </a:t>
            </a:r>
            <a:r>
              <a:rPr lang="nl-NL" sz="2800" dirty="0" err="1"/>
              <a:t>you</a:t>
            </a:r>
            <a:r>
              <a:rPr lang="nl-NL" sz="2800" dirty="0"/>
              <a:t> </a:t>
            </a:r>
            <a:r>
              <a:rPr lang="nl-NL" sz="2800" dirty="0" err="1"/>
              <a:t>don’t</a:t>
            </a:r>
            <a:r>
              <a:rPr lang="nl-NL" sz="2800" dirty="0"/>
              <a:t> </a:t>
            </a:r>
            <a:r>
              <a:rPr lang="nl-NL" sz="2800" dirty="0" err="1"/>
              <a:t>need</a:t>
            </a:r>
            <a:r>
              <a:rPr lang="nl-NL" sz="2800" dirty="0"/>
              <a:t> </a:t>
            </a:r>
            <a:r>
              <a:rPr lang="nl-NL" sz="2800" dirty="0" err="1"/>
              <a:t>to</a:t>
            </a:r>
            <a:r>
              <a:rPr lang="nl-NL" sz="2800" dirty="0"/>
              <a:t> </a:t>
            </a:r>
            <a:r>
              <a:rPr lang="nl-NL" sz="2800" dirty="0" err="1"/>
              <a:t>know</a:t>
            </a:r>
            <a:r>
              <a:rPr lang="nl-NL" sz="2800" dirty="0"/>
              <a:t> </a:t>
            </a:r>
            <a:r>
              <a:rPr lang="nl-NL" sz="2800" dirty="0" err="1"/>
              <a:t>any</a:t>
            </a:r>
            <a:r>
              <a:rPr lang="nl-NL" sz="2800" dirty="0"/>
              <a:t> of </a:t>
            </a:r>
            <a:r>
              <a:rPr lang="nl-NL" sz="2800" dirty="0" err="1"/>
              <a:t>this</a:t>
            </a:r>
            <a:r>
              <a:rPr lang="nl-NL" sz="2800" dirty="0"/>
              <a:t> </a:t>
            </a:r>
            <a:r>
              <a:rPr lang="nl-NL" sz="2800" dirty="0" err="1"/>
              <a:t>to</a:t>
            </a:r>
            <a:r>
              <a:rPr lang="nl-NL" sz="2800" dirty="0"/>
              <a:t> run Parallel MODFLOW!</a:t>
            </a:r>
          </a:p>
        </p:txBody>
      </p:sp>
    </p:spTree>
    <p:extLst>
      <p:ext uri="{BB962C8B-B14F-4D97-AF65-F5344CB8AC3E}">
        <p14:creationId xmlns:p14="http://schemas.microsoft.com/office/powerpoint/2010/main" val="427072162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Picture 14" descr="386 Laptop | eBay">
            <a:extLst>
              <a:ext uri="{FF2B5EF4-FFF2-40B4-BE49-F238E27FC236}">
                <a16:creationId xmlns:a16="http://schemas.microsoft.com/office/drawing/2014/main" id="{3870C4FA-8B4E-B8D2-75D9-361B89F67EE2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 amt="20000"/>
          </a:blip>
          <a:stretch>
            <a:fillRect/>
          </a:stretch>
        </p:blipFill>
        <p:spPr>
          <a:xfrm>
            <a:off x="4155542" y="1357166"/>
            <a:ext cx="1204749" cy="1606332"/>
          </a:xfrm>
          <a:prstGeom prst="rect">
            <a:avLst/>
          </a:prstGeom>
        </p:spPr>
      </p:pic>
      <p:pic>
        <p:nvPicPr>
          <p:cNvPr id="14" name="Picture 13" descr="Netherlands obtains computing time on Europe's most powerful supercomputer  LUMI | SURF.nl">
            <a:extLst>
              <a:ext uri="{FF2B5EF4-FFF2-40B4-BE49-F238E27FC236}">
                <a16:creationId xmlns:a16="http://schemas.microsoft.com/office/drawing/2014/main" id="{F496303F-5B02-894B-3136-855E27801197}"/>
              </a:ext>
            </a:extLst>
          </p:cNvPr>
          <p:cNvPicPr>
            <a:picLocks noChangeAspect="1"/>
          </p:cNvPicPr>
          <p:nvPr/>
        </p:nvPicPr>
        <p:blipFill>
          <a:blip r:embed="rId4">
            <a:alphaModFix amt="35000"/>
          </a:blip>
          <a:stretch>
            <a:fillRect/>
          </a:stretch>
        </p:blipFill>
        <p:spPr>
          <a:xfrm>
            <a:off x="10245542" y="1517440"/>
            <a:ext cx="1670966" cy="877257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9BC47355-FF35-4CC6-AC4C-14880046D8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b="1" dirty="0">
                <a:solidFill>
                  <a:schemeClr val="tx2"/>
                </a:solidFill>
              </a:rPr>
              <a:t>How </a:t>
            </a:r>
            <a:r>
              <a:rPr lang="nl-NL" b="1" dirty="0" err="1">
                <a:solidFill>
                  <a:schemeClr val="tx2"/>
                </a:solidFill>
              </a:rPr>
              <a:t>to</a:t>
            </a:r>
            <a:r>
              <a:rPr lang="nl-NL" b="1" dirty="0">
                <a:solidFill>
                  <a:schemeClr val="tx2"/>
                </a:solidFill>
              </a:rPr>
              <a:t> get </a:t>
            </a:r>
            <a:r>
              <a:rPr lang="nl-NL" b="1" i="1" dirty="0">
                <a:solidFill>
                  <a:schemeClr val="tx2"/>
                </a:solidFill>
              </a:rPr>
              <a:t>Extended</a:t>
            </a:r>
            <a:r>
              <a:rPr lang="nl-NL" b="1" dirty="0">
                <a:solidFill>
                  <a:schemeClr val="tx2"/>
                </a:solidFill>
              </a:rPr>
              <a:t> MODFLOW</a:t>
            </a:r>
            <a:endParaRPr lang="en-US" b="1" dirty="0">
              <a:solidFill>
                <a:schemeClr val="tx2"/>
              </a:solidFill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564626C5-3444-919B-15C8-3E42573D5660}"/>
              </a:ext>
            </a:extLst>
          </p:cNvPr>
          <p:cNvSpPr/>
          <p:nvPr/>
        </p:nvSpPr>
        <p:spPr>
          <a:xfrm>
            <a:off x="838199" y="1584813"/>
            <a:ext cx="5035063" cy="550920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2400" u="sng" dirty="0">
                <a:solidFill>
                  <a:schemeClr val="tx2"/>
                </a:solidFill>
                <a:latin typeface="+mj-lt"/>
              </a:rPr>
              <a:t>On your laptop</a:t>
            </a:r>
          </a:p>
          <a:p>
            <a:pPr lvl="1"/>
            <a:r>
              <a:rPr lang="en-US" sz="2400" dirty="0">
                <a:solidFill>
                  <a:schemeClr val="tx2"/>
                </a:solidFill>
                <a:latin typeface="+mj-lt"/>
              </a:rPr>
              <a:t>		</a:t>
            </a:r>
          </a:p>
          <a:p>
            <a:pPr lvl="1"/>
            <a:r>
              <a:rPr lang="en-US" sz="2400" b="1" dirty="0">
                <a:solidFill>
                  <a:schemeClr val="tx2"/>
                </a:solidFill>
                <a:latin typeface="+mj-lt"/>
              </a:rPr>
              <a:t>Windows</a:t>
            </a:r>
          </a:p>
          <a:p>
            <a:pPr lvl="1"/>
            <a:r>
              <a:rPr lang="en-US" sz="2400" dirty="0">
                <a:solidFill>
                  <a:schemeClr val="tx2"/>
                </a:solidFill>
                <a:latin typeface="+mj-lt"/>
              </a:rPr>
              <a:t>get the zip file from the release (or nightly build)</a:t>
            </a:r>
          </a:p>
          <a:p>
            <a:pPr lvl="1"/>
            <a:r>
              <a:rPr lang="en-US" sz="2400" dirty="0">
                <a:solidFill>
                  <a:schemeClr val="tx2"/>
                </a:solidFill>
                <a:latin typeface="+mj-lt"/>
              </a:rPr>
              <a:t>					</a:t>
            </a:r>
          </a:p>
          <a:p>
            <a:pPr lvl="1"/>
            <a:r>
              <a:rPr lang="en-US" sz="2400" b="1" dirty="0">
                <a:solidFill>
                  <a:schemeClr val="tx2"/>
                </a:solidFill>
                <a:latin typeface="+mj-lt"/>
              </a:rPr>
              <a:t>Linux/MacOS</a:t>
            </a:r>
          </a:p>
          <a:p>
            <a:pPr lvl="1"/>
            <a:r>
              <a:rPr lang="en-US" sz="2400" i="1" dirty="0">
                <a:solidFill>
                  <a:srgbClr val="0070C0"/>
                </a:solidFill>
                <a:latin typeface="+mj-lt"/>
              </a:rPr>
              <a:t>Easy</a:t>
            </a:r>
            <a:r>
              <a:rPr lang="en-US" sz="2400" dirty="0">
                <a:solidFill>
                  <a:schemeClr val="tx2"/>
                </a:solidFill>
                <a:latin typeface="+mj-lt"/>
              </a:rPr>
              <a:t>: use the </a:t>
            </a:r>
            <a:r>
              <a:rPr lang="en-US" sz="2400" dirty="0" err="1">
                <a:solidFill>
                  <a:schemeClr val="tx2"/>
                </a:solidFill>
                <a:latin typeface="+mj-lt"/>
              </a:rPr>
              <a:t>pixi</a:t>
            </a:r>
            <a:r>
              <a:rPr lang="en-US" sz="2400" dirty="0">
                <a:solidFill>
                  <a:schemeClr val="tx2"/>
                </a:solidFill>
                <a:latin typeface="+mj-lt"/>
              </a:rPr>
              <a:t> environment for this class, and modify</a:t>
            </a:r>
          </a:p>
          <a:p>
            <a:pPr lvl="1"/>
            <a:r>
              <a:rPr lang="en-US" sz="2400" i="1" dirty="0">
                <a:solidFill>
                  <a:srgbClr val="C00000"/>
                </a:solidFill>
                <a:latin typeface="+mj-lt"/>
              </a:rPr>
              <a:t>Advanced</a:t>
            </a:r>
            <a:r>
              <a:rPr lang="en-US" sz="2400" dirty="0">
                <a:solidFill>
                  <a:schemeClr val="tx2"/>
                </a:solidFill>
                <a:latin typeface="+mj-lt"/>
              </a:rPr>
              <a:t>: Install </a:t>
            </a:r>
            <a:r>
              <a:rPr lang="en-US" sz="2400" dirty="0" err="1">
                <a:solidFill>
                  <a:schemeClr val="tx2"/>
                </a:solidFill>
                <a:latin typeface="+mj-lt"/>
              </a:rPr>
              <a:t>PETSc</a:t>
            </a:r>
            <a:r>
              <a:rPr lang="en-US" sz="2400" dirty="0">
                <a:solidFill>
                  <a:schemeClr val="tx2"/>
                </a:solidFill>
                <a:latin typeface="+mj-lt"/>
              </a:rPr>
              <a:t>, </a:t>
            </a:r>
            <a:r>
              <a:rPr lang="en-US" sz="2400" dirty="0" err="1">
                <a:solidFill>
                  <a:schemeClr val="tx2"/>
                </a:solidFill>
                <a:latin typeface="+mj-lt"/>
              </a:rPr>
              <a:t>netcdf</a:t>
            </a:r>
            <a:r>
              <a:rPr lang="en-US" sz="2400" dirty="0">
                <a:solidFill>
                  <a:schemeClr val="tx2"/>
                </a:solidFill>
                <a:latin typeface="+mj-lt"/>
              </a:rPr>
              <a:t>, MPI, ... yourself and use the meson build system for the extended build</a:t>
            </a:r>
          </a:p>
          <a:p>
            <a:endParaRPr lang="en-US" sz="2800" dirty="0">
              <a:latin typeface="+mj-lt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3600" dirty="0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46B0839D-866F-8F4B-DF44-7AEF82D6D1A2}"/>
              </a:ext>
            </a:extLst>
          </p:cNvPr>
          <p:cNvSpPr/>
          <p:nvPr/>
        </p:nvSpPr>
        <p:spPr>
          <a:xfrm>
            <a:off x="6881445" y="1565562"/>
            <a:ext cx="5035063" cy="661719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2400" u="sng" dirty="0">
                <a:solidFill>
                  <a:schemeClr val="tx2"/>
                </a:solidFill>
                <a:latin typeface="+mj-lt"/>
              </a:rPr>
              <a:t>On your supercomputer</a:t>
            </a:r>
          </a:p>
          <a:p>
            <a:endParaRPr lang="en-US" sz="2400" dirty="0">
              <a:solidFill>
                <a:schemeClr val="tx2"/>
              </a:solidFill>
              <a:latin typeface="+mj-lt"/>
            </a:endParaRPr>
          </a:p>
          <a:p>
            <a:r>
              <a:rPr lang="en-US" sz="2400" dirty="0">
                <a:solidFill>
                  <a:schemeClr val="tx2"/>
                </a:solidFill>
                <a:latin typeface="+mj-lt"/>
              </a:rPr>
              <a:t>Ideally use the system MPI libraries for optimal performance</a:t>
            </a:r>
          </a:p>
          <a:p>
            <a:endParaRPr lang="en-US" sz="2400" dirty="0">
              <a:solidFill>
                <a:schemeClr val="tx2"/>
              </a:solidFill>
              <a:latin typeface="+mj-lt"/>
            </a:endParaRPr>
          </a:p>
          <a:p>
            <a:r>
              <a:rPr lang="en-US" sz="2400" i="1" dirty="0">
                <a:solidFill>
                  <a:srgbClr val="0070C0"/>
                </a:solidFill>
                <a:latin typeface="+mj-lt"/>
              </a:rPr>
              <a:t>Easy</a:t>
            </a:r>
            <a:r>
              <a:rPr lang="en-US" sz="2400" dirty="0">
                <a:solidFill>
                  <a:schemeClr val="tx2"/>
                </a:solidFill>
                <a:latin typeface="+mj-lt"/>
              </a:rPr>
              <a:t>: Load the MODFLOW 6 module if available</a:t>
            </a:r>
          </a:p>
          <a:p>
            <a:r>
              <a:rPr lang="en-US" sz="2400" i="1" dirty="0">
                <a:solidFill>
                  <a:srgbClr val="0070C0"/>
                </a:solidFill>
                <a:latin typeface="+mj-lt"/>
              </a:rPr>
              <a:t>Easy</a:t>
            </a:r>
            <a:r>
              <a:rPr lang="en-US" sz="2400" dirty="0">
                <a:solidFill>
                  <a:schemeClr val="tx2"/>
                </a:solidFill>
                <a:latin typeface="+mj-lt"/>
              </a:rPr>
              <a:t>: follow the approach on the left with the </a:t>
            </a:r>
            <a:r>
              <a:rPr lang="en-US" sz="2400" dirty="0" err="1">
                <a:solidFill>
                  <a:schemeClr val="tx2"/>
                </a:solidFill>
                <a:latin typeface="+mj-lt"/>
              </a:rPr>
              <a:t>pixi</a:t>
            </a:r>
            <a:r>
              <a:rPr lang="en-US" sz="2400" dirty="0">
                <a:solidFill>
                  <a:schemeClr val="tx2"/>
                </a:solidFill>
                <a:latin typeface="+mj-lt"/>
              </a:rPr>
              <a:t> environment (suboptimal)</a:t>
            </a:r>
          </a:p>
          <a:p>
            <a:r>
              <a:rPr lang="en-US" sz="2400" i="1" dirty="0">
                <a:solidFill>
                  <a:srgbClr val="C00000"/>
                </a:solidFill>
                <a:latin typeface="+mj-lt"/>
              </a:rPr>
              <a:t>Advanced</a:t>
            </a:r>
            <a:r>
              <a:rPr lang="en-US" sz="2400" dirty="0">
                <a:solidFill>
                  <a:schemeClr val="tx2"/>
                </a:solidFill>
                <a:latin typeface="+mj-lt"/>
              </a:rPr>
              <a:t>: use the system libs and build extended MODFLOW using meson</a:t>
            </a:r>
          </a:p>
          <a:p>
            <a:r>
              <a:rPr lang="en-US" sz="2400" i="1" dirty="0">
                <a:solidFill>
                  <a:srgbClr val="C00000"/>
                </a:solidFill>
                <a:latin typeface="+mj-lt"/>
              </a:rPr>
              <a:t>Advanced</a:t>
            </a:r>
            <a:r>
              <a:rPr lang="en-US" sz="2400" dirty="0">
                <a:solidFill>
                  <a:schemeClr val="tx2"/>
                </a:solidFill>
                <a:latin typeface="+mj-lt"/>
              </a:rPr>
              <a:t>: add MODFLOW 6 extended to the system’s software catalog (module, </a:t>
            </a:r>
            <a:r>
              <a:rPr lang="en-US" sz="2400" dirty="0" err="1">
                <a:solidFill>
                  <a:schemeClr val="tx2"/>
                </a:solidFill>
                <a:latin typeface="+mj-lt"/>
              </a:rPr>
              <a:t>easybuild</a:t>
            </a:r>
            <a:r>
              <a:rPr lang="en-US" sz="2400" dirty="0">
                <a:solidFill>
                  <a:schemeClr val="tx2"/>
                </a:solidFill>
                <a:latin typeface="+mj-lt"/>
              </a:rPr>
              <a:t>, …)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endParaRPr lang="en-US" sz="2400" dirty="0">
              <a:solidFill>
                <a:schemeClr val="tx2"/>
              </a:solidFill>
              <a:latin typeface="+mj-lt"/>
            </a:endParaRPr>
          </a:p>
          <a:p>
            <a:endParaRPr lang="en-US" sz="2800" dirty="0">
              <a:latin typeface="+mj-lt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3600" dirty="0"/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D772AE6B-D075-FF13-AE30-BE67299E1E12}"/>
              </a:ext>
            </a:extLst>
          </p:cNvPr>
          <p:cNvCxnSpPr>
            <a:cxnSpLocks/>
          </p:cNvCxnSpPr>
          <p:nvPr/>
        </p:nvCxnSpPr>
        <p:spPr>
          <a:xfrm flipH="1">
            <a:off x="6095999" y="1840523"/>
            <a:ext cx="1" cy="4759570"/>
          </a:xfrm>
          <a:prstGeom prst="line">
            <a:avLst/>
          </a:prstGeom>
          <a:ln w="57150">
            <a:solidFill>
              <a:srgbClr val="44546A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89548588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9" grpId="0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3D0488A-F56D-CD7E-6701-CAF53BF1D4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BAACC31-A54D-53C9-D76B-54A99371469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b="1" dirty="0">
                <a:solidFill>
                  <a:schemeClr val="tx2"/>
                </a:solidFill>
              </a:rPr>
              <a:t>How </a:t>
            </a:r>
            <a:r>
              <a:rPr lang="nl-NL" b="1" dirty="0" err="1">
                <a:solidFill>
                  <a:schemeClr val="tx2"/>
                </a:solidFill>
              </a:rPr>
              <a:t>to</a:t>
            </a:r>
            <a:r>
              <a:rPr lang="nl-NL" b="1" dirty="0">
                <a:solidFill>
                  <a:schemeClr val="tx2"/>
                </a:solidFill>
              </a:rPr>
              <a:t> get </a:t>
            </a:r>
            <a:r>
              <a:rPr lang="nl-NL" b="1" i="1" dirty="0">
                <a:solidFill>
                  <a:schemeClr val="tx2"/>
                </a:solidFill>
              </a:rPr>
              <a:t>Extended</a:t>
            </a:r>
            <a:r>
              <a:rPr lang="nl-NL" b="1" dirty="0">
                <a:solidFill>
                  <a:schemeClr val="tx2"/>
                </a:solidFill>
              </a:rPr>
              <a:t> MODFLOW (support)</a:t>
            </a:r>
            <a:endParaRPr lang="en-US" b="1" dirty="0">
              <a:solidFill>
                <a:schemeClr val="tx2"/>
              </a:solidFill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C9FAA931-0351-EAD8-AA28-6C250FA6B797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2112"/>
          <a:stretch>
            <a:fillRect/>
          </a:stretch>
        </p:blipFill>
        <p:spPr>
          <a:xfrm>
            <a:off x="6554802" y="2011430"/>
            <a:ext cx="4855413" cy="4197000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3BE89C83-94DB-3084-4422-DCF9561A115D}"/>
              </a:ext>
            </a:extLst>
          </p:cNvPr>
          <p:cNvSpPr txBox="1"/>
          <p:nvPr/>
        </p:nvSpPr>
        <p:spPr>
          <a:xfrm>
            <a:off x="6554802" y="6389381"/>
            <a:ext cx="5775158" cy="27958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nl-NL" sz="1200" dirty="0"/>
              <a:t>https://github.com/MODFLOW-ORG/modflow6/wiki/Extended-MODFLOW-User-Guide</a:t>
            </a: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415CE7F4-7E00-BED5-2455-A0D63405D3A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246" y="2011430"/>
            <a:ext cx="5359501" cy="4023617"/>
          </a:xfrm>
          <a:prstGeom prst="rect">
            <a:avLst/>
          </a:prstGeom>
        </p:spPr>
      </p:pic>
      <p:sp>
        <p:nvSpPr>
          <p:cNvPr id="19" name="TextBox 18">
            <a:extLst>
              <a:ext uri="{FF2B5EF4-FFF2-40B4-BE49-F238E27FC236}">
                <a16:creationId xmlns:a16="http://schemas.microsoft.com/office/drawing/2014/main" id="{79C2E28B-1ADD-40E4-59FE-F60AE8E2E108}"/>
              </a:ext>
            </a:extLst>
          </p:cNvPr>
          <p:cNvSpPr txBox="1"/>
          <p:nvPr/>
        </p:nvSpPr>
        <p:spPr>
          <a:xfrm>
            <a:off x="242318" y="6395670"/>
            <a:ext cx="6155356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nl-NL" sz="1200" dirty="0"/>
              <a:t>https://github.com/MODFLOW-ORG/modflow6/discussions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779B7FF7-07C5-E484-0837-EE281171F653}"/>
              </a:ext>
            </a:extLst>
          </p:cNvPr>
          <p:cNvSpPr txBox="1"/>
          <p:nvPr/>
        </p:nvSpPr>
        <p:spPr>
          <a:xfrm>
            <a:off x="2183000" y="1537877"/>
            <a:ext cx="1992918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000" dirty="0"/>
              <a:t>Discussion Board</a:t>
            </a:r>
            <a:endParaRPr lang="nl-NL" sz="2000" dirty="0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7C2B0462-B317-2A51-E31C-4E898CDCD648}"/>
              </a:ext>
            </a:extLst>
          </p:cNvPr>
          <p:cNvSpPr txBox="1"/>
          <p:nvPr/>
        </p:nvSpPr>
        <p:spPr>
          <a:xfrm>
            <a:off x="7398132" y="1526087"/>
            <a:ext cx="3665234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000" dirty="0"/>
              <a:t>Extended MODFLOW User Guide</a:t>
            </a:r>
            <a:endParaRPr lang="nl-NL" sz="2000" dirty="0"/>
          </a:p>
        </p:txBody>
      </p:sp>
    </p:spTree>
    <p:extLst>
      <p:ext uri="{BB962C8B-B14F-4D97-AF65-F5344CB8AC3E}">
        <p14:creationId xmlns:p14="http://schemas.microsoft.com/office/powerpoint/2010/main" val="294001085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B1982DA-FABB-B749-FCA3-51672BCD6E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>
                <a:solidFill>
                  <a:schemeClr val="tx2"/>
                </a:solidFill>
              </a:rPr>
              <a:t>FloPy Model Splitter</a:t>
            </a:r>
            <a:endParaRPr lang="nl-NL" b="1" dirty="0">
              <a:solidFill>
                <a:schemeClr val="tx2"/>
              </a:solidFill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A2B8D3F-BEAE-F78B-EAE9-2A0D644E91D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7042608" cy="5032376"/>
          </a:xfrm>
        </p:spPr>
        <p:txBody>
          <a:bodyPr>
            <a:normAutofit lnSpcReduction="10000"/>
          </a:bodyPr>
          <a:lstStyle/>
          <a:p>
            <a:r>
              <a:rPr lang="en-US" sz="2600" dirty="0">
                <a:solidFill>
                  <a:schemeClr val="tx2"/>
                </a:solidFill>
                <a:latin typeface="+mj-lt"/>
              </a:rPr>
              <a:t>FloPy contains a tool for partitioning a MODFLOW 6 model:</a:t>
            </a:r>
          </a:p>
          <a:p>
            <a:pPr lvl="1"/>
            <a:r>
              <a:rPr lang="en-US" sz="2600" dirty="0">
                <a:solidFill>
                  <a:schemeClr val="tx2"/>
                </a:solidFill>
                <a:latin typeface="+mj-lt"/>
              </a:rPr>
              <a:t>flopy/mf6/utils/model_splitter.py</a:t>
            </a:r>
          </a:p>
          <a:p>
            <a:pPr>
              <a:lnSpc>
                <a:spcPct val="100000"/>
              </a:lnSpc>
            </a:pPr>
            <a:r>
              <a:rPr lang="en-US" sz="2600" dirty="0">
                <a:solidFill>
                  <a:schemeClr val="tx2"/>
                </a:solidFill>
                <a:latin typeface="+mj-lt"/>
              </a:rPr>
              <a:t>Configure with the simulation object:</a:t>
            </a:r>
          </a:p>
          <a:p>
            <a:pPr marL="457200" lvl="1" indent="0">
              <a:lnSpc>
                <a:spcPct val="150000"/>
              </a:lnSpc>
              <a:buNone/>
            </a:pPr>
            <a:r>
              <a:rPr lang="nl-NL" sz="1800" b="0" dirty="0" err="1">
                <a:solidFill>
                  <a:schemeClr val="accent1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mfsplit</a:t>
            </a:r>
            <a:r>
              <a:rPr lang="nl-NL" sz="1800" b="0" dirty="0">
                <a:solidFill>
                  <a:schemeClr val="accent1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 = Mf6Splitter(</a:t>
            </a:r>
            <a:r>
              <a:rPr lang="nl-NL" sz="1800" b="0" dirty="0" err="1">
                <a:solidFill>
                  <a:schemeClr val="accent1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base_sim</a:t>
            </a:r>
            <a:r>
              <a:rPr lang="nl-NL" sz="1800" b="0" dirty="0">
                <a:solidFill>
                  <a:schemeClr val="accent1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r>
              <a:rPr lang="nl-NL" sz="2600" dirty="0" err="1">
                <a:solidFill>
                  <a:schemeClr val="tx2"/>
                </a:solidFill>
                <a:latin typeface="+mj-lt"/>
              </a:rPr>
              <a:t>Methods</a:t>
            </a:r>
            <a:r>
              <a:rPr lang="nl-NL" sz="2600" dirty="0">
                <a:solidFill>
                  <a:schemeClr val="tx2"/>
                </a:solidFill>
                <a:latin typeface="+mj-lt"/>
              </a:rPr>
              <a:t> </a:t>
            </a:r>
            <a:r>
              <a:rPr lang="nl-NL" sz="2600" dirty="0" err="1">
                <a:solidFill>
                  <a:schemeClr val="tx2"/>
                </a:solidFill>
                <a:latin typeface="+mj-lt"/>
              </a:rPr>
              <a:t>to</a:t>
            </a:r>
            <a:r>
              <a:rPr lang="nl-NL" sz="2600" dirty="0">
                <a:solidFill>
                  <a:schemeClr val="tx2"/>
                </a:solidFill>
                <a:latin typeface="+mj-lt"/>
              </a:rPr>
              <a:t> </a:t>
            </a:r>
            <a:r>
              <a:rPr lang="nl-NL" sz="2600" dirty="0" err="1">
                <a:solidFill>
                  <a:schemeClr val="tx2"/>
                </a:solidFill>
                <a:latin typeface="+mj-lt"/>
              </a:rPr>
              <a:t>generate</a:t>
            </a:r>
            <a:r>
              <a:rPr lang="nl-NL" sz="2600" dirty="0">
                <a:solidFill>
                  <a:schemeClr val="tx2"/>
                </a:solidFill>
                <a:latin typeface="+mj-lt"/>
              </a:rPr>
              <a:t> a </a:t>
            </a:r>
            <a:r>
              <a:rPr lang="nl-NL" sz="1800" dirty="0" err="1">
                <a:solidFill>
                  <a:schemeClr val="accent1">
                    <a:lumMod val="75000"/>
                  </a:schemeClr>
                </a:solidFill>
                <a:latin typeface="Consolas" panose="020B0609020204030204" pitchFamily="49" charset="0"/>
              </a:rPr>
              <a:t>split_array</a:t>
            </a:r>
            <a:r>
              <a:rPr lang="nl-NL" sz="1800" dirty="0">
                <a:solidFill>
                  <a:schemeClr val="accent1">
                    <a:lumMod val="75000"/>
                  </a:schemeClr>
                </a:solidFill>
                <a:latin typeface="Consolas" panose="020B0609020204030204" pitchFamily="49" charset="0"/>
              </a:rPr>
              <a:t> </a:t>
            </a:r>
            <a:r>
              <a:rPr lang="nl-NL" sz="2600" dirty="0" err="1">
                <a:solidFill>
                  <a:schemeClr val="tx2"/>
                </a:solidFill>
                <a:latin typeface="+mj-lt"/>
              </a:rPr>
              <a:t>by</a:t>
            </a:r>
            <a:r>
              <a:rPr lang="nl-NL" sz="2600" dirty="0">
                <a:solidFill>
                  <a:schemeClr val="tx2"/>
                </a:solidFill>
                <a:latin typeface="+mj-lt"/>
              </a:rPr>
              <a:t> </a:t>
            </a:r>
          </a:p>
          <a:p>
            <a:pPr marL="971550" lvl="1" indent="-514350">
              <a:buAutoNum type="arabicPeriod"/>
            </a:pPr>
            <a:r>
              <a:rPr lang="nl-NL" sz="2600" dirty="0" err="1">
                <a:solidFill>
                  <a:schemeClr val="tx2"/>
                </a:solidFill>
                <a:latin typeface="+mj-lt"/>
              </a:rPr>
              <a:t>division</a:t>
            </a:r>
            <a:r>
              <a:rPr lang="nl-NL" sz="2600" dirty="0">
                <a:solidFill>
                  <a:schemeClr val="tx2"/>
                </a:solidFill>
                <a:latin typeface="+mj-lt"/>
              </a:rPr>
              <a:t> in </a:t>
            </a:r>
            <a:r>
              <a:rPr lang="nl-NL" sz="2600" dirty="0" err="1">
                <a:solidFill>
                  <a:schemeClr val="tx2"/>
                </a:solidFill>
                <a:latin typeface="+mj-lt"/>
              </a:rPr>
              <a:t>rectangular</a:t>
            </a:r>
            <a:r>
              <a:rPr lang="nl-NL" sz="2600" dirty="0">
                <a:solidFill>
                  <a:schemeClr val="tx2"/>
                </a:solidFill>
                <a:latin typeface="+mj-lt"/>
              </a:rPr>
              <a:t> </a:t>
            </a:r>
            <a:r>
              <a:rPr lang="nl-NL" sz="2600" dirty="0" err="1">
                <a:solidFill>
                  <a:schemeClr val="tx2"/>
                </a:solidFill>
                <a:latin typeface="+mj-lt"/>
              </a:rPr>
              <a:t>blocks</a:t>
            </a:r>
            <a:endParaRPr lang="nl-NL" sz="2600" dirty="0">
              <a:solidFill>
                <a:schemeClr val="tx2"/>
              </a:solidFill>
              <a:latin typeface="+mj-lt"/>
            </a:endParaRPr>
          </a:p>
          <a:p>
            <a:pPr marL="971550" lvl="1" indent="-514350">
              <a:buAutoNum type="arabicPeriod"/>
            </a:pPr>
            <a:r>
              <a:rPr lang="nl-NL" sz="2600" dirty="0" err="1">
                <a:solidFill>
                  <a:schemeClr val="tx2"/>
                </a:solidFill>
                <a:latin typeface="+mj-lt"/>
              </a:rPr>
              <a:t>optimized</a:t>
            </a:r>
            <a:r>
              <a:rPr lang="nl-NL" sz="2600" dirty="0">
                <a:solidFill>
                  <a:schemeClr val="tx2"/>
                </a:solidFill>
                <a:latin typeface="+mj-lt"/>
              </a:rPr>
              <a:t> </a:t>
            </a:r>
            <a:r>
              <a:rPr lang="nl-NL" sz="2600" dirty="0" err="1">
                <a:solidFill>
                  <a:schemeClr val="tx2"/>
                </a:solidFill>
                <a:latin typeface="+mj-lt"/>
              </a:rPr>
              <a:t>splitting</a:t>
            </a:r>
            <a:r>
              <a:rPr lang="nl-NL" sz="2600" dirty="0">
                <a:solidFill>
                  <a:schemeClr val="tx2"/>
                </a:solidFill>
                <a:latin typeface="+mj-lt"/>
              </a:rPr>
              <a:t> </a:t>
            </a:r>
            <a:r>
              <a:rPr lang="nl-NL" sz="2600" dirty="0" err="1">
                <a:solidFill>
                  <a:schemeClr val="tx2"/>
                </a:solidFill>
                <a:latin typeface="+mj-lt"/>
              </a:rPr>
              <a:t>with</a:t>
            </a:r>
            <a:r>
              <a:rPr lang="nl-NL" sz="2600" dirty="0">
                <a:solidFill>
                  <a:schemeClr val="tx2"/>
                </a:solidFill>
                <a:latin typeface="+mj-lt"/>
              </a:rPr>
              <a:t> </a:t>
            </a:r>
            <a:r>
              <a:rPr lang="nl-NL" sz="2600" b="1" dirty="0" err="1">
                <a:solidFill>
                  <a:schemeClr val="tx2"/>
                </a:solidFill>
                <a:latin typeface="+mj-lt"/>
              </a:rPr>
              <a:t>Metis</a:t>
            </a:r>
            <a:endParaRPr lang="nl-NL" sz="2600" b="1" dirty="0">
              <a:solidFill>
                <a:schemeClr val="tx2"/>
              </a:solidFill>
              <a:latin typeface="+mj-lt"/>
            </a:endParaRPr>
          </a:p>
          <a:p>
            <a:r>
              <a:rPr lang="nl-NL" sz="2600" dirty="0">
                <a:solidFill>
                  <a:schemeClr val="tx2"/>
                </a:solidFill>
                <a:latin typeface="+mj-lt"/>
              </a:rPr>
              <a:t>Split </a:t>
            </a:r>
            <a:r>
              <a:rPr lang="nl-NL" sz="2600" dirty="0" err="1">
                <a:solidFill>
                  <a:schemeClr val="tx2"/>
                </a:solidFill>
                <a:latin typeface="+mj-lt"/>
              </a:rPr>
              <a:t>the</a:t>
            </a:r>
            <a:r>
              <a:rPr lang="nl-NL" sz="2600" dirty="0">
                <a:solidFill>
                  <a:schemeClr val="tx2"/>
                </a:solidFill>
                <a:latin typeface="+mj-lt"/>
              </a:rPr>
              <a:t> model:</a:t>
            </a:r>
          </a:p>
          <a:p>
            <a:pPr marL="457200" lvl="1" indent="0">
              <a:lnSpc>
                <a:spcPct val="160000"/>
              </a:lnSpc>
              <a:buNone/>
            </a:pPr>
            <a:r>
              <a:rPr lang="nl-NL" sz="1800" dirty="0" err="1">
                <a:solidFill>
                  <a:schemeClr val="accent1">
                    <a:lumMod val="75000"/>
                  </a:schemeClr>
                </a:solidFill>
                <a:latin typeface="Consolas" panose="020B0609020204030204" pitchFamily="49" charset="0"/>
              </a:rPr>
              <a:t>new_sim</a:t>
            </a:r>
            <a:r>
              <a:rPr lang="nl-NL" sz="1800" dirty="0">
                <a:solidFill>
                  <a:schemeClr val="accent1">
                    <a:lumMod val="75000"/>
                  </a:schemeClr>
                </a:solidFill>
                <a:latin typeface="Consolas" panose="020B0609020204030204" pitchFamily="49" charset="0"/>
              </a:rPr>
              <a:t> = </a:t>
            </a:r>
            <a:r>
              <a:rPr lang="nl-NL" sz="1800" dirty="0" err="1">
                <a:solidFill>
                  <a:schemeClr val="accent1">
                    <a:lumMod val="75000"/>
                  </a:schemeClr>
                </a:solidFill>
                <a:latin typeface="Consolas" panose="020B0609020204030204" pitchFamily="49" charset="0"/>
              </a:rPr>
              <a:t>mfsplit.split_model</a:t>
            </a:r>
            <a:r>
              <a:rPr lang="nl-NL" sz="1800" dirty="0">
                <a:solidFill>
                  <a:schemeClr val="accent1">
                    <a:lumMod val="75000"/>
                  </a:schemeClr>
                </a:solidFill>
                <a:latin typeface="Consolas" panose="020B0609020204030204" pitchFamily="49" charset="0"/>
              </a:rPr>
              <a:t>(</a:t>
            </a:r>
            <a:r>
              <a:rPr lang="nl-NL" sz="1800" dirty="0" err="1">
                <a:solidFill>
                  <a:schemeClr val="accent1">
                    <a:lumMod val="75000"/>
                  </a:schemeClr>
                </a:solidFill>
                <a:latin typeface="Consolas" panose="020B0609020204030204" pitchFamily="49" charset="0"/>
              </a:rPr>
              <a:t>split_array</a:t>
            </a:r>
            <a:r>
              <a:rPr lang="nl-NL" sz="1800" dirty="0">
                <a:solidFill>
                  <a:schemeClr val="accent1">
                    <a:lumMod val="75000"/>
                  </a:schemeClr>
                </a:solidFill>
                <a:latin typeface="Consolas" panose="020B0609020204030204" pitchFamily="49" charset="0"/>
              </a:rPr>
              <a:t>)</a:t>
            </a:r>
            <a:endParaRPr lang="en-US" sz="1800" dirty="0">
              <a:solidFill>
                <a:schemeClr val="accent1">
                  <a:lumMod val="75000"/>
                </a:schemeClr>
              </a:solidFill>
              <a:latin typeface="Consolas" panose="020B0609020204030204" pitchFamily="49" charset="0"/>
            </a:endParaRPr>
          </a:p>
          <a:p>
            <a:pPr marL="0" indent="0">
              <a:lnSpc>
                <a:spcPct val="100000"/>
              </a:lnSpc>
              <a:buNone/>
            </a:pPr>
            <a:r>
              <a:rPr lang="nl-NL" sz="2600" dirty="0">
                <a:solidFill>
                  <a:schemeClr val="tx2"/>
                </a:solidFill>
                <a:latin typeface="+mj-lt"/>
              </a:rPr>
              <a:t>…</a:t>
            </a:r>
            <a:r>
              <a:rPr lang="nl-NL" dirty="0"/>
              <a:t> </a:t>
            </a:r>
            <a:r>
              <a:rPr lang="nl-NL" sz="2600" dirty="0" err="1">
                <a:solidFill>
                  <a:schemeClr val="tx2"/>
                </a:solidFill>
                <a:latin typeface="+mj-lt"/>
              </a:rPr>
              <a:t>and</a:t>
            </a:r>
            <a:r>
              <a:rPr lang="nl-NL" sz="2600" dirty="0">
                <a:solidFill>
                  <a:schemeClr val="tx2"/>
                </a:solidFill>
                <a:latin typeface="+mj-lt"/>
              </a:rPr>
              <a:t> we </a:t>
            </a:r>
            <a:r>
              <a:rPr lang="nl-NL" sz="2600" dirty="0" err="1">
                <a:solidFill>
                  <a:schemeClr val="tx2"/>
                </a:solidFill>
                <a:latin typeface="+mj-lt"/>
              </a:rPr>
              <a:t>will</a:t>
            </a:r>
            <a:r>
              <a:rPr lang="nl-NL" sz="2600" dirty="0">
                <a:solidFill>
                  <a:schemeClr val="tx2"/>
                </a:solidFill>
                <a:latin typeface="+mj-lt"/>
              </a:rPr>
              <a:t> </a:t>
            </a:r>
            <a:r>
              <a:rPr lang="nl-NL" sz="2600" dirty="0" err="1">
                <a:solidFill>
                  <a:schemeClr val="tx2"/>
                </a:solidFill>
                <a:latin typeface="+mj-lt"/>
              </a:rPr>
              <a:t>use</a:t>
            </a:r>
            <a:r>
              <a:rPr lang="nl-NL" sz="2600" dirty="0">
                <a:solidFill>
                  <a:schemeClr val="tx2"/>
                </a:solidFill>
                <a:latin typeface="+mj-lt"/>
              </a:rPr>
              <a:t> </a:t>
            </a:r>
            <a:r>
              <a:rPr lang="nl-NL" sz="2600" dirty="0" err="1">
                <a:solidFill>
                  <a:schemeClr val="tx2"/>
                </a:solidFill>
                <a:latin typeface="+mj-lt"/>
              </a:rPr>
              <a:t>this</a:t>
            </a:r>
            <a:r>
              <a:rPr lang="nl-NL" sz="2600" dirty="0">
                <a:solidFill>
                  <a:schemeClr val="tx2"/>
                </a:solidFill>
                <a:latin typeface="+mj-lt"/>
              </a:rPr>
              <a:t> in </a:t>
            </a:r>
            <a:r>
              <a:rPr lang="nl-NL" sz="2600" dirty="0" err="1">
                <a:solidFill>
                  <a:schemeClr val="tx2"/>
                </a:solidFill>
                <a:latin typeface="+mj-lt"/>
              </a:rPr>
              <a:t>today’s</a:t>
            </a:r>
            <a:r>
              <a:rPr lang="nl-NL" sz="2600" dirty="0">
                <a:solidFill>
                  <a:schemeClr val="tx2"/>
                </a:solidFill>
                <a:latin typeface="+mj-lt"/>
              </a:rPr>
              <a:t> </a:t>
            </a:r>
            <a:r>
              <a:rPr lang="nl-NL" sz="2600" dirty="0" err="1">
                <a:solidFill>
                  <a:schemeClr val="tx2"/>
                </a:solidFill>
                <a:latin typeface="+mj-lt"/>
              </a:rPr>
              <a:t>exercise</a:t>
            </a:r>
            <a:endParaRPr lang="nl-NL" sz="2600" dirty="0">
              <a:solidFill>
                <a:schemeClr val="tx2"/>
              </a:solidFill>
              <a:latin typeface="+mj-lt"/>
            </a:endParaRPr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AB6FA87E-DFD9-55F1-76B3-36F005561B13}"/>
              </a:ext>
            </a:extLst>
          </p:cNvPr>
          <p:cNvGrpSpPr/>
          <p:nvPr/>
        </p:nvGrpSpPr>
        <p:grpSpPr>
          <a:xfrm>
            <a:off x="8242715" y="1296258"/>
            <a:ext cx="3528139" cy="2260618"/>
            <a:chOff x="7742201" y="1594642"/>
            <a:chExt cx="3528139" cy="2260618"/>
          </a:xfrm>
        </p:grpSpPr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D9DEEEFF-B353-1A6F-0968-1728D6FE06E8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7742201" y="1888353"/>
              <a:ext cx="3528139" cy="1966907"/>
            </a:xfrm>
            <a:prstGeom prst="rect">
              <a:avLst/>
            </a:prstGeom>
          </p:spPr>
        </p:pic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31D5387E-371F-AA46-3182-286032F2FE25}"/>
                </a:ext>
              </a:extLst>
            </p:cNvPr>
            <p:cNvSpPr txBox="1"/>
            <p:nvPr/>
          </p:nvSpPr>
          <p:spPr>
            <a:xfrm>
              <a:off x="8081567" y="1594642"/>
              <a:ext cx="2083857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nl-NL"/>
                <a:t>Rectangular split:</a:t>
              </a:r>
            </a:p>
          </p:txBody>
        </p:sp>
      </p:grpSp>
      <p:grpSp>
        <p:nvGrpSpPr>
          <p:cNvPr id="11" name="Group 10">
            <a:extLst>
              <a:ext uri="{FF2B5EF4-FFF2-40B4-BE49-F238E27FC236}">
                <a16:creationId xmlns:a16="http://schemas.microsoft.com/office/drawing/2014/main" id="{EFE0AF92-579E-9AD2-B500-D8D78DE56AB8}"/>
              </a:ext>
            </a:extLst>
          </p:cNvPr>
          <p:cNvGrpSpPr/>
          <p:nvPr/>
        </p:nvGrpSpPr>
        <p:grpSpPr>
          <a:xfrm>
            <a:off x="8242714" y="3905154"/>
            <a:ext cx="3528139" cy="2286508"/>
            <a:chOff x="7742200" y="4203538"/>
            <a:chExt cx="3528139" cy="2286508"/>
          </a:xfrm>
        </p:grpSpPr>
        <p:pic>
          <p:nvPicPr>
            <p:cNvPr id="7" name="Picture 6">
              <a:extLst>
                <a:ext uri="{FF2B5EF4-FFF2-40B4-BE49-F238E27FC236}">
                  <a16:creationId xmlns:a16="http://schemas.microsoft.com/office/drawing/2014/main" id="{D71F6092-1DCD-B3BD-8E63-021B2BF1F108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7742200" y="4523140"/>
              <a:ext cx="3528139" cy="1966906"/>
            </a:xfrm>
            <a:prstGeom prst="rect">
              <a:avLst/>
            </a:prstGeom>
          </p:spPr>
        </p:pic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6C1DE9FB-8E00-A599-EED0-83C2310F52CD}"/>
                </a:ext>
              </a:extLst>
            </p:cNvPr>
            <p:cNvSpPr txBox="1"/>
            <p:nvPr/>
          </p:nvSpPr>
          <p:spPr>
            <a:xfrm>
              <a:off x="8081567" y="4203538"/>
              <a:ext cx="122540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nl-NL"/>
                <a:t>Metis split: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07050828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883149A-F8BC-2B09-1DE9-95D7CB9CC8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DFEA43A-C876-8DB6-7487-48E14DDA73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b="1" dirty="0">
                <a:solidFill>
                  <a:schemeClr val="tx2"/>
                </a:solidFill>
              </a:rPr>
              <a:t>Running</a:t>
            </a:r>
            <a:r>
              <a:rPr lang="nl-NL" b="1" i="1" dirty="0">
                <a:solidFill>
                  <a:schemeClr val="tx2"/>
                </a:solidFill>
              </a:rPr>
              <a:t> Extended</a:t>
            </a:r>
            <a:r>
              <a:rPr lang="nl-NL" b="1" dirty="0">
                <a:solidFill>
                  <a:schemeClr val="tx2"/>
                </a:solidFill>
              </a:rPr>
              <a:t> MODFLOW: FloPy</a:t>
            </a:r>
            <a:endParaRPr lang="en-US" b="1" dirty="0">
              <a:solidFill>
                <a:schemeClr val="tx2"/>
              </a:solidFill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A6C261CA-6131-D1F9-A311-3120909D3760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22673" b="85476"/>
          <a:stretch>
            <a:fillRect/>
          </a:stretch>
        </p:blipFill>
        <p:spPr>
          <a:xfrm>
            <a:off x="1168266" y="2479022"/>
            <a:ext cx="7814912" cy="792418"/>
          </a:xfrm>
          <a:prstGeom prst="rect">
            <a:avLst/>
          </a:prstGeom>
        </p:spPr>
      </p:pic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7F736C60-E790-9585-6B3E-4DFC6A197B1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4"/>
            <a:ext cx="8267300" cy="5032376"/>
          </a:xfrm>
        </p:spPr>
        <p:txBody>
          <a:bodyPr>
            <a:normAutofit/>
          </a:bodyPr>
          <a:lstStyle/>
          <a:p>
            <a:r>
              <a:rPr lang="nl-NL" sz="2600" dirty="0" err="1">
                <a:solidFill>
                  <a:schemeClr val="tx2"/>
                </a:solidFill>
                <a:latin typeface="+mj-lt"/>
              </a:rPr>
              <a:t>To</a:t>
            </a:r>
            <a:r>
              <a:rPr lang="nl-NL" sz="2600" dirty="0">
                <a:solidFill>
                  <a:schemeClr val="tx2"/>
                </a:solidFill>
                <a:latin typeface="+mj-lt"/>
              </a:rPr>
              <a:t> run </a:t>
            </a:r>
            <a:r>
              <a:rPr lang="nl-NL" sz="2600" dirty="0" err="1">
                <a:solidFill>
                  <a:schemeClr val="tx2"/>
                </a:solidFill>
                <a:latin typeface="+mj-lt"/>
              </a:rPr>
              <a:t>extended</a:t>
            </a:r>
            <a:r>
              <a:rPr lang="nl-NL" sz="2600" dirty="0">
                <a:solidFill>
                  <a:schemeClr val="tx2"/>
                </a:solidFill>
                <a:latin typeface="+mj-lt"/>
              </a:rPr>
              <a:t> MODFLOW </a:t>
            </a:r>
            <a:r>
              <a:rPr lang="nl-NL" sz="2600" dirty="0" err="1">
                <a:solidFill>
                  <a:schemeClr val="tx2"/>
                </a:solidFill>
                <a:latin typeface="+mj-lt"/>
              </a:rPr>
              <a:t>from</a:t>
            </a:r>
            <a:r>
              <a:rPr lang="nl-NL" sz="2600" dirty="0">
                <a:solidFill>
                  <a:schemeClr val="tx2"/>
                </a:solidFill>
                <a:latin typeface="+mj-lt"/>
              </a:rPr>
              <a:t> FloPy on multiple </a:t>
            </a:r>
            <a:r>
              <a:rPr lang="nl-NL" sz="2600" dirty="0" err="1">
                <a:solidFill>
                  <a:schemeClr val="tx2"/>
                </a:solidFill>
                <a:latin typeface="+mj-lt"/>
              </a:rPr>
              <a:t>cores</a:t>
            </a:r>
            <a:r>
              <a:rPr lang="nl-NL" sz="2600" dirty="0">
                <a:solidFill>
                  <a:schemeClr val="tx2"/>
                </a:solidFill>
                <a:latin typeface="+mj-lt"/>
              </a:rPr>
              <a:t>:</a:t>
            </a:r>
          </a:p>
          <a:p>
            <a:endParaRPr lang="nl-NL" sz="2600" dirty="0">
              <a:solidFill>
                <a:schemeClr val="tx2"/>
              </a:solidFill>
              <a:latin typeface="+mj-lt"/>
            </a:endParaRPr>
          </a:p>
          <a:p>
            <a:endParaRPr lang="nl-NL" sz="2600" dirty="0">
              <a:solidFill>
                <a:schemeClr val="tx2"/>
              </a:solidFill>
              <a:latin typeface="+mj-lt"/>
            </a:endParaRPr>
          </a:p>
          <a:p>
            <a:endParaRPr lang="nl-NL" sz="2600" dirty="0">
              <a:solidFill>
                <a:schemeClr val="tx2"/>
              </a:solidFill>
              <a:latin typeface="+mj-lt"/>
            </a:endParaRPr>
          </a:p>
          <a:p>
            <a:r>
              <a:rPr lang="nl-NL" sz="2600" dirty="0" err="1">
                <a:solidFill>
                  <a:schemeClr val="tx2"/>
                </a:solidFill>
                <a:latin typeface="+mj-lt"/>
              </a:rPr>
              <a:t>Alternatively</a:t>
            </a:r>
            <a:r>
              <a:rPr lang="nl-NL" sz="2600" dirty="0">
                <a:solidFill>
                  <a:schemeClr val="tx2"/>
                </a:solidFill>
                <a:latin typeface="+mj-lt"/>
              </a:rPr>
              <a:t>, </a:t>
            </a:r>
            <a:r>
              <a:rPr lang="nl-NL" sz="2600" dirty="0" err="1">
                <a:solidFill>
                  <a:schemeClr val="tx2"/>
                </a:solidFill>
                <a:latin typeface="+mj-lt"/>
              </a:rPr>
              <a:t>to</a:t>
            </a:r>
            <a:r>
              <a:rPr lang="nl-NL" sz="2600" dirty="0">
                <a:solidFill>
                  <a:schemeClr val="tx2"/>
                </a:solidFill>
                <a:latin typeface="+mj-lt"/>
              </a:rPr>
              <a:t> run </a:t>
            </a:r>
            <a:r>
              <a:rPr lang="nl-NL" sz="2600" dirty="0" err="1">
                <a:solidFill>
                  <a:schemeClr val="tx2"/>
                </a:solidFill>
                <a:latin typeface="+mj-lt"/>
              </a:rPr>
              <a:t>from</a:t>
            </a:r>
            <a:r>
              <a:rPr lang="nl-NL" sz="2600" dirty="0">
                <a:solidFill>
                  <a:schemeClr val="tx2"/>
                </a:solidFill>
                <a:latin typeface="+mj-lt"/>
              </a:rPr>
              <a:t> </a:t>
            </a:r>
            <a:r>
              <a:rPr lang="nl-NL" sz="2600" dirty="0" err="1">
                <a:solidFill>
                  <a:schemeClr val="tx2"/>
                </a:solidFill>
                <a:latin typeface="+mj-lt"/>
              </a:rPr>
              <a:t>the</a:t>
            </a:r>
            <a:r>
              <a:rPr lang="nl-NL" sz="2600" dirty="0">
                <a:solidFill>
                  <a:schemeClr val="tx2"/>
                </a:solidFill>
                <a:latin typeface="+mj-lt"/>
              </a:rPr>
              <a:t> CLI:</a:t>
            </a: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80402B73-2707-C130-5EE9-3AB42C8DC37C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r="8199"/>
          <a:stretch>
            <a:fillRect/>
          </a:stretch>
        </p:blipFill>
        <p:spPr>
          <a:xfrm>
            <a:off x="1168266" y="4514937"/>
            <a:ext cx="7814911" cy="13509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5639994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46EAA71-8433-2C5B-B140-1691ABD327E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Today’s example: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AF22C4D6-62CF-2237-6D34-4B9A9B85DC1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11090" y="1433521"/>
            <a:ext cx="8145222" cy="51549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080403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37730</TotalTime>
  <Words>1248</Words>
  <Application>Microsoft Office PowerPoint</Application>
  <PresentationFormat>Widescreen</PresentationFormat>
  <Paragraphs>174</Paragraphs>
  <Slides>16</Slides>
  <Notes>11</Notes>
  <HiddenSlides>0</HiddenSlides>
  <MMClips>1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24" baseType="lpstr">
      <vt:lpstr>arial</vt:lpstr>
      <vt:lpstr>arial</vt:lpstr>
      <vt:lpstr>Calibri</vt:lpstr>
      <vt:lpstr>Calibri Light</vt:lpstr>
      <vt:lpstr>Cambria Math</vt:lpstr>
      <vt:lpstr>Consolas</vt:lpstr>
      <vt:lpstr>Google Sans</vt:lpstr>
      <vt:lpstr>Office Theme</vt:lpstr>
      <vt:lpstr>Parallel MODFLOW 6</vt:lpstr>
      <vt:lpstr>Motivation</vt:lpstr>
      <vt:lpstr>Motivation</vt:lpstr>
      <vt:lpstr>Moore’s Law</vt:lpstr>
      <vt:lpstr>Moore’s Law: the end of it…</vt:lpstr>
      <vt:lpstr>Strategy: Domain Decomposition</vt:lpstr>
      <vt:lpstr>Limit on Speedup</vt:lpstr>
      <vt:lpstr>Parallel Solution</vt:lpstr>
      <vt:lpstr>Earlier Work</vt:lpstr>
      <vt:lpstr>Framework Solution</vt:lpstr>
      <vt:lpstr>Parallel Solver: PETSc</vt:lpstr>
      <vt:lpstr>How to get Extended MODFLOW</vt:lpstr>
      <vt:lpstr>How to get Extended MODFLOW (support)</vt:lpstr>
      <vt:lpstr>FloPy Model Splitter</vt:lpstr>
      <vt:lpstr>Running Extended MODFLOW: FloPy</vt:lpstr>
      <vt:lpstr>Today’s example: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Recent MODFLOW Developments</dc:title>
  <dc:creator>Langevin, Christian D</dc:creator>
  <cp:lastModifiedBy>Martijn Russcher</cp:lastModifiedBy>
  <cp:revision>453</cp:revision>
  <dcterms:created xsi:type="dcterms:W3CDTF">2023-08-03T18:21:27Z</dcterms:created>
  <dcterms:modified xsi:type="dcterms:W3CDTF">2026-06-05T19:19:52Z</dcterms:modified>
</cp:coreProperties>
</file>