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49" r:id="rId2"/>
    <p:sldId id="257" r:id="rId3"/>
    <p:sldId id="1276" r:id="rId4"/>
    <p:sldId id="273" r:id="rId5"/>
    <p:sldId id="344" r:id="rId6"/>
    <p:sldId id="313" r:id="rId7"/>
    <p:sldId id="326" r:id="rId8"/>
    <p:sldId id="325" r:id="rId9"/>
    <p:sldId id="318" r:id="rId10"/>
    <p:sldId id="328" r:id="rId11"/>
    <p:sldId id="329" r:id="rId12"/>
    <p:sldId id="319" r:id="rId13"/>
    <p:sldId id="1275" r:id="rId14"/>
    <p:sldId id="1274" r:id="rId15"/>
    <p:sldId id="347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8F2"/>
    <a:srgbClr val="44546A"/>
    <a:srgbClr val="FF9300"/>
    <a:srgbClr val="8EFA00"/>
    <a:srgbClr val="942093"/>
    <a:srgbClr val="FF40FF"/>
    <a:srgbClr val="C55A11"/>
    <a:srgbClr val="B5C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154" autoAdjust="0"/>
  </p:normalViewPr>
  <p:slideViewPr>
    <p:cSldViewPr snapToGrid="0">
      <p:cViewPr varScale="1">
        <p:scale>
          <a:sx n="109" d="100"/>
          <a:sy n="109" d="100"/>
        </p:scale>
        <p:origin x="672" y="318"/>
      </p:cViewPr>
      <p:guideLst/>
    </p:cSldViewPr>
  </p:slideViewPr>
  <p:outlineViewPr>
    <p:cViewPr>
      <p:scale>
        <a:sx n="70" d="100"/>
        <a:sy n="70" d="100"/>
      </p:scale>
      <p:origin x="0" y="-1124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>
      <p:cViewPr varScale="1">
        <p:scale>
          <a:sx n="113" d="100"/>
          <a:sy n="113" d="100"/>
        </p:scale>
        <p:origin x="404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C8313F-D05C-C337-E252-E1E3FE865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EA401-5067-B88B-93B3-4EEC3A925E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63D62-7C6B-264D-BF2A-05C19DE988B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95B1C-FD8B-50F7-EFEC-03621E0B1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3109D-946D-559E-A239-2B91021D61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BBDBE-8D52-E643-94CC-D19241D4B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7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C126-02B6-B04E-9248-119CAF66266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511F-89AD-4F41-8904-318FB6FBD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0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511F-89AD-4F41-8904-318FB6FBD1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84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E3956-8282-4F35-BBF9-4A117B2EA08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1931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Processor frequency saturates</a:t>
            </a:r>
          </a:p>
          <a:p>
            <a:r>
              <a:rPr lang="en-US"/>
              <a:t>Transistors go up, but because of cores: need parallel software to leverage that trend</a:t>
            </a:r>
          </a:p>
          <a:p>
            <a:endParaRPr lang="en-US"/>
          </a:p>
          <a:p>
            <a:r>
              <a:rPr lang="en-US" sz="1000"/>
              <a:t>(Why haven’t clock speeds increased, even though transistors have continued to shrink?</a:t>
            </a:r>
            <a:endParaRPr lang="en-US" sz="1000" b="0" i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en-US" sz="1000" b="0" i="0">
              <a:solidFill>
                <a:srgbClr val="202124"/>
              </a:solidFill>
              <a:effectLst/>
              <a:latin typeface="Google Sans"/>
            </a:endParaRPr>
          </a:p>
          <a:p>
            <a:r>
              <a:rPr lang="en-US" sz="1000" b="0" i="0">
                <a:solidFill>
                  <a:srgbClr val="202124"/>
                </a:solidFill>
                <a:effectLst/>
                <a:latin typeface="Google Sans"/>
              </a:rPr>
              <a:t>Dennard Scaling postulated that </a:t>
            </a:r>
            <a:r>
              <a:rPr lang="en-US" sz="1000" b="0" i="0">
                <a:solidFill>
                  <a:srgbClr val="040C28"/>
                </a:solidFill>
                <a:effectLst/>
                <a:latin typeface="Google Sans"/>
              </a:rPr>
              <a:t>as </a:t>
            </a:r>
            <a:r>
              <a:rPr lang="en-US" sz="1000" b="1" i="0">
                <a:solidFill>
                  <a:srgbClr val="040C28"/>
                </a:solidFill>
                <a:effectLst/>
                <a:latin typeface="Google Sans"/>
              </a:rPr>
              <a:t>transistors get smaller their power density stays constant</a:t>
            </a:r>
            <a:r>
              <a:rPr lang="en-US" sz="1000" b="0" i="0">
                <a:solidFill>
                  <a:srgbClr val="040C28"/>
                </a:solidFill>
                <a:effectLst/>
                <a:latin typeface="Google Sans"/>
              </a:rPr>
              <a:t>, so that the power use stays in proportion with area</a:t>
            </a:r>
            <a:r>
              <a:rPr lang="en-US" sz="1000" b="0" i="0">
                <a:solidFill>
                  <a:srgbClr val="202124"/>
                </a:solidFill>
                <a:effectLst/>
                <a:latin typeface="Google Sans"/>
              </a:rPr>
              <a:t>. This allowed CPU manufacturers to raise clock frequencies from one generation to the next without significantly increasing overall circuit power consumption. </a:t>
            </a:r>
            <a:r>
              <a:rPr lang="en-US" sz="1000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But there was a limit to how long this would last. Smaller devices with thinner dielectrics and shorter channels are more prone to leakage.)</a:t>
            </a:r>
            <a:endParaRPr lang="nl-NL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E3956-8282-4F35-BBF9-4A117B2EA08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3382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3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much faster can you get?</a:t>
            </a:r>
          </a:p>
          <a:p>
            <a:endParaRPr lang="en-US"/>
          </a:p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E3956-8282-4F35-BBF9-4A117B2EA08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0595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 the decomposed domain by:</a:t>
            </a:r>
          </a:p>
          <a:p>
            <a:r>
              <a:rPr lang="en-US" dirty="0"/>
              <a:t>A = M – N means in this case we apply the diagonal to M and N is the cross terms in the matrix (aka. Regular splitting or Block-Jacobi method).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54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USGS - Deltares working together on parallelization since 2017 (and first discussion in 2010 even)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Earlier work shows promising performance improvements for real, integrated (5 different codes) national-scale simulation (2021)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Global groundwater simulation with a MODFLOW 6 prototype (2024)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Still it has taken some time to have this available in the core version, because more work was needed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To come up with a </a:t>
            </a:r>
            <a:r>
              <a:rPr lang="en-US" b="1"/>
              <a:t>framework solution</a:t>
            </a:r>
            <a:r>
              <a:rPr lang="en-US" b="0"/>
              <a:t>, that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/>
              <a:t>works for all model types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/>
              <a:t>is feature complete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/>
              <a:t>supports a separation of concerns such that the parallel details in the code are isolated from the hydrologic concepts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/>
              <a:t>Has MODFLOW distributable in its core set of functionality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/>
              <a:t>FloPy 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20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MODFLOW was designed for domain decomposition</a:t>
            </a:r>
          </a:p>
          <a:p>
            <a:r>
              <a:rPr lang="en-US"/>
              <a:t>Tight coupling at the matrix level through used defined exchanges with connection data</a:t>
            </a:r>
          </a:p>
          <a:p>
            <a:endParaRPr lang="en-US"/>
          </a:p>
          <a:p>
            <a:r>
              <a:rPr lang="en-US"/>
              <a:t>Three building blocks to the method, all of them require no extra work or input from the modeler</a:t>
            </a:r>
          </a:p>
          <a:p>
            <a:r>
              <a:rPr lang="en-US"/>
              <a:t>Let’s have a look at those…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05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MODFLOW parallel is not standalone, third party libraries are needed. Mostly MPI and PETSc.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6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CA4D-CC6F-E2F8-2798-62328873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02CFF-42BD-3634-5E1C-9A26663CA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6326C-03FE-25D7-A105-E66DCFAE8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MODFLOW parallel is not standalone, third party libraries are needed. Mostly MPI and PETSc.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96E0C-227B-CADD-7E16-D62F09121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9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286B-97A9-3EB4-BC16-766099628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46381-8DCC-4225-F7D2-967BA2B1C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DCE41-B4B9-DA9F-BE72-893BCC566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MODFLOW parallel is not standalone, third party libraries are needed. Mostly MPI and PETSc.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0491E-2D39-2FB8-92A3-657C471C0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8386C-EF32-41E6-A110-2ABAB8E463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6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EE73-9F0D-9CBA-3E3F-2C75F8645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D58D-93DB-5F5B-5B09-FEAB4BFE5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AEFB6-4B37-A1C2-8570-B7DDBFA0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6C952-1334-8537-4A9E-E4697874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AB28-6ABA-5C59-637C-448DAA1F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9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758B-1656-5C01-3165-EC2E664A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27428-7273-6203-196A-970C71716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6C70-ABF9-EBEF-AAA8-4DB65304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E0231-47C2-F50F-8779-D0032288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15FBE-39AA-2D88-CD95-8FFF78B2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3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6C50-98E8-A5C6-3381-1CE0C27F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F142F-894D-AA7C-DBC8-032FC9557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BBF5A-F203-4FDF-CC58-2586231E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9721F-24AE-271F-2CE4-68941A8B0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6FAD1-05BB-5421-188C-26183E6C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5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5A4F-1513-74AD-7E4C-B0921066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35B28-8AF0-B98E-259C-54573A7213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B17B4-C0C0-2FF7-503B-D5018910B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F2D3E-619A-77B5-ED03-96059273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47F80-621F-443D-6A38-1C1B067A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847A3-5DA8-8DCC-691C-1B8811C1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3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733B-5A0E-A74B-E3C9-B5129D7E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72441-F4FF-AFCD-E68F-7EDEF9A2B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6572C-C462-7A4B-0229-7060B0AC4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B84DC-1E7F-9F05-F755-6F723697B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577C6-B025-863A-656E-13F97C172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20F7D-53FC-B3E7-B652-E59B8844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08136-3B4C-3D35-1E5F-7C5A6925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9EEF81-E836-0823-A1BD-BEAA4268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4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C814-18D4-9D2C-3DF6-FB2010C0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CDF83-2EA6-3B85-8246-698396BBE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4A7FB-91BB-B298-B0D0-A8E1886B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1906E-96F2-3C63-FA50-5A9C9551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8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5B91C-A436-E67B-375F-F8635897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79893-3503-01CE-9B96-58B504D2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38A99-1DA8-2FB6-88F5-8EDD6288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7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D06B-7469-0F36-BC4B-D296A420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C4D9-0FC2-7953-723A-E6E2FDE8E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8BE90-1EE5-689D-5871-D7133D893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990BA-E436-9EED-E3A2-043FD6E5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F6BC8-4ECD-5F99-7BCA-39426332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F4330-289B-420D-E538-7E1BC593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1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9BF4-8227-A005-E63F-FBB9832C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28981-2D66-D5A6-1311-C3246C575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D3A4D-659E-8B0F-78D8-0F13E57E3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979F-B8FB-B83A-2A56-4886F863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5C9F7-013A-5504-EC01-14566EE7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4B9F1-21AA-8626-D17C-F20B7BE8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6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405E-AB6E-4E4F-EBAC-1C74A0A3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D0ACE-800C-8BE5-1782-0864B5AA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5567C-96EF-9E0F-113E-2A81F8D9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D8CE6-8BAD-E494-C669-63CB0395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19E4B-BE1C-F3C9-BBFE-A49C71FE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1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0D1714-7553-D80A-1AF7-FBB00BB21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E473E-D85D-EBE7-4FD7-62BA6766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72556-B7A0-B69E-16DC-D8676826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4357B-FBA1-9CE8-47F0-BC0E96FC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8319-3ABE-64F5-5371-6389D40D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2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36C90-ECBD-AECC-D49D-BEDC74C8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A6B6-BF89-3BF2-96C8-B6ABF0095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5B357-5985-0DB7-B224-3AB9F23A9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65F58-1F49-BE46-832A-FEA09DF095B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2BFDF-6476-53CD-0FDA-2049F89AB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FB41C-FD52-923F-9BA6-264FE8E27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AFF3A-B64C-FB47-98BE-2C7E8432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7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4" Type="http://schemas.openxmlformats.org/officeDocument/2006/relationships/image" Target="../media/image2.tiff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85F4-E37D-08BC-B81D-696371842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8760"/>
            <a:ext cx="9144000" cy="780715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Parallel MODFLOW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6E247-343B-E9C1-80E4-E327ED132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26805"/>
            <a:ext cx="9144000" cy="673079"/>
          </a:xfrm>
        </p:spPr>
        <p:txBody>
          <a:bodyPr>
            <a:noAutofit/>
          </a:bodyPr>
          <a:lstStyle/>
          <a:p>
            <a:r>
              <a:rPr lang="en-US" sz="1600" b="1" dirty="0"/>
              <a:t>By the MODFLOW Development Team</a:t>
            </a:r>
          </a:p>
          <a:p>
            <a:r>
              <a:rPr lang="en-US" sz="1600" b="1" dirty="0"/>
              <a:t>September 15-17, 2026</a:t>
            </a:r>
          </a:p>
        </p:txBody>
      </p:sp>
      <p:pic>
        <p:nvPicPr>
          <p:cNvPr id="15" name="Picture 14" descr="tom_analog_1978">
            <a:extLst>
              <a:ext uri="{FF2B5EF4-FFF2-40B4-BE49-F238E27FC236}">
                <a16:creationId xmlns:a16="http://schemas.microsoft.com/office/drawing/2014/main" id="{52B37853-4E59-185C-9FB9-D429BE189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486608" y="3238270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ffectLst>
            <a:glow>
              <a:schemeClr val="accent1"/>
            </a:glo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4B3760-DB3B-50E1-7AB2-7D6777C073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"/>
          <a:stretch/>
        </p:blipFill>
        <p:spPr>
          <a:xfrm>
            <a:off x="2439068" y="3293357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117932-75EA-B0AF-4A6B-37E1D93D186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8296448" y="3315423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  <a:effectLst>
            <a:glow>
              <a:srgbClr val="FFFF00"/>
            </a:glow>
            <a:reflection endPos="0" dist="508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355003-9E36-7400-2394-0A3B7B14123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91528" y="3315423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C060E891-3C90-9942-EFAB-FC69FE47A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43988" y="3301929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9D12B1-D935-CF94-629F-70E2E678634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10248906" y="3315423"/>
            <a:ext cx="1600200" cy="16002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effectLst>
            <a:glow>
              <a:schemeClr val="accent1"/>
            </a:glow>
            <a:reflection endPos="0" dist="508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16268C-44BD-5DB0-61A6-E4470305D0F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968" y="6114309"/>
            <a:ext cx="1509138" cy="60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05F2AB-931E-B285-D605-C0EFC93D069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805" y="6076364"/>
            <a:ext cx="2090909" cy="679545"/>
          </a:xfrm>
          <a:prstGeom prst="rect">
            <a:avLst/>
          </a:prstGeom>
        </p:spPr>
      </p:pic>
      <p:pic>
        <p:nvPicPr>
          <p:cNvPr id="6" name="Picture 2" descr="S.S. Papadopulos &amp; Associates, Inc">
            <a:extLst>
              <a:ext uri="{FF2B5EF4-FFF2-40B4-BE49-F238E27FC236}">
                <a16:creationId xmlns:a16="http://schemas.microsoft.com/office/drawing/2014/main" id="{722A44AC-28A0-8C07-D625-54E1E6CB82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73" b="17806"/>
          <a:stretch>
            <a:fillRect/>
          </a:stretch>
        </p:blipFill>
        <p:spPr bwMode="auto">
          <a:xfrm>
            <a:off x="6278187" y="5875287"/>
            <a:ext cx="1455414" cy="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Our structure | University Corporation for Atmospheric Research">
            <a:extLst>
              <a:ext uri="{FF2B5EF4-FFF2-40B4-BE49-F238E27FC236}">
                <a16:creationId xmlns:a16="http://schemas.microsoft.com/office/drawing/2014/main" id="{42DA06A1-C5A8-6D61-7D2E-D4886F67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22385" y="5975541"/>
            <a:ext cx="1828800" cy="6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TERA Incorporated | LinkedIn">
            <a:extLst>
              <a:ext uri="{FF2B5EF4-FFF2-40B4-BE49-F238E27FC236}">
                <a16:creationId xmlns:a16="http://schemas.microsoft.com/office/drawing/2014/main" id="{D5CC6A3D-DBA6-4D92-0986-F63BB1B41A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74027" y="5833132"/>
            <a:ext cx="1415376" cy="9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GSI Environmental Inc. | LinkedIn">
            <a:extLst>
              <a:ext uri="{FF2B5EF4-FFF2-40B4-BE49-F238E27FC236}">
                <a16:creationId xmlns:a16="http://schemas.microsoft.com/office/drawing/2014/main" id="{2224CE58-04AA-AF4C-3F19-A2A295669F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21498" y="6009923"/>
            <a:ext cx="1363745" cy="71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859832-B62F-124E-34D2-C178E317FC2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213"/>
          <a:stretch>
            <a:fillRect/>
          </a:stretch>
        </p:blipFill>
        <p:spPr>
          <a:xfrm>
            <a:off x="-392856" y="11166"/>
            <a:ext cx="12584856" cy="16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2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AA71-8433-2C5B-B140-1691ABD3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Motivation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4D7D77-5F49-52BF-4467-360054063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214" y="1818248"/>
            <a:ext cx="6277355" cy="146700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/>
                </a:solidFill>
                <a:latin typeface="+mj-lt"/>
              </a:rPr>
              <a:t>Large national/continental scale models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High resolution, regional models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Variable Density flow</a:t>
            </a:r>
          </a:p>
          <a:p>
            <a:endParaRPr lang="en-US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CD80EB-FC67-AD3F-ECC3-23EDE67B391F}"/>
              </a:ext>
            </a:extLst>
          </p:cNvPr>
          <p:cNvGrpSpPr/>
          <p:nvPr/>
        </p:nvGrpSpPr>
        <p:grpSpPr>
          <a:xfrm>
            <a:off x="7770078" y="4091511"/>
            <a:ext cx="3691128" cy="2589171"/>
            <a:chOff x="8355618" y="1332272"/>
            <a:chExt cx="3691128" cy="2589171"/>
          </a:xfrm>
        </p:grpSpPr>
        <p:pic>
          <p:nvPicPr>
            <p:cNvPr id="1026" name="Picture 1">
              <a:extLst>
                <a:ext uri="{FF2B5EF4-FFF2-40B4-BE49-F238E27FC236}">
                  <a16:creationId xmlns:a16="http://schemas.microsoft.com/office/drawing/2014/main" id="{6E1BE0EC-FE6B-E696-A144-FABA55A67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5618" y="1332272"/>
              <a:ext cx="3691128" cy="2070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DF04DF5-998D-1CC9-F902-B6B366AD6EAC}"/>
                </a:ext>
              </a:extLst>
            </p:cNvPr>
            <p:cNvSpPr txBox="1"/>
            <p:nvPr/>
          </p:nvSpPr>
          <p:spPr>
            <a:xfrm>
              <a:off x="8817395" y="3429000"/>
              <a:ext cx="3222205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/>
                <a:t>Model of a Regional Groundwater Basin in Southern California</a:t>
              </a:r>
              <a:r>
                <a:rPr lang="en-US" sz="1400" dirty="0"/>
                <a:t>, Tetra Tech 2023</a:t>
              </a:r>
              <a:endParaRPr lang="nl-NL" sz="1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C5C255-DCC5-910D-73FF-588DCB556BD5}"/>
              </a:ext>
            </a:extLst>
          </p:cNvPr>
          <p:cNvGrpSpPr/>
          <p:nvPr/>
        </p:nvGrpSpPr>
        <p:grpSpPr>
          <a:xfrm>
            <a:off x="7105550" y="1278635"/>
            <a:ext cx="4810957" cy="2706164"/>
            <a:chOff x="-104902" y="3581400"/>
            <a:chExt cx="4810957" cy="2706164"/>
          </a:xfrm>
        </p:grpSpPr>
        <p:pic>
          <p:nvPicPr>
            <p:cNvPr id="8" name="Picture 7" descr="A map of the united states&#10;&#10;Description automatically generated">
              <a:extLst>
                <a:ext uri="{FF2B5EF4-FFF2-40B4-BE49-F238E27FC236}">
                  <a16:creationId xmlns:a16="http://schemas.microsoft.com/office/drawing/2014/main" id="{611F4F33-4581-693F-6ECB-E17EA3051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4902" y="3581400"/>
              <a:ext cx="4810957" cy="270616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B5FBF-D05B-678C-886F-B414CCF940AA}"/>
                </a:ext>
              </a:extLst>
            </p:cNvPr>
            <p:cNvSpPr txBox="1"/>
            <p:nvPr/>
          </p:nvSpPr>
          <p:spPr>
            <a:xfrm>
              <a:off x="2416913" y="3915158"/>
              <a:ext cx="1618678" cy="6463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sz="1200" dirty="0"/>
                <a:t>CONUS </a:t>
              </a:r>
              <a:r>
                <a:rPr lang="nl-NL" sz="1200" dirty="0" err="1"/>
                <a:t>runtimes</a:t>
              </a:r>
              <a:r>
                <a:rPr lang="nl-NL" sz="1200" dirty="0"/>
                <a:t>:</a:t>
              </a:r>
            </a:p>
            <a:p>
              <a:r>
                <a:rPr lang="nl-NL" sz="1200" dirty="0"/>
                <a:t>      1* </a:t>
              </a:r>
              <a:r>
                <a:rPr lang="nl-NL" sz="1200" dirty="0" err="1"/>
                <a:t>core</a:t>
              </a:r>
              <a:r>
                <a:rPr lang="nl-NL" sz="1200" dirty="0"/>
                <a:t>:    &gt; 250 </a:t>
              </a:r>
              <a:r>
                <a:rPr lang="nl-NL" sz="1200" dirty="0" err="1"/>
                <a:t>hrs</a:t>
              </a:r>
              <a:endParaRPr lang="nl-NL" sz="1200" dirty="0"/>
            </a:p>
            <a:p>
              <a:r>
                <a:rPr lang="nl-NL" sz="1200" dirty="0"/>
                <a:t>250 </a:t>
              </a:r>
              <a:r>
                <a:rPr lang="nl-NL" sz="1200" dirty="0" err="1"/>
                <a:t>cores</a:t>
              </a:r>
              <a:r>
                <a:rPr lang="nl-NL" sz="1200" dirty="0"/>
                <a:t>:   1.7 </a:t>
              </a:r>
              <a:r>
                <a:rPr lang="nl-NL" sz="1200" dirty="0" err="1"/>
                <a:t>hrs</a:t>
              </a:r>
              <a:endParaRPr lang="nl-NL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D4F83F-9F5E-3821-5412-54F5B53F8E17}"/>
              </a:ext>
            </a:extLst>
          </p:cNvPr>
          <p:cNvGrpSpPr/>
          <p:nvPr/>
        </p:nvGrpSpPr>
        <p:grpSpPr>
          <a:xfrm>
            <a:off x="2321540" y="3216440"/>
            <a:ext cx="3511684" cy="3538045"/>
            <a:chOff x="2321540" y="3216440"/>
            <a:chExt cx="3511684" cy="3538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C0B3C4E-8CA6-5376-95E2-09194FD36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1540" y="3216440"/>
              <a:ext cx="3511684" cy="30188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194CAD-FB38-2BDD-34DD-098E483E63D5}"/>
                </a:ext>
              </a:extLst>
            </p:cNvPr>
            <p:cNvSpPr txBox="1"/>
            <p:nvPr/>
          </p:nvSpPr>
          <p:spPr>
            <a:xfrm>
              <a:off x="2576788" y="6231265"/>
              <a:ext cx="322220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/>
                <a:t>Variable Density model for the Belgian coast</a:t>
              </a:r>
              <a:r>
                <a:rPr lang="en-US" sz="1400" dirty="0"/>
                <a:t>, Delsman et al., Deltares 2025.</a:t>
              </a:r>
              <a:endParaRPr lang="nl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5696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D4822-B3A9-9F0E-10D6-FAADB735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590A-9DD2-F0BC-C332-DE9C851F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Motivation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D680D9A-A803-D444-6141-854EC8C86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214" y="1818248"/>
            <a:ext cx="9740706" cy="14670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+mj-lt"/>
              </a:rPr>
              <a:t>High accuracy studies, e.g., Salt Lake example: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+mj-lt"/>
              </a:rPr>
              <a:t>	</a:t>
            </a:r>
            <a:r>
              <a:rPr lang="en-GB" dirty="0">
                <a:solidFill>
                  <a:schemeClr val="tx2"/>
                </a:solidFill>
                <a:latin typeface="+mj-lt"/>
              </a:rPr>
              <a:t>Coupled variable density flow (Hele-Shaw)</a:t>
            </a:r>
            <a:endParaRPr lang="nl-NL" dirty="0">
              <a:solidFill>
                <a:schemeClr val="tx2"/>
              </a:solidFill>
              <a:latin typeface="+mj-lt"/>
            </a:endParaRPr>
          </a:p>
          <a:p>
            <a:endParaRPr lang="en-US" dirty="0">
              <a:solidFill>
                <a:schemeClr val="tx2"/>
              </a:solidFill>
              <a:latin typeface="+mj-lt"/>
            </a:endParaRPr>
          </a:p>
          <a:p>
            <a:endParaRPr lang="en-US" dirty="0">
              <a:solidFill>
                <a:schemeClr val="tx2"/>
              </a:solidFill>
              <a:latin typeface="+mj-lt"/>
            </a:endParaRPr>
          </a:p>
          <a:p>
            <a:endParaRPr lang="en-US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4" name="animation">
            <a:hlinkClick r:id="" action="ppaction://media"/>
            <a:extLst>
              <a:ext uri="{FF2B5EF4-FFF2-40B4-BE49-F238E27FC236}">
                <a16:creationId xmlns:a16="http://schemas.microsoft.com/office/drawing/2014/main" id="{A3C01B04-D42B-75E3-7A06-8A80328829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5822" y="2849252"/>
            <a:ext cx="6732846" cy="2885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E4CFDF-0DDB-428A-632A-1AE23D16C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462" y="2849252"/>
            <a:ext cx="5406930" cy="1691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2DD8E6-AE84-F8F5-DE08-7F6AEB34D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657" y="1593407"/>
            <a:ext cx="8859862" cy="49967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E22D63-54AE-F6C9-F095-A1E63054B952}"/>
              </a:ext>
            </a:extLst>
          </p:cNvPr>
          <p:cNvSpPr txBox="1"/>
          <p:nvPr/>
        </p:nvSpPr>
        <p:spPr>
          <a:xfrm>
            <a:off x="4475747" y="1027906"/>
            <a:ext cx="7716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000" dirty="0"/>
              <a:t>https://modflow6-examples.readthedocs.io/en/master/examples.html</a:t>
            </a:r>
          </a:p>
        </p:txBody>
      </p:sp>
    </p:spTree>
    <p:extLst>
      <p:ext uri="{BB962C8B-B14F-4D97-AF65-F5344CB8AC3E}">
        <p14:creationId xmlns:p14="http://schemas.microsoft.com/office/powerpoint/2010/main" val="268627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196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0472-9227-010B-B05D-5FB55A2F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Moore’s Law</a:t>
            </a:r>
            <a:endParaRPr lang="nl-NL" b="1">
              <a:solidFill>
                <a:schemeClr val="tx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DC5B3D-0DF8-B202-2A55-CF7832E736C4}"/>
              </a:ext>
            </a:extLst>
          </p:cNvPr>
          <p:cNvGrpSpPr/>
          <p:nvPr/>
        </p:nvGrpSpPr>
        <p:grpSpPr>
          <a:xfrm>
            <a:off x="7005490" y="1988496"/>
            <a:ext cx="4110182" cy="3372054"/>
            <a:chOff x="-321453" y="3112290"/>
            <a:chExt cx="4110182" cy="3372054"/>
          </a:xfrm>
          <a:solidFill>
            <a:schemeClr val="bg1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6ADE5DC-F611-B1D0-ABA5-CC234245981E}"/>
                </a:ext>
              </a:extLst>
            </p:cNvPr>
            <p:cNvGrpSpPr/>
            <p:nvPr/>
          </p:nvGrpSpPr>
          <p:grpSpPr>
            <a:xfrm>
              <a:off x="-321453" y="3112290"/>
              <a:ext cx="4110182" cy="3372054"/>
              <a:chOff x="452582" y="2474599"/>
              <a:chExt cx="4110182" cy="3372054"/>
            </a:xfrm>
            <a:grpFill/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7B7E838-A4A8-5192-25C6-4C693CC9F653}"/>
                  </a:ext>
                </a:extLst>
              </p:cNvPr>
              <p:cNvSpPr/>
              <p:nvPr/>
            </p:nvSpPr>
            <p:spPr>
              <a:xfrm>
                <a:off x="452582" y="2474599"/>
                <a:ext cx="4110182" cy="3372054"/>
              </a:xfrm>
              <a:prstGeom prst="rect">
                <a:avLst/>
              </a:prstGeom>
              <a:grp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6B3A28A-B149-B2EA-E6BD-C1423C2A39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11578"/>
              <a:stretch/>
            </p:blipFill>
            <p:spPr>
              <a:xfrm>
                <a:off x="532483" y="2775663"/>
                <a:ext cx="3812428" cy="1094773"/>
              </a:xfrm>
              <a:prstGeom prst="rect">
                <a:avLst/>
              </a:prstGeom>
              <a:grpFill/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2F77F76-B587-9E82-4BB8-2DC338E39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2483" y="4002911"/>
                <a:ext cx="3914775" cy="952500"/>
              </a:xfrm>
              <a:prstGeom prst="rect">
                <a:avLst/>
              </a:prstGeom>
              <a:grpFill/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1997B6-3BE5-636F-2DF2-9F5122BEEA52}"/>
                </a:ext>
              </a:extLst>
            </p:cNvPr>
            <p:cNvSpPr txBox="1"/>
            <p:nvPr/>
          </p:nvSpPr>
          <p:spPr>
            <a:xfrm>
              <a:off x="-127496" y="6041630"/>
              <a:ext cx="3616720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1400"/>
                <a:t>from </a:t>
              </a:r>
              <a:r>
                <a:rPr lang="en-US" sz="1400" i="1"/>
                <a:t>Electronics</a:t>
              </a:r>
              <a:r>
                <a:rPr lang="en-US" sz="1400"/>
                <a:t>, pp. 114–117, April 19, 1965</a:t>
              </a:r>
              <a:endParaRPr lang="nl-NL" sz="14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B6F2584-C65F-F5F5-552F-5C3C10041758}"/>
              </a:ext>
            </a:extLst>
          </p:cNvPr>
          <p:cNvSpPr txBox="1"/>
          <p:nvPr/>
        </p:nvSpPr>
        <p:spPr>
          <a:xfrm>
            <a:off x="985130" y="5473692"/>
            <a:ext cx="4064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Gordon Moore (1929-2023)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4B4E7-CA54-33D5-41AB-2F916C6AF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130" y="1924500"/>
            <a:ext cx="5630813" cy="350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0 Years of Microprocessor Trend Data Chart">
            <a:extLst>
              <a:ext uri="{FF2B5EF4-FFF2-40B4-BE49-F238E27FC236}">
                <a16:creationId xmlns:a16="http://schemas.microsoft.com/office/drawing/2014/main" id="{26EEDDAA-20FC-47CF-C2A1-2E2506E8A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50" y="1126881"/>
            <a:ext cx="7367592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B30472-9227-010B-B05D-5FB55A2F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2"/>
                </a:solidFill>
              </a:rPr>
              <a:t>Moore’s Law: the end of it…</a:t>
            </a:r>
            <a:endParaRPr lang="nl-NL" b="1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D6571D-76CB-BF3B-6123-150BD1363EA5}"/>
              </a:ext>
            </a:extLst>
          </p:cNvPr>
          <p:cNvGrpSpPr/>
          <p:nvPr/>
        </p:nvGrpSpPr>
        <p:grpSpPr>
          <a:xfrm>
            <a:off x="2718852" y="2611878"/>
            <a:ext cx="7558590" cy="972150"/>
            <a:chOff x="2718852" y="2611878"/>
            <a:chExt cx="7558590" cy="9721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E41607-7DEE-9683-D680-3FE05E6B894F}"/>
                </a:ext>
              </a:extLst>
            </p:cNvPr>
            <p:cNvSpPr txBox="1"/>
            <p:nvPr/>
          </p:nvSpPr>
          <p:spPr>
            <a:xfrm>
              <a:off x="2718852" y="2611878"/>
              <a:ext cx="3377148" cy="70788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Processor frequency saturates, we need something else…</a:t>
              </a:r>
              <a:endParaRPr lang="nl-NL" sz="2000" dirty="0">
                <a:solidFill>
                  <a:schemeClr val="tx2"/>
                </a:solidFill>
                <a:latin typeface="+mj-lt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2EED85-B0EE-1801-12F7-83677C4B32D0}"/>
                </a:ext>
              </a:extLst>
            </p:cNvPr>
            <p:cNvCxnSpPr/>
            <p:nvPr/>
          </p:nvCxnSpPr>
          <p:spPr>
            <a:xfrm>
              <a:off x="3829626" y="3584028"/>
              <a:ext cx="6447816" cy="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697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7355-FF35-4CC6-AC4C-14880046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solidFill>
                  <a:schemeClr val="tx2"/>
                </a:solidFill>
              </a:rPr>
              <a:t>Strategy: Domain Decomposition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0AF015E9-DD97-0F00-2064-2375ED8A0F26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4878133" cy="49034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solidFill>
                  <a:schemeClr val="tx2"/>
                </a:solidFill>
                <a:latin typeface="+mj-lt"/>
              </a:rPr>
              <a:t>Instead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of running a model on 1 processor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core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 …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… distribute over many cores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Exchange of data at the domain interface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Efficiency affected by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+mj-lt"/>
              </a:rPr>
              <a:t>Amount of communication between domains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+mj-lt"/>
              </a:rPr>
              <a:t>Load imbalance: solution of multiple domains proceeds in lock step…</a:t>
            </a:r>
          </a:p>
          <a:p>
            <a:r>
              <a:rPr lang="en-US" dirty="0">
                <a:solidFill>
                  <a:schemeClr val="tx2"/>
                </a:solidFill>
                <a:latin typeface="+mj-lt"/>
              </a:rPr>
              <a:t>Advantage: within each individual domain MODFLOW runs as usual: minimally invasive!</a:t>
            </a:r>
            <a:endParaRPr lang="nl-NL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B66FDE-578E-0F00-29E0-2EB1AFC655F0}"/>
              </a:ext>
            </a:extLst>
          </p:cNvPr>
          <p:cNvGrpSpPr/>
          <p:nvPr/>
        </p:nvGrpSpPr>
        <p:grpSpPr>
          <a:xfrm>
            <a:off x="5808388" y="1690688"/>
            <a:ext cx="4973656" cy="2187976"/>
            <a:chOff x="5808388" y="1690688"/>
            <a:chExt cx="4973656" cy="21879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8BBB7C-74A2-F7D8-9025-3F34107AFB0B}"/>
                </a:ext>
              </a:extLst>
            </p:cNvPr>
            <p:cNvGrpSpPr/>
            <p:nvPr/>
          </p:nvGrpSpPr>
          <p:grpSpPr>
            <a:xfrm>
              <a:off x="5808388" y="1690688"/>
              <a:ext cx="3573631" cy="2187976"/>
              <a:chOff x="838200" y="1367621"/>
              <a:chExt cx="4732283" cy="277315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9E4FCD3-2B8C-8C5E-A08D-793E32B0DD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9407"/>
              <a:stretch/>
            </p:blipFill>
            <p:spPr>
              <a:xfrm>
                <a:off x="838200" y="1367621"/>
                <a:ext cx="4732283" cy="277315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89A83F9-6C7C-ABF8-B227-8BDD7504CEE6}"/>
                  </a:ext>
                </a:extLst>
              </p:cNvPr>
              <p:cNvSpPr/>
              <p:nvPr/>
            </p:nvSpPr>
            <p:spPr>
              <a:xfrm>
                <a:off x="2767263" y="1367621"/>
                <a:ext cx="1191126" cy="1603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pic>
          <p:nvPicPr>
            <p:cNvPr id="27" name="Picture 4" descr="Computer, desktop, internet, monitor, pc, technology, windows computer icon  - Download on Iconfinder">
              <a:extLst>
                <a:ext uri="{FF2B5EF4-FFF2-40B4-BE49-F238E27FC236}">
                  <a16:creationId xmlns:a16="http://schemas.microsoft.com/office/drawing/2014/main" id="{A12FFE68-5CF4-A006-B053-2D63F5A073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49" t="26124" r="12245" b="24533"/>
            <a:stretch/>
          </p:blipFill>
          <p:spPr bwMode="auto">
            <a:xfrm>
              <a:off x="9759174" y="2502040"/>
              <a:ext cx="1022870" cy="679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67ABEE4-118F-4215-2704-7C6858E35AD3}"/>
              </a:ext>
            </a:extLst>
          </p:cNvPr>
          <p:cNvGrpSpPr/>
          <p:nvPr/>
        </p:nvGrpSpPr>
        <p:grpSpPr>
          <a:xfrm>
            <a:off x="5958670" y="4340521"/>
            <a:ext cx="5012454" cy="1989588"/>
            <a:chOff x="5958670" y="4340521"/>
            <a:chExt cx="5012454" cy="19895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40FE0C-59CD-F559-48FF-D299279DE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8670" y="4340521"/>
              <a:ext cx="3373105" cy="1989588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5B3CFE-2AF4-603B-363F-4E44EE5ACB21}"/>
                </a:ext>
              </a:extLst>
            </p:cNvPr>
            <p:cNvGrpSpPr/>
            <p:nvPr/>
          </p:nvGrpSpPr>
          <p:grpSpPr>
            <a:xfrm>
              <a:off x="9627996" y="4459424"/>
              <a:ext cx="1343128" cy="1783844"/>
              <a:chOff x="9627996" y="4459424"/>
              <a:chExt cx="1343128" cy="1783844"/>
            </a:xfrm>
          </p:grpSpPr>
          <p:pic>
            <p:nvPicPr>
              <p:cNvPr id="36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E4973DB7-6843-D6D5-8E1C-94E9C508A5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9627996" y="4459424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D073DD0F-C00B-54C1-0C98-5EC2D6EE7F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10299560" y="4459424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C810E1D8-2139-CB3C-7D87-3C6FC6619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10299560" y="4905385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58B0D2EC-292F-15CA-FE5F-56F7AB2021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9627996" y="4905385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2D469181-8AFF-37CD-54E8-B066C4F56B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9627996" y="5351346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4238B35F-0FD3-C35B-CCE9-3E1E02745A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10299560" y="5351346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8E52F9AB-AED9-30D0-D9A1-CDCA6C5AA7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10299560" y="5797307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BE3858F0-3C9D-D1D4-17E5-A4AD7D2191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9627996" y="5797307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56C4FB-C347-3C08-F009-57317AAC8F33}"/>
              </a:ext>
            </a:extLst>
          </p:cNvPr>
          <p:cNvGrpSpPr/>
          <p:nvPr/>
        </p:nvGrpSpPr>
        <p:grpSpPr>
          <a:xfrm>
            <a:off x="9455499" y="4340521"/>
            <a:ext cx="2562330" cy="1989588"/>
            <a:chOff x="9455499" y="4340521"/>
            <a:chExt cx="2562330" cy="1989588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B6190D4-989F-9CDE-CC8F-8F902DFE8439}"/>
                </a:ext>
              </a:extLst>
            </p:cNvPr>
            <p:cNvSpPr/>
            <p:nvPr/>
          </p:nvSpPr>
          <p:spPr>
            <a:xfrm>
              <a:off x="9455499" y="4340521"/>
              <a:ext cx="2562330" cy="1989588"/>
            </a:xfrm>
            <a:prstGeom prst="roundRect">
              <a:avLst/>
            </a:prstGeom>
            <a:noFill/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44" name="Picture 6">
              <a:extLst>
                <a:ext uri="{FF2B5EF4-FFF2-40B4-BE49-F238E27FC236}">
                  <a16:creationId xmlns:a16="http://schemas.microsoft.com/office/drawing/2014/main" id="{E270A3B5-93D2-1D6E-7CD1-C5E5F60107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211"/>
            <a:stretch/>
          </p:blipFill>
          <p:spPr bwMode="auto">
            <a:xfrm>
              <a:off x="11063179" y="4966680"/>
              <a:ext cx="853152" cy="73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60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DBC4-ABAC-B819-90BB-D2A575C7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Limit on Speedup</a:t>
            </a:r>
            <a:endParaRPr lang="nl-NL" b="1" dirty="0">
              <a:solidFill>
                <a:schemeClr val="tx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D9E1E0-96DD-9D78-151F-1820364D2805}"/>
              </a:ext>
            </a:extLst>
          </p:cNvPr>
          <p:cNvSpPr/>
          <p:nvPr/>
        </p:nvSpPr>
        <p:spPr>
          <a:xfrm>
            <a:off x="838199" y="1690688"/>
            <a:ext cx="1051559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Further division of the work (i.e. smaller domains, increase in processor cores) increases communication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Put differently: how large can you make your model?!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+mj-lt"/>
              </a:rPr>
              <a:t>Amdahl’s law:</a:t>
            </a:r>
          </a:p>
          <a:p>
            <a:endParaRPr lang="en-US" sz="28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pic>
        <p:nvPicPr>
          <p:cNvPr id="28" name="Picture 2" descr="undefined">
            <a:extLst>
              <a:ext uri="{FF2B5EF4-FFF2-40B4-BE49-F238E27FC236}">
                <a16:creationId xmlns:a16="http://schemas.microsoft.com/office/drawing/2014/main" id="{6C4D852D-C25E-4DA2-27B7-153DFA2FD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41" y="3234435"/>
            <a:ext cx="4494908" cy="351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2ED8A5-712A-D941-3C53-9E11183879D2}"/>
                  </a:ext>
                </a:extLst>
              </p:cNvPr>
              <p:cNvSpPr txBox="1"/>
              <p:nvPr/>
            </p:nvSpPr>
            <p:spPr>
              <a:xfrm flipH="1">
                <a:off x="1944899" y="4185426"/>
                <a:ext cx="4572000" cy="16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>
                    <a:solidFill>
                      <a:schemeClr val="tx2"/>
                    </a:solidFill>
                    <a:latin typeface="+mj-lt"/>
                  </a:rPr>
                  <a:t>Speedup  ≤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8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28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1 − </m:t>
                        </m:r>
                        <m:r>
                          <m:rPr>
                            <m:sty m:val="p"/>
                          </m:rPr>
                          <a:rPr lang="nl-NL" sz="28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endParaRPr lang="nl-NL" sz="2800" dirty="0">
                  <a:solidFill>
                    <a:schemeClr val="tx2"/>
                  </a:solidFill>
                  <a:latin typeface="+mj-lt"/>
                </a:endParaRPr>
              </a:p>
              <a:p>
                <a:endParaRPr lang="nl-NL" sz="2800" dirty="0">
                  <a:solidFill>
                    <a:schemeClr val="tx2"/>
                  </a:solidFill>
                  <a:latin typeface="+mj-lt"/>
                </a:endParaRPr>
              </a:p>
              <a:p>
                <a:r>
                  <a:rPr lang="nl-NL" sz="2800" dirty="0" err="1">
                    <a:solidFill>
                      <a:schemeClr val="tx2"/>
                    </a:solidFill>
                    <a:latin typeface="+mj-lt"/>
                  </a:rPr>
                  <a:t>with</a:t>
                </a:r>
                <a:r>
                  <a:rPr lang="nl-NL" sz="2800" dirty="0">
                    <a:solidFill>
                      <a:schemeClr val="tx2"/>
                    </a:solidFill>
                    <a:latin typeface="+mj-lt"/>
                  </a:rPr>
                  <a:t> p = parallel </a:t>
                </a:r>
                <a:r>
                  <a:rPr lang="nl-NL" sz="2800" dirty="0" err="1">
                    <a:solidFill>
                      <a:schemeClr val="tx2"/>
                    </a:solidFill>
                    <a:latin typeface="+mj-lt"/>
                  </a:rPr>
                  <a:t>portion</a:t>
                </a:r>
                <a:endParaRPr lang="nl-NL" sz="2800" dirty="0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2ED8A5-712A-D941-3C53-9E1118387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44899" y="4185426"/>
                <a:ext cx="4572000" cy="1629485"/>
              </a:xfrm>
              <a:prstGeom prst="rect">
                <a:avLst/>
              </a:prstGeom>
              <a:blipFill>
                <a:blip r:embed="rId4"/>
                <a:stretch>
                  <a:fillRect l="-2667" b="-973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47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0E0E795-FD7D-D0F0-961F-341E73E3871B}"/>
              </a:ext>
            </a:extLst>
          </p:cNvPr>
          <p:cNvGrpSpPr/>
          <p:nvPr/>
        </p:nvGrpSpPr>
        <p:grpSpPr>
          <a:xfrm>
            <a:off x="7011727" y="3703847"/>
            <a:ext cx="2735117" cy="2692955"/>
            <a:chOff x="7011727" y="3703847"/>
            <a:chExt cx="2735117" cy="26929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52BFBB-71E9-4332-0EBF-10621173414C}"/>
                </a:ext>
              </a:extLst>
            </p:cNvPr>
            <p:cNvSpPr/>
            <p:nvPr/>
          </p:nvSpPr>
          <p:spPr>
            <a:xfrm>
              <a:off x="7681268" y="3703847"/>
              <a:ext cx="684961" cy="673239"/>
            </a:xfrm>
            <a:prstGeom prst="rect">
              <a:avLst/>
            </a:prstGeom>
            <a:pattFill prst="wdDnDiag">
              <a:fgClr>
                <a:srgbClr val="FDE723"/>
              </a:fgClr>
              <a:bgClr>
                <a:srgbClr val="39B87B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624B49-0052-6AB2-BD0C-762E3253D510}"/>
                </a:ext>
              </a:extLst>
            </p:cNvPr>
            <p:cNvSpPr/>
            <p:nvPr/>
          </p:nvSpPr>
          <p:spPr>
            <a:xfrm>
              <a:off x="7011727" y="4377086"/>
              <a:ext cx="684961" cy="673239"/>
            </a:xfrm>
            <a:prstGeom prst="rect">
              <a:avLst/>
            </a:prstGeom>
            <a:pattFill prst="wdDnDiag">
              <a:fgClr>
                <a:srgbClr val="39B87B"/>
              </a:fgClr>
              <a:bgClr>
                <a:srgbClr val="FDE723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3ACBFA-F8B7-FB5B-F264-D6C45135D922}"/>
                </a:ext>
              </a:extLst>
            </p:cNvPr>
            <p:cNvSpPr/>
            <p:nvPr/>
          </p:nvSpPr>
          <p:spPr>
            <a:xfrm>
              <a:off x="8376923" y="4377086"/>
              <a:ext cx="684961" cy="673239"/>
            </a:xfrm>
            <a:prstGeom prst="rect">
              <a:avLst/>
            </a:prstGeom>
            <a:pattFill prst="wdDnDiag">
              <a:fgClr>
                <a:srgbClr val="39B87B"/>
              </a:fgClr>
              <a:bgClr>
                <a:srgbClr val="2F668D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F91BD2-D0ED-AAEB-742F-007761356405}"/>
                </a:ext>
              </a:extLst>
            </p:cNvPr>
            <p:cNvSpPr/>
            <p:nvPr/>
          </p:nvSpPr>
          <p:spPr>
            <a:xfrm>
              <a:off x="7694470" y="5050324"/>
              <a:ext cx="684961" cy="673239"/>
            </a:xfrm>
            <a:prstGeom prst="rect">
              <a:avLst/>
            </a:prstGeom>
            <a:pattFill prst="wdDnDiag">
              <a:fgClr>
                <a:srgbClr val="2F668D"/>
              </a:fgClr>
              <a:bgClr>
                <a:srgbClr val="39B87B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79E118-E09F-DD12-5780-0F3A3847F586}"/>
                </a:ext>
              </a:extLst>
            </p:cNvPr>
            <p:cNvSpPr/>
            <p:nvPr/>
          </p:nvSpPr>
          <p:spPr>
            <a:xfrm>
              <a:off x="9061883" y="5050324"/>
              <a:ext cx="684961" cy="673239"/>
            </a:xfrm>
            <a:prstGeom prst="rect">
              <a:avLst/>
            </a:prstGeom>
            <a:pattFill prst="wdDnDiag">
              <a:fgClr>
                <a:srgbClr val="2F668D"/>
              </a:fgClr>
              <a:bgClr>
                <a:srgbClr val="420052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135AA2-E4AD-750B-0EC1-B0EA89D800E5}"/>
                </a:ext>
              </a:extLst>
            </p:cNvPr>
            <p:cNvSpPr/>
            <p:nvPr/>
          </p:nvSpPr>
          <p:spPr>
            <a:xfrm>
              <a:off x="8380962" y="5723563"/>
              <a:ext cx="684961" cy="673239"/>
            </a:xfrm>
            <a:prstGeom prst="rect">
              <a:avLst/>
            </a:prstGeom>
            <a:pattFill prst="wdDnDiag">
              <a:fgClr>
                <a:srgbClr val="420052"/>
              </a:fgClr>
              <a:bgClr>
                <a:srgbClr val="2F668D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4FA891-8F6F-7432-1DF6-0DA2BA156E61}"/>
              </a:ext>
            </a:extLst>
          </p:cNvPr>
          <p:cNvGrpSpPr/>
          <p:nvPr/>
        </p:nvGrpSpPr>
        <p:grpSpPr>
          <a:xfrm>
            <a:off x="6752492" y="1027906"/>
            <a:ext cx="5225420" cy="2311243"/>
            <a:chOff x="6752492" y="1027906"/>
            <a:chExt cx="5225420" cy="2311243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0439ED2-5648-52B2-2C56-5E65B50A417A}"/>
                </a:ext>
              </a:extLst>
            </p:cNvPr>
            <p:cNvGrpSpPr/>
            <p:nvPr/>
          </p:nvGrpSpPr>
          <p:grpSpPr>
            <a:xfrm>
              <a:off x="6752492" y="1027906"/>
              <a:ext cx="5225420" cy="2311243"/>
              <a:chOff x="6752492" y="1027906"/>
              <a:chExt cx="5225420" cy="2311243"/>
            </a:xfrm>
          </p:grpSpPr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FA7A51C9-7285-8546-E98C-D327389C05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3453" y="1223851"/>
                <a:ext cx="1520347" cy="780213"/>
              </a:xfrm>
              <a:prstGeom prst="rect">
                <a:avLst/>
              </a:prstGeom>
            </p:spPr>
          </p:pic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C7F11C36-78CB-66D8-D051-5AE1087A81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21273" y="1226994"/>
                <a:ext cx="1520347" cy="780213"/>
              </a:xfrm>
              <a:prstGeom prst="rect">
                <a:avLst/>
              </a:prstGeom>
            </p:spPr>
          </p:pic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FE1B6C1B-8EB2-2B55-9649-03E4396E6F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40553" y="2377632"/>
                <a:ext cx="1520347" cy="780213"/>
              </a:xfrm>
              <a:prstGeom prst="rect">
                <a:avLst/>
              </a:prstGeom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27483A07-AA95-7794-BF36-36B060FF32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21272" y="2365513"/>
                <a:ext cx="1520347" cy="780213"/>
              </a:xfrm>
              <a:prstGeom prst="rect">
                <a:avLst/>
              </a:prstGeom>
            </p:spPr>
          </p:pic>
          <p:pic>
            <p:nvPicPr>
              <p:cNvPr id="127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E9974548-476D-4293-AF3C-788FEE5D0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8567446" y="1406730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8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B19F7FB0-324D-3FE3-BA60-37C44BD928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8570546" y="2508528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9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FA49564D-83B0-45A2-305F-A6D6AD683B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11165267" y="1412713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0" name="Picture 4" descr="Computer, desktop, internet, monitor, pc, technology, windows computer icon  - Download on Iconfinder">
                <a:extLst>
                  <a:ext uri="{FF2B5EF4-FFF2-40B4-BE49-F238E27FC236}">
                    <a16:creationId xmlns:a16="http://schemas.microsoft.com/office/drawing/2014/main" id="{6C0F1F6C-AE13-2467-96EE-5AC6A159E3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49" t="26124" r="12245" b="24533"/>
              <a:stretch/>
            </p:blipFill>
            <p:spPr bwMode="auto">
              <a:xfrm>
                <a:off x="11165267" y="2508528"/>
                <a:ext cx="671564" cy="4459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F6E7B847-59B0-B629-6ACD-2D5F6447F454}"/>
                  </a:ext>
                </a:extLst>
              </p:cNvPr>
              <p:cNvSpPr/>
              <p:nvPr/>
            </p:nvSpPr>
            <p:spPr>
              <a:xfrm>
                <a:off x="6752492" y="1027906"/>
                <a:ext cx="5225420" cy="2311243"/>
              </a:xfrm>
              <a:prstGeom prst="rect">
                <a:avLst/>
              </a:prstGeom>
              <a:noFill/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62B351EE-65F0-BF14-9E99-06C74D27F9CC}"/>
                  </a:ext>
                </a:extLst>
              </p:cNvPr>
              <p:cNvCxnSpPr>
                <a:stCxn id="131" idx="0"/>
                <a:endCxn id="131" idx="2"/>
              </p:cNvCxnSpPr>
              <p:nvPr/>
            </p:nvCxnSpPr>
            <p:spPr>
              <a:xfrm>
                <a:off x="9365202" y="1027906"/>
                <a:ext cx="0" cy="231124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2822552B-C195-DFB5-7CF7-26FE64968CE9}"/>
                  </a:ext>
                </a:extLst>
              </p:cNvPr>
              <p:cNvCxnSpPr>
                <a:stCxn id="131" idx="1"/>
                <a:endCxn id="131" idx="3"/>
              </p:cNvCxnSpPr>
              <p:nvPr/>
            </p:nvCxnSpPr>
            <p:spPr>
              <a:xfrm>
                <a:off x="6752492" y="2183528"/>
                <a:ext cx="5225420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68F21D1-441F-4352-DE67-58343853BCC2}"/>
                </a:ext>
              </a:extLst>
            </p:cNvPr>
            <p:cNvSpPr txBox="1"/>
            <p:nvPr/>
          </p:nvSpPr>
          <p:spPr>
            <a:xfrm>
              <a:off x="10204534" y="1579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/>
                <a:t>2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CC30575-E344-1458-8455-6C74D1AB261F}"/>
                </a:ext>
              </a:extLst>
            </p:cNvPr>
            <p:cNvSpPr txBox="1"/>
            <p:nvPr/>
          </p:nvSpPr>
          <p:spPr>
            <a:xfrm>
              <a:off x="7399040" y="13025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/>
                <a:t>1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7A714D2-B0CF-B5F4-7A38-DDA230AE9F6C}"/>
                </a:ext>
              </a:extLst>
            </p:cNvPr>
            <p:cNvSpPr txBox="1"/>
            <p:nvPr/>
          </p:nvSpPr>
          <p:spPr>
            <a:xfrm>
              <a:off x="7399040" y="24455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/>
                <a:t>3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A30F3B7-1649-6F92-6588-9131DB617CD9}"/>
                </a:ext>
              </a:extLst>
            </p:cNvPr>
            <p:cNvSpPr txBox="1"/>
            <p:nvPr/>
          </p:nvSpPr>
          <p:spPr>
            <a:xfrm>
              <a:off x="10192023" y="274223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/>
                <a:t>4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C47355-FF35-4CC6-AC4C-14880046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solidFill>
                  <a:schemeClr val="tx2"/>
                </a:solidFill>
              </a:rPr>
              <a:t>Parallel Solution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82" name="Content Placeholder 4">
            <a:extLst>
              <a:ext uri="{FF2B5EF4-FFF2-40B4-BE49-F238E27FC236}">
                <a16:creationId xmlns:a16="http://schemas.microsoft.com/office/drawing/2014/main" id="{867BE51D-4824-A987-0148-B17EE25AC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26786" cy="4758055"/>
          </a:xfrm>
        </p:spPr>
        <p:txBody>
          <a:bodyPr>
            <a:normAutofit fontScale="25000" lnSpcReduction="20000"/>
          </a:bodyPr>
          <a:lstStyle/>
          <a:p>
            <a:r>
              <a:rPr lang="nl-NL" sz="7400" dirty="0" err="1">
                <a:solidFill>
                  <a:schemeClr val="tx2"/>
                </a:solidFill>
                <a:latin typeface="+mj-lt"/>
              </a:rPr>
              <a:t>Example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: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solve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the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groundwater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flow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equation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(Ax = b) over 4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domains</a:t>
            </a:r>
            <a:endParaRPr lang="nl-NL" sz="7400" dirty="0">
              <a:solidFill>
                <a:schemeClr val="tx2"/>
              </a:solidFill>
              <a:latin typeface="+mj-lt"/>
            </a:endParaRPr>
          </a:p>
          <a:p>
            <a:r>
              <a:rPr lang="nl-NL" sz="7400" dirty="0" err="1">
                <a:solidFill>
                  <a:schemeClr val="tx2"/>
                </a:solidFill>
                <a:latin typeface="+mj-lt"/>
              </a:rPr>
              <a:t>Dependent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variable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b="1" dirty="0">
                <a:solidFill>
                  <a:schemeClr val="tx2"/>
                </a:solidFill>
                <a:latin typeface="+mj-lt"/>
              </a:rPr>
              <a:t>x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(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head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)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and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right-hand side </a:t>
            </a:r>
            <a:r>
              <a:rPr lang="nl-NL" sz="7400" b="1" dirty="0">
                <a:solidFill>
                  <a:schemeClr val="tx2"/>
                </a:solidFill>
                <a:latin typeface="+mj-lt"/>
              </a:rPr>
              <a:t>b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are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distributed</a:t>
            </a:r>
            <a:endParaRPr lang="nl-NL" sz="7400" dirty="0">
              <a:solidFill>
                <a:schemeClr val="tx2"/>
              </a:solidFill>
              <a:latin typeface="+mj-lt"/>
            </a:endParaRPr>
          </a:p>
          <a:p>
            <a:r>
              <a:rPr lang="nl-NL" sz="7400" dirty="0" err="1">
                <a:solidFill>
                  <a:schemeClr val="tx2"/>
                </a:solidFill>
                <a:latin typeface="+mj-lt"/>
              </a:rPr>
              <a:t>Each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process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now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manages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a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contiguous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set of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rows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of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the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system matrix </a:t>
            </a:r>
          </a:p>
          <a:p>
            <a:pPr marL="0" indent="0">
              <a:buNone/>
            </a:pPr>
            <a:r>
              <a:rPr lang="nl-NL" sz="7400" b="1" dirty="0">
                <a:solidFill>
                  <a:schemeClr val="tx2"/>
                </a:solidFill>
                <a:latin typeface="+mj-lt"/>
              </a:rPr>
              <a:t>Parallel </a:t>
            </a:r>
            <a:r>
              <a:rPr lang="nl-NL" sz="7400" b="1" dirty="0" err="1">
                <a:solidFill>
                  <a:schemeClr val="tx2"/>
                </a:solidFill>
                <a:latin typeface="+mj-lt"/>
              </a:rPr>
              <a:t>iterative</a:t>
            </a:r>
            <a:r>
              <a:rPr lang="nl-NL" sz="7400" b="1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b="1" dirty="0" err="1">
                <a:solidFill>
                  <a:schemeClr val="tx2"/>
                </a:solidFill>
                <a:latin typeface="+mj-lt"/>
              </a:rPr>
              <a:t>solver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r>
              <a:rPr lang="nl-NL" sz="7400" dirty="0" err="1">
                <a:solidFill>
                  <a:schemeClr val="tx2"/>
                </a:solidFill>
                <a:latin typeface="+mj-lt"/>
              </a:rPr>
              <a:t>choose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A = M – N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and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rewrite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Ax = b as</a:t>
            </a:r>
          </a:p>
          <a:p>
            <a:pPr marL="0" indent="0">
              <a:buNone/>
            </a:pPr>
            <a:r>
              <a:rPr lang="nl-NL" sz="7400" dirty="0">
                <a:solidFill>
                  <a:schemeClr val="tx2"/>
                </a:solidFill>
                <a:latin typeface="+mj-lt"/>
              </a:rPr>
              <a:t>	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M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ij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x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j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 = 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N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ij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x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j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 + 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b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j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 </a:t>
            </a:r>
          </a:p>
          <a:p>
            <a:r>
              <a:rPr lang="nl-NL" sz="7600" dirty="0">
                <a:solidFill>
                  <a:schemeClr val="tx2"/>
                </a:solidFill>
                <a:latin typeface="+mj-lt"/>
              </a:rPr>
              <a:t>or as </a:t>
            </a:r>
            <a:r>
              <a:rPr lang="nl-NL" sz="7600" dirty="0" err="1">
                <a:solidFill>
                  <a:schemeClr val="tx2"/>
                </a:solidFill>
                <a:latin typeface="+mj-lt"/>
              </a:rPr>
              <a:t>an</a:t>
            </a:r>
            <a:r>
              <a:rPr lang="nl-NL" sz="7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600" dirty="0" err="1">
                <a:solidFill>
                  <a:schemeClr val="tx2"/>
                </a:solidFill>
                <a:latin typeface="+mj-lt"/>
              </a:rPr>
              <a:t>iterative</a:t>
            </a:r>
            <a:r>
              <a:rPr lang="nl-NL" sz="7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600" dirty="0" err="1">
                <a:solidFill>
                  <a:schemeClr val="tx2"/>
                </a:solidFill>
                <a:latin typeface="+mj-lt"/>
              </a:rPr>
              <a:t>scheme</a:t>
            </a:r>
            <a:r>
              <a:rPr lang="nl-NL" sz="7600" dirty="0">
                <a:solidFill>
                  <a:schemeClr val="tx2"/>
                </a:solidFill>
                <a:latin typeface="+mj-lt"/>
              </a:rPr>
              <a:t>, </a:t>
            </a:r>
            <a:r>
              <a:rPr lang="nl-NL" sz="7600" dirty="0" err="1">
                <a:solidFill>
                  <a:schemeClr val="tx2"/>
                </a:solidFill>
                <a:latin typeface="+mj-lt"/>
              </a:rPr>
              <a:t>with</a:t>
            </a:r>
            <a:r>
              <a:rPr lang="nl-NL" sz="7600" dirty="0">
                <a:solidFill>
                  <a:schemeClr val="tx2"/>
                </a:solidFill>
                <a:latin typeface="+mj-lt"/>
              </a:rPr>
              <a:t> k </a:t>
            </a:r>
            <a:r>
              <a:rPr lang="nl-NL" sz="7600" dirty="0" err="1">
                <a:solidFill>
                  <a:schemeClr val="tx2"/>
                </a:solidFill>
                <a:latin typeface="+mj-lt"/>
              </a:rPr>
              <a:t>labeling</a:t>
            </a:r>
            <a:r>
              <a:rPr lang="nl-NL" sz="7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600" dirty="0" err="1">
                <a:solidFill>
                  <a:schemeClr val="tx2"/>
                </a:solidFill>
                <a:latin typeface="+mj-lt"/>
              </a:rPr>
              <a:t>iterations</a:t>
            </a:r>
            <a:r>
              <a:rPr lang="nl-NL" sz="76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nl-NL" sz="7600" dirty="0">
                <a:solidFill>
                  <a:schemeClr val="tx2"/>
                </a:solidFill>
                <a:latin typeface="+mj-lt"/>
              </a:rPr>
              <a:t>	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M</a:t>
            </a:r>
            <a:r>
              <a:rPr lang="nl-NL" sz="8000" baseline="-25000" dirty="0">
                <a:solidFill>
                  <a:schemeClr val="tx2"/>
                </a:solidFill>
                <a:latin typeface="+mj-lt"/>
              </a:rPr>
              <a:t>ij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x</a:t>
            </a:r>
            <a:r>
              <a:rPr lang="nl-NL" sz="8000" baseline="-25000" dirty="0">
                <a:solidFill>
                  <a:schemeClr val="tx2"/>
                </a:solidFill>
                <a:latin typeface="+mj-lt"/>
              </a:rPr>
              <a:t>j</a:t>
            </a:r>
            <a:r>
              <a:rPr lang="nl-NL" sz="8000" baseline="30000" dirty="0">
                <a:solidFill>
                  <a:schemeClr val="tx2"/>
                </a:solidFill>
                <a:latin typeface="+mj-lt"/>
              </a:rPr>
              <a:t>k+1 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= 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N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ij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x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j</a:t>
            </a:r>
            <a:r>
              <a:rPr lang="nl-NL" sz="8000" baseline="30000" dirty="0" err="1">
                <a:solidFill>
                  <a:schemeClr val="tx2"/>
                </a:solidFill>
                <a:latin typeface="+mj-lt"/>
              </a:rPr>
              <a:t>k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 + 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b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j</a:t>
            </a:r>
            <a:endParaRPr lang="nl-NL" sz="8000" baseline="-25000" dirty="0">
              <a:solidFill>
                <a:schemeClr val="tx2"/>
              </a:solidFill>
              <a:latin typeface="+mj-lt"/>
            </a:endParaRPr>
          </a:p>
          <a:p>
            <a:r>
              <a:rPr lang="nl-NL" sz="7400" dirty="0" err="1">
                <a:solidFill>
                  <a:schemeClr val="tx2"/>
                </a:solidFill>
                <a:latin typeface="+mj-lt"/>
              </a:rPr>
              <a:t>Note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that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we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can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freely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choose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M,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so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let’s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take M</a:t>
            </a:r>
            <a:r>
              <a:rPr lang="nl-NL" sz="7400" baseline="-25000" dirty="0">
                <a:solidFill>
                  <a:schemeClr val="tx2"/>
                </a:solidFill>
                <a:latin typeface="+mj-lt"/>
              </a:rPr>
              <a:t>ij 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= 0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for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all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i ≠ j (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this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is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called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Block-Jacobi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preconditioning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)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such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that</a:t>
            </a:r>
            <a:endParaRPr lang="nl-NL" sz="7400" dirty="0">
              <a:solidFill>
                <a:schemeClr val="tx2"/>
              </a:solidFill>
              <a:latin typeface="+mj-lt"/>
            </a:endParaRPr>
          </a:p>
          <a:p>
            <a:pPr marL="0" indent="0">
              <a:buNone/>
            </a:pPr>
            <a:r>
              <a:rPr lang="nl-NL" sz="7400" b="1" dirty="0">
                <a:solidFill>
                  <a:schemeClr val="tx2"/>
                </a:solidFill>
                <a:latin typeface="+mj-lt"/>
              </a:rPr>
              <a:t>	</a:t>
            </a:r>
            <a:r>
              <a:rPr lang="nl-NL" sz="8000" dirty="0">
                <a:solidFill>
                  <a:schemeClr val="tx2"/>
                </a:solidFill>
                <a:latin typeface="+mj-lt"/>
              </a:rPr>
              <a:t>x</a:t>
            </a:r>
            <a:r>
              <a:rPr lang="nl-NL" sz="8000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en-US" sz="8000" baseline="30000" dirty="0">
                <a:solidFill>
                  <a:schemeClr val="tx2"/>
                </a:solidFill>
                <a:latin typeface="+mj-lt"/>
              </a:rPr>
              <a:t>k+1</a:t>
            </a:r>
            <a:r>
              <a:rPr lang="en-US" sz="8000" dirty="0">
                <a:solidFill>
                  <a:schemeClr val="tx2"/>
                </a:solidFill>
                <a:latin typeface="+mj-lt"/>
              </a:rPr>
              <a:t> = M</a:t>
            </a:r>
            <a:r>
              <a:rPr lang="en-US" sz="8000" baseline="-25000" dirty="0">
                <a:solidFill>
                  <a:schemeClr val="tx2"/>
                </a:solidFill>
                <a:latin typeface="+mj-lt"/>
              </a:rPr>
              <a:t>ii</a:t>
            </a:r>
            <a:r>
              <a:rPr lang="en-US" sz="8000" baseline="30000" dirty="0">
                <a:solidFill>
                  <a:schemeClr val="tx2"/>
                </a:solidFill>
                <a:latin typeface="+mj-lt"/>
              </a:rPr>
              <a:t>-1</a:t>
            </a:r>
            <a:r>
              <a:rPr lang="en-US" sz="8000" dirty="0">
                <a:solidFill>
                  <a:schemeClr val="tx2"/>
                </a:solidFill>
                <a:latin typeface="+mj-lt"/>
              </a:rPr>
              <a:t> (N</a:t>
            </a:r>
            <a:r>
              <a:rPr lang="en-US" sz="8000" baseline="-25000" dirty="0">
                <a:solidFill>
                  <a:schemeClr val="tx2"/>
                </a:solidFill>
                <a:latin typeface="+mj-lt"/>
              </a:rPr>
              <a:t>ij</a:t>
            </a:r>
            <a:r>
              <a:rPr lang="nl-NL" sz="8000" dirty="0" err="1">
                <a:solidFill>
                  <a:schemeClr val="tx2"/>
                </a:solidFill>
                <a:latin typeface="+mj-lt"/>
              </a:rPr>
              <a:t>x</a:t>
            </a:r>
            <a:r>
              <a:rPr lang="nl-NL" sz="8000" baseline="-25000" dirty="0" err="1">
                <a:solidFill>
                  <a:schemeClr val="tx2"/>
                </a:solidFill>
                <a:latin typeface="+mj-lt"/>
              </a:rPr>
              <a:t>j</a:t>
            </a:r>
            <a:r>
              <a:rPr lang="en-US" sz="8000" baseline="30000" dirty="0">
                <a:solidFill>
                  <a:schemeClr val="tx2"/>
                </a:solidFill>
                <a:latin typeface="+mj-lt"/>
              </a:rPr>
              <a:t>k</a:t>
            </a:r>
            <a:r>
              <a:rPr lang="en-US" sz="8000" dirty="0">
                <a:solidFill>
                  <a:schemeClr val="tx2"/>
                </a:solidFill>
                <a:latin typeface="+mj-lt"/>
              </a:rPr>
              <a:t> + b</a:t>
            </a:r>
            <a:r>
              <a:rPr lang="en-US" sz="8000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en-US" sz="8000" dirty="0">
                <a:solidFill>
                  <a:schemeClr val="tx2"/>
                </a:solidFill>
                <a:latin typeface="+mj-lt"/>
              </a:rPr>
              <a:t>)</a:t>
            </a:r>
            <a:endParaRPr lang="nl-NL" sz="8000" dirty="0">
              <a:solidFill>
                <a:schemeClr val="tx2"/>
              </a:solidFill>
              <a:latin typeface="+mj-lt"/>
            </a:endParaRPr>
          </a:p>
          <a:p>
            <a:r>
              <a:rPr lang="nl-NL" sz="7400" dirty="0">
                <a:solidFill>
                  <a:schemeClr val="tx2"/>
                </a:solidFill>
                <a:latin typeface="+mj-lt"/>
              </a:rPr>
              <a:t>RHS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now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no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longer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7400" dirty="0" err="1">
                <a:solidFill>
                  <a:schemeClr val="tx2"/>
                </a:solidFill>
                <a:latin typeface="+mj-lt"/>
              </a:rPr>
              <a:t>depends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 on x</a:t>
            </a:r>
            <a:r>
              <a:rPr lang="nl-NL" sz="7400" baseline="-25000" dirty="0">
                <a:solidFill>
                  <a:schemeClr val="tx2"/>
                </a:solidFill>
                <a:latin typeface="+mj-lt"/>
              </a:rPr>
              <a:t>j</a:t>
            </a:r>
            <a:r>
              <a:rPr lang="nl-NL" sz="7400" baseline="30000" dirty="0">
                <a:solidFill>
                  <a:schemeClr val="tx2"/>
                </a:solidFill>
                <a:latin typeface="+mj-lt"/>
              </a:rPr>
              <a:t>k+1</a:t>
            </a:r>
            <a:r>
              <a:rPr lang="nl-NL" sz="7400" dirty="0">
                <a:solidFill>
                  <a:schemeClr val="tx2"/>
                </a:solidFill>
                <a:latin typeface="+mj-lt"/>
              </a:rPr>
              <a:t>:    </a:t>
            </a:r>
            <a:r>
              <a:rPr lang="nl-NL" sz="7400" b="1" dirty="0">
                <a:solidFill>
                  <a:schemeClr val="tx2"/>
                </a:solidFill>
                <a:latin typeface="+mj-lt"/>
              </a:rPr>
              <a:t>parallel!</a:t>
            </a:r>
            <a:endParaRPr lang="nl-NL" b="1" baseline="30000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C0AA2A-E175-96EF-CA4C-21A19523C96A}"/>
              </a:ext>
            </a:extLst>
          </p:cNvPr>
          <p:cNvGrpSpPr/>
          <p:nvPr/>
        </p:nvGrpSpPr>
        <p:grpSpPr>
          <a:xfrm>
            <a:off x="6936940" y="3653103"/>
            <a:ext cx="4903566" cy="2784141"/>
            <a:chOff x="6936940" y="3653103"/>
            <a:chExt cx="4903566" cy="278414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6856D89-457F-2228-2057-5D9F71B09F36}"/>
                </a:ext>
              </a:extLst>
            </p:cNvPr>
            <p:cNvGrpSpPr/>
            <p:nvPr/>
          </p:nvGrpSpPr>
          <p:grpSpPr>
            <a:xfrm>
              <a:off x="6936940" y="3653104"/>
              <a:ext cx="2866220" cy="2783890"/>
              <a:chOff x="7941777" y="3526471"/>
              <a:chExt cx="2866220" cy="278389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DC83328-4BD0-7FAA-BB16-5D0A88B0DB44}"/>
                  </a:ext>
                </a:extLst>
              </p:cNvPr>
              <p:cNvSpPr/>
              <p:nvPr/>
            </p:nvSpPr>
            <p:spPr>
              <a:xfrm>
                <a:off x="8011838" y="3577214"/>
                <a:ext cx="684961" cy="673239"/>
              </a:xfrm>
              <a:prstGeom prst="rect">
                <a:avLst/>
              </a:prstGeom>
              <a:solidFill>
                <a:srgbClr val="FDE7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1" name="Left Bracket 30">
                <a:extLst>
                  <a:ext uri="{FF2B5EF4-FFF2-40B4-BE49-F238E27FC236}">
                    <a16:creationId xmlns:a16="http://schemas.microsoft.com/office/drawing/2014/main" id="{BE5A829B-931B-CC69-E6A5-7BF552D2EEB0}"/>
                  </a:ext>
                </a:extLst>
              </p:cNvPr>
              <p:cNvSpPr/>
              <p:nvPr/>
            </p:nvSpPr>
            <p:spPr>
              <a:xfrm>
                <a:off x="7941777" y="3526472"/>
                <a:ext cx="105301" cy="2783889"/>
              </a:xfrm>
              <a:prstGeom prst="leftBracke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2" name="Left Bracket 31">
                <a:extLst>
                  <a:ext uri="{FF2B5EF4-FFF2-40B4-BE49-F238E27FC236}">
                    <a16:creationId xmlns:a16="http://schemas.microsoft.com/office/drawing/2014/main" id="{B1B039E8-CBD1-FBDA-6BED-9705C707F0BF}"/>
                  </a:ext>
                </a:extLst>
              </p:cNvPr>
              <p:cNvSpPr/>
              <p:nvPr/>
            </p:nvSpPr>
            <p:spPr>
              <a:xfrm flipH="1">
                <a:off x="10722517" y="3526471"/>
                <a:ext cx="85480" cy="2783889"/>
              </a:xfrm>
              <a:prstGeom prst="leftBracke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7CB76C5-960E-3211-3EC5-F8CD01DE53DE}"/>
                  </a:ext>
                </a:extLst>
              </p:cNvPr>
              <p:cNvSpPr/>
              <p:nvPr/>
            </p:nvSpPr>
            <p:spPr>
              <a:xfrm>
                <a:off x="8696799" y="4250453"/>
                <a:ext cx="684961" cy="673239"/>
              </a:xfrm>
              <a:prstGeom prst="rect">
                <a:avLst/>
              </a:prstGeom>
              <a:solidFill>
                <a:srgbClr val="39B8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256F2D8-791A-ED6F-0DB2-A87033D4BD87}"/>
                  </a:ext>
                </a:extLst>
              </p:cNvPr>
              <p:cNvSpPr/>
              <p:nvPr/>
            </p:nvSpPr>
            <p:spPr>
              <a:xfrm>
                <a:off x="9381760" y="4923692"/>
                <a:ext cx="684961" cy="673239"/>
              </a:xfrm>
              <a:prstGeom prst="rect">
                <a:avLst/>
              </a:prstGeom>
              <a:solidFill>
                <a:srgbClr val="2F66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913F39C-C1C4-5D4D-8010-F189C391EB15}"/>
                  </a:ext>
                </a:extLst>
              </p:cNvPr>
              <p:cNvSpPr/>
              <p:nvPr/>
            </p:nvSpPr>
            <p:spPr>
              <a:xfrm>
                <a:off x="10066721" y="5596931"/>
                <a:ext cx="684961" cy="673239"/>
              </a:xfrm>
              <a:prstGeom prst="rect">
                <a:avLst/>
              </a:prstGeom>
              <a:solidFill>
                <a:srgbClr val="4200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96BCEBA-8F8B-5F9F-D41A-22E6E5C22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1838" y="4250453"/>
                <a:ext cx="27303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90A0395-B0E5-BB2D-E8BA-958B4C9294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11838" y="4918667"/>
                <a:ext cx="2730392" cy="1507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E56FB46-F9C4-54B9-6C47-94793FA12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1838" y="5596930"/>
                <a:ext cx="273039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6B83B93-8CED-2AFF-CAA4-50878A1A55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75213" y="3577214"/>
                <a:ext cx="30351" cy="269295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24322D7-BADC-A3B4-0359-CA26E41340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61742" y="3577214"/>
                <a:ext cx="19820" cy="269295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B0B3771-AA4B-BC90-04BF-5CB98F9775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31283" y="3577214"/>
                <a:ext cx="45486" cy="2692955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DA1B12B-7058-EC3A-DB22-B262F8701958}"/>
                </a:ext>
              </a:extLst>
            </p:cNvPr>
            <p:cNvSpPr txBox="1"/>
            <p:nvPr/>
          </p:nvSpPr>
          <p:spPr>
            <a:xfrm>
              <a:off x="10704571" y="4679057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4000"/>
                <a:t>=</a:t>
              </a:r>
              <a:endParaRPr lang="nl-NL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2761838-7ADC-4EFE-5143-5C5385CA9A09}"/>
                </a:ext>
              </a:extLst>
            </p:cNvPr>
            <p:cNvSpPr txBox="1"/>
            <p:nvPr/>
          </p:nvSpPr>
          <p:spPr>
            <a:xfrm>
              <a:off x="7141735" y="3855801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>
                  <a:solidFill>
                    <a:schemeClr val="bg1"/>
                  </a:solidFill>
                </a:rPr>
                <a:t>A</a:t>
              </a:r>
              <a:r>
                <a:rPr lang="nl-NL" baseline="-25000">
                  <a:solidFill>
                    <a:schemeClr val="bg1"/>
                  </a:solidFill>
                </a:rPr>
                <a:t>11</a:t>
              </a:r>
              <a:endParaRPr lang="nl-NL">
                <a:solidFill>
                  <a:schemeClr val="bg1"/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D409AD8-D607-533D-7F15-716E6047A5C4}"/>
                </a:ext>
              </a:extLst>
            </p:cNvPr>
            <p:cNvSpPr txBox="1"/>
            <p:nvPr/>
          </p:nvSpPr>
          <p:spPr>
            <a:xfrm>
              <a:off x="7807169" y="4549135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>
                  <a:solidFill>
                    <a:schemeClr val="bg1"/>
                  </a:solidFill>
                </a:rPr>
                <a:t>A</a:t>
              </a:r>
              <a:r>
                <a:rPr lang="nl-NL" baseline="-25000">
                  <a:solidFill>
                    <a:schemeClr val="bg1"/>
                  </a:solidFill>
                </a:rPr>
                <a:t>22</a:t>
              </a:r>
              <a:endParaRPr lang="nl-NL">
                <a:solidFill>
                  <a:schemeClr val="bg1"/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0EFD601-7FC6-5201-20A1-CA5D407504B3}"/>
                </a:ext>
              </a:extLst>
            </p:cNvPr>
            <p:cNvSpPr txBox="1"/>
            <p:nvPr/>
          </p:nvSpPr>
          <p:spPr>
            <a:xfrm>
              <a:off x="8492129" y="5232420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>
                  <a:solidFill>
                    <a:schemeClr val="bg1"/>
                  </a:solidFill>
                </a:rPr>
                <a:t>A</a:t>
              </a:r>
              <a:r>
                <a:rPr lang="nl-NL" baseline="-25000">
                  <a:solidFill>
                    <a:schemeClr val="bg1"/>
                  </a:solidFill>
                </a:rPr>
                <a:t>33</a:t>
              </a:r>
              <a:endParaRPr lang="nl-NL">
                <a:solidFill>
                  <a:schemeClr val="bg1"/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6A410D9-6B2D-561D-CF28-07C1EB48845C}"/>
                </a:ext>
              </a:extLst>
            </p:cNvPr>
            <p:cNvSpPr txBox="1"/>
            <p:nvPr/>
          </p:nvSpPr>
          <p:spPr>
            <a:xfrm>
              <a:off x="9195717" y="5895612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>
                  <a:solidFill>
                    <a:schemeClr val="bg1"/>
                  </a:solidFill>
                </a:rPr>
                <a:t>A</a:t>
              </a:r>
              <a:r>
                <a:rPr lang="nl-NL" baseline="-25000">
                  <a:solidFill>
                    <a:schemeClr val="bg1"/>
                  </a:solidFill>
                </a:rPr>
                <a:t>44</a:t>
              </a:r>
              <a:endParaRPr lang="nl-NL">
                <a:solidFill>
                  <a:schemeClr val="bg1"/>
                </a:solidFill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CA33641-EA24-B710-C8DF-4BAAF7B79052}"/>
                </a:ext>
              </a:extLst>
            </p:cNvPr>
            <p:cNvGrpSpPr/>
            <p:nvPr/>
          </p:nvGrpSpPr>
          <p:grpSpPr>
            <a:xfrm>
              <a:off x="10011258" y="3653103"/>
              <a:ext cx="523130" cy="2783889"/>
              <a:chOff x="9850486" y="3100444"/>
              <a:chExt cx="523130" cy="2783889"/>
            </a:xfrm>
          </p:grpSpPr>
          <p:sp>
            <p:nvSpPr>
              <p:cNvPr id="86" name="Left Bracket 85">
                <a:extLst>
                  <a:ext uri="{FF2B5EF4-FFF2-40B4-BE49-F238E27FC236}">
                    <a16:creationId xmlns:a16="http://schemas.microsoft.com/office/drawing/2014/main" id="{335EA650-B308-7A81-294B-B635A238CB66}"/>
                  </a:ext>
                </a:extLst>
              </p:cNvPr>
              <p:cNvSpPr/>
              <p:nvPr/>
            </p:nvSpPr>
            <p:spPr>
              <a:xfrm>
                <a:off x="9850486" y="3100444"/>
                <a:ext cx="105301" cy="2783889"/>
              </a:xfrm>
              <a:prstGeom prst="leftBracke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87" name="Left Bracket 86">
                <a:extLst>
                  <a:ext uri="{FF2B5EF4-FFF2-40B4-BE49-F238E27FC236}">
                    <a16:creationId xmlns:a16="http://schemas.microsoft.com/office/drawing/2014/main" id="{65A2C2F1-B0A1-C3A0-5A1C-212D115F6946}"/>
                  </a:ext>
                </a:extLst>
              </p:cNvPr>
              <p:cNvSpPr/>
              <p:nvPr/>
            </p:nvSpPr>
            <p:spPr>
              <a:xfrm flipH="1">
                <a:off x="10288136" y="3100444"/>
                <a:ext cx="85480" cy="2783889"/>
              </a:xfrm>
              <a:prstGeom prst="leftBracke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5C8F555E-F143-F3BE-AB3F-7EDDA128CD8C}"/>
                  </a:ext>
                </a:extLst>
              </p:cNvPr>
              <p:cNvSpPr/>
              <p:nvPr/>
            </p:nvSpPr>
            <p:spPr>
              <a:xfrm>
                <a:off x="9990468" y="3151187"/>
                <a:ext cx="257476" cy="673239"/>
              </a:xfrm>
              <a:prstGeom prst="rect">
                <a:avLst/>
              </a:prstGeom>
              <a:solidFill>
                <a:srgbClr val="FDE7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12A6F6C-7BF1-915F-EBFC-0AA110DFF400}"/>
                  </a:ext>
                </a:extLst>
              </p:cNvPr>
              <p:cNvSpPr/>
              <p:nvPr/>
            </p:nvSpPr>
            <p:spPr>
              <a:xfrm>
                <a:off x="9990468" y="3834473"/>
                <a:ext cx="257476" cy="673239"/>
              </a:xfrm>
              <a:prstGeom prst="rect">
                <a:avLst/>
              </a:prstGeom>
              <a:solidFill>
                <a:srgbClr val="39B8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A3E9610-F1A0-BD01-F702-4AA6C60D2534}"/>
                  </a:ext>
                </a:extLst>
              </p:cNvPr>
              <p:cNvSpPr/>
              <p:nvPr/>
            </p:nvSpPr>
            <p:spPr>
              <a:xfrm>
                <a:off x="9990468" y="4507712"/>
                <a:ext cx="257476" cy="673239"/>
              </a:xfrm>
              <a:prstGeom prst="rect">
                <a:avLst/>
              </a:prstGeom>
              <a:solidFill>
                <a:srgbClr val="2F66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5E4A622-A5ED-D519-F777-C465EFD00036}"/>
                  </a:ext>
                </a:extLst>
              </p:cNvPr>
              <p:cNvSpPr/>
              <p:nvPr/>
            </p:nvSpPr>
            <p:spPr>
              <a:xfrm>
                <a:off x="9990468" y="5180951"/>
                <a:ext cx="257476" cy="673239"/>
              </a:xfrm>
              <a:prstGeom prst="rect">
                <a:avLst/>
              </a:prstGeom>
              <a:solidFill>
                <a:srgbClr val="4200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66418C5-CE5C-CBF7-CA5D-C87605F67FD4}"/>
                  </a:ext>
                </a:extLst>
              </p:cNvPr>
              <p:cNvSpPr txBox="1"/>
              <p:nvPr/>
            </p:nvSpPr>
            <p:spPr>
              <a:xfrm>
                <a:off x="9945739" y="3287632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x</a:t>
                </a:r>
                <a:r>
                  <a:rPr lang="nl-NL" baseline="-25000">
                    <a:solidFill>
                      <a:schemeClr val="bg1"/>
                    </a:solidFill>
                  </a:rPr>
                  <a:t>1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7D98D82-8F46-5E35-5FEF-2C345CA255DC}"/>
                  </a:ext>
                </a:extLst>
              </p:cNvPr>
              <p:cNvSpPr txBox="1"/>
              <p:nvPr/>
            </p:nvSpPr>
            <p:spPr>
              <a:xfrm>
                <a:off x="9949071" y="3960871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x</a:t>
                </a:r>
                <a:r>
                  <a:rPr lang="nl-NL" baseline="-25000">
                    <a:solidFill>
                      <a:schemeClr val="bg1"/>
                    </a:solidFill>
                  </a:rPr>
                  <a:t>2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AA5877C-CC88-E429-CCFD-AF70AD05F9CD}"/>
                  </a:ext>
                </a:extLst>
              </p:cNvPr>
              <p:cNvSpPr txBox="1"/>
              <p:nvPr/>
            </p:nvSpPr>
            <p:spPr>
              <a:xfrm>
                <a:off x="9940667" y="4644157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x</a:t>
                </a:r>
                <a:r>
                  <a:rPr lang="nl-NL" baseline="-25000">
                    <a:solidFill>
                      <a:schemeClr val="bg1"/>
                    </a:solidFill>
                  </a:rPr>
                  <a:t>3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2504EF6-5488-699D-9D3D-EB54DA423F63}"/>
                  </a:ext>
                </a:extLst>
              </p:cNvPr>
              <p:cNvSpPr txBox="1"/>
              <p:nvPr/>
            </p:nvSpPr>
            <p:spPr>
              <a:xfrm>
                <a:off x="9939023" y="5327443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x</a:t>
                </a:r>
                <a:r>
                  <a:rPr lang="nl-NL" baseline="-25000">
                    <a:solidFill>
                      <a:schemeClr val="bg1"/>
                    </a:solidFill>
                  </a:rPr>
                  <a:t>4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6B136C1-F686-98F6-71F0-EED15F8E4BC1}"/>
                </a:ext>
              </a:extLst>
            </p:cNvPr>
            <p:cNvGrpSpPr/>
            <p:nvPr/>
          </p:nvGrpSpPr>
          <p:grpSpPr>
            <a:xfrm>
              <a:off x="11317376" y="3653355"/>
              <a:ext cx="523130" cy="2783889"/>
              <a:chOff x="11156604" y="3100696"/>
              <a:chExt cx="523130" cy="2783889"/>
            </a:xfrm>
          </p:grpSpPr>
          <p:sp>
            <p:nvSpPr>
              <p:cNvPr id="107" name="Left Bracket 106">
                <a:extLst>
                  <a:ext uri="{FF2B5EF4-FFF2-40B4-BE49-F238E27FC236}">
                    <a16:creationId xmlns:a16="http://schemas.microsoft.com/office/drawing/2014/main" id="{E452E968-38B0-14F8-E2B2-2DBFA9269603}"/>
                  </a:ext>
                </a:extLst>
              </p:cNvPr>
              <p:cNvSpPr/>
              <p:nvPr/>
            </p:nvSpPr>
            <p:spPr>
              <a:xfrm>
                <a:off x="11156604" y="3100696"/>
                <a:ext cx="105301" cy="2783889"/>
              </a:xfrm>
              <a:prstGeom prst="leftBracke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8" name="Left Bracket 107">
                <a:extLst>
                  <a:ext uri="{FF2B5EF4-FFF2-40B4-BE49-F238E27FC236}">
                    <a16:creationId xmlns:a16="http://schemas.microsoft.com/office/drawing/2014/main" id="{83D38BBA-3DF2-9FF1-9D78-43E121B953A8}"/>
                  </a:ext>
                </a:extLst>
              </p:cNvPr>
              <p:cNvSpPr/>
              <p:nvPr/>
            </p:nvSpPr>
            <p:spPr>
              <a:xfrm flipH="1">
                <a:off x="11594254" y="3100696"/>
                <a:ext cx="85480" cy="2783889"/>
              </a:xfrm>
              <a:prstGeom prst="leftBracke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FF27EB2-58EF-7E14-5FE6-16303236A38C}"/>
                  </a:ext>
                </a:extLst>
              </p:cNvPr>
              <p:cNvSpPr/>
              <p:nvPr/>
            </p:nvSpPr>
            <p:spPr>
              <a:xfrm>
                <a:off x="11296586" y="3151439"/>
                <a:ext cx="257476" cy="673239"/>
              </a:xfrm>
              <a:prstGeom prst="rect">
                <a:avLst/>
              </a:prstGeom>
              <a:solidFill>
                <a:srgbClr val="FDE72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D799A6EE-1F31-B5A9-6FD2-788BDDA0E49E}"/>
                  </a:ext>
                </a:extLst>
              </p:cNvPr>
              <p:cNvSpPr/>
              <p:nvPr/>
            </p:nvSpPr>
            <p:spPr>
              <a:xfrm>
                <a:off x="11296586" y="3834725"/>
                <a:ext cx="257476" cy="673239"/>
              </a:xfrm>
              <a:prstGeom prst="rect">
                <a:avLst/>
              </a:prstGeom>
              <a:solidFill>
                <a:srgbClr val="39B8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1B2E476-B287-61CB-CBAA-80AD4A6E537E}"/>
                  </a:ext>
                </a:extLst>
              </p:cNvPr>
              <p:cNvSpPr/>
              <p:nvPr/>
            </p:nvSpPr>
            <p:spPr>
              <a:xfrm>
                <a:off x="11296586" y="4507964"/>
                <a:ext cx="257476" cy="673239"/>
              </a:xfrm>
              <a:prstGeom prst="rect">
                <a:avLst/>
              </a:prstGeom>
              <a:solidFill>
                <a:srgbClr val="2F66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5B017947-E040-1754-99A3-F2D79EB3B639}"/>
                  </a:ext>
                </a:extLst>
              </p:cNvPr>
              <p:cNvSpPr/>
              <p:nvPr/>
            </p:nvSpPr>
            <p:spPr>
              <a:xfrm>
                <a:off x="11296586" y="5181203"/>
                <a:ext cx="257476" cy="673239"/>
              </a:xfrm>
              <a:prstGeom prst="rect">
                <a:avLst/>
              </a:prstGeom>
              <a:solidFill>
                <a:srgbClr val="42005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64C5DEF-FD62-695E-635C-4E68401CAD4E}"/>
                  </a:ext>
                </a:extLst>
              </p:cNvPr>
              <p:cNvSpPr txBox="1"/>
              <p:nvPr/>
            </p:nvSpPr>
            <p:spPr>
              <a:xfrm>
                <a:off x="11241809" y="3287884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b</a:t>
                </a:r>
                <a:r>
                  <a:rPr lang="nl-NL" baseline="-25000">
                    <a:solidFill>
                      <a:schemeClr val="bg1"/>
                    </a:solidFill>
                  </a:rPr>
                  <a:t>1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B9C4B95-8E50-194A-EF2C-CE1B2A1B8F48}"/>
                  </a:ext>
                </a:extLst>
              </p:cNvPr>
              <p:cNvSpPr txBox="1"/>
              <p:nvPr/>
            </p:nvSpPr>
            <p:spPr>
              <a:xfrm>
                <a:off x="11235093" y="3961123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b</a:t>
                </a:r>
                <a:r>
                  <a:rPr lang="nl-NL" baseline="-25000">
                    <a:solidFill>
                      <a:schemeClr val="bg1"/>
                    </a:solidFill>
                  </a:rPr>
                  <a:t>2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107D930-B13A-6B28-493E-14602AAD5FDC}"/>
                  </a:ext>
                </a:extLst>
              </p:cNvPr>
              <p:cNvSpPr txBox="1"/>
              <p:nvPr/>
            </p:nvSpPr>
            <p:spPr>
              <a:xfrm>
                <a:off x="11236737" y="4644409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b</a:t>
                </a:r>
                <a:r>
                  <a:rPr lang="nl-NL" baseline="-25000">
                    <a:solidFill>
                      <a:schemeClr val="bg1"/>
                    </a:solidFill>
                  </a:rPr>
                  <a:t>3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BE3AD88F-FDD7-35CD-58AE-331AB944E849}"/>
                  </a:ext>
                </a:extLst>
              </p:cNvPr>
              <p:cNvSpPr txBox="1"/>
              <p:nvPr/>
            </p:nvSpPr>
            <p:spPr>
              <a:xfrm>
                <a:off x="11245141" y="5327695"/>
                <a:ext cx="3850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>
                    <a:solidFill>
                      <a:schemeClr val="bg1"/>
                    </a:solidFill>
                  </a:rPr>
                  <a:t>b</a:t>
                </a:r>
                <a:r>
                  <a:rPr lang="nl-NL" baseline="-25000">
                    <a:solidFill>
                      <a:schemeClr val="bg1"/>
                    </a:solidFill>
                  </a:rPr>
                  <a:t>4</a:t>
                </a:r>
                <a:endParaRPr lang="nl-NL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66167F6-8A1E-D162-68B9-888C3D62F841}"/>
              </a:ext>
            </a:extLst>
          </p:cNvPr>
          <p:cNvSpPr/>
          <p:nvPr/>
        </p:nvSpPr>
        <p:spPr>
          <a:xfrm>
            <a:off x="9365202" y="1027906"/>
            <a:ext cx="2612705" cy="1150049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92C1A87-18E1-763C-0D1C-9126AE3BA603}"/>
              </a:ext>
            </a:extLst>
          </p:cNvPr>
          <p:cNvSpPr/>
          <p:nvPr/>
        </p:nvSpPr>
        <p:spPr>
          <a:xfrm>
            <a:off x="6873084" y="4336388"/>
            <a:ext cx="5037758" cy="749537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011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  <p:bldP spid="1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6D071C5-6FE6-2187-EA03-62149FDF537F}"/>
              </a:ext>
            </a:extLst>
          </p:cNvPr>
          <p:cNvGrpSpPr/>
          <p:nvPr/>
        </p:nvGrpSpPr>
        <p:grpSpPr>
          <a:xfrm>
            <a:off x="8134656" y="981711"/>
            <a:ext cx="3584724" cy="2887974"/>
            <a:chOff x="8134656" y="981711"/>
            <a:chExt cx="3584724" cy="2887974"/>
          </a:xfrm>
        </p:grpSpPr>
        <p:pic>
          <p:nvPicPr>
            <p:cNvPr id="4" name="Content Placeholder 5">
              <a:extLst>
                <a:ext uri="{FF2B5EF4-FFF2-40B4-BE49-F238E27FC236}">
                  <a16:creationId xmlns:a16="http://schemas.microsoft.com/office/drawing/2014/main" id="{5B48A31C-525F-05BB-AFF9-73528F384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1151" y="981711"/>
              <a:ext cx="1382323" cy="168782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33792B-C761-73C6-4C8B-9E7F0F0D4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4656" y="2800257"/>
              <a:ext cx="3584724" cy="106942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EE3B425-FA13-0155-83AF-64B24A2AC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93474" y="1027593"/>
              <a:ext cx="1925906" cy="168865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C47355-FF35-4CC6-AC4C-14880046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solidFill>
                  <a:schemeClr val="tx2"/>
                </a:solidFill>
              </a:rPr>
              <a:t>Earlier Work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4A57E1-FC5E-4B79-811D-87641220F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079902" cy="4858539"/>
          </a:xfrm>
        </p:spPr>
        <p:txBody>
          <a:bodyPr>
            <a:normAutofit/>
          </a:bodyPr>
          <a:lstStyle/>
          <a:p>
            <a:r>
              <a:rPr lang="nl-NL">
                <a:solidFill>
                  <a:schemeClr val="tx2"/>
                </a:solidFill>
                <a:latin typeface="+mj-lt"/>
              </a:rPr>
              <a:t>Good results for national-scale model</a:t>
            </a:r>
          </a:p>
          <a:p>
            <a:r>
              <a:rPr lang="nl-NL">
                <a:solidFill>
                  <a:schemeClr val="tx2"/>
                </a:solidFill>
                <a:latin typeface="+mj-lt"/>
              </a:rPr>
              <a:t>Global groundwater with MODFLOW 6 prototype</a:t>
            </a:r>
          </a:p>
          <a:p>
            <a:pPr marL="0" indent="0">
              <a:buNone/>
            </a:pPr>
            <a:r>
              <a:rPr lang="nl-NL">
                <a:solidFill>
                  <a:schemeClr val="tx2"/>
                </a:solidFill>
                <a:latin typeface="+mj-lt"/>
              </a:rPr>
              <a:t>More work needed: </a:t>
            </a:r>
            <a:r>
              <a:rPr lang="en-US">
                <a:solidFill>
                  <a:schemeClr val="tx2"/>
                </a:solidFill>
                <a:latin typeface="+mj-lt"/>
              </a:rPr>
              <a:t>a </a:t>
            </a:r>
            <a:r>
              <a:rPr lang="en-US" b="1">
                <a:solidFill>
                  <a:schemeClr val="tx2"/>
                </a:solidFill>
                <a:latin typeface="+mj-lt"/>
              </a:rPr>
              <a:t>framework solution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+mj-lt"/>
              </a:rPr>
              <a:t>Current and future model types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+mj-lt"/>
              </a:rPr>
              <a:t>Feature complete: XT3D, BUY, TVD, MVR, …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+mj-lt"/>
              </a:rPr>
              <a:t>Possible to add or modify hydrologic concepts without expert knowledge on parallelization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+mj-lt"/>
              </a:rPr>
              <a:t>MODFLOW remains available in its core set of functionality</a:t>
            </a:r>
          </a:p>
          <a:p>
            <a:pPr lvl="1"/>
            <a:r>
              <a:rPr lang="en-US">
                <a:solidFill>
                  <a:schemeClr val="tx2"/>
                </a:solidFill>
                <a:latin typeface="+mj-lt"/>
              </a:rPr>
              <a:t>FloPy support for pre- and post-processing</a:t>
            </a:r>
            <a:endParaRPr lang="en-US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65CC33-7A4E-1291-C3E7-8923147F413A}"/>
              </a:ext>
            </a:extLst>
          </p:cNvPr>
          <p:cNvGrpSpPr/>
          <p:nvPr/>
        </p:nvGrpSpPr>
        <p:grpSpPr>
          <a:xfrm>
            <a:off x="8134656" y="3933588"/>
            <a:ext cx="3500699" cy="2750575"/>
            <a:chOff x="8134656" y="3933588"/>
            <a:chExt cx="3500699" cy="27505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942E2E-4D71-440D-238C-A8D9221F6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11151" y="3933588"/>
              <a:ext cx="2504160" cy="178150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EF24C2-09E3-5D64-45F0-FBFDD6C48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34656" y="5761805"/>
              <a:ext cx="3500699" cy="9223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538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4A57E1-FC5E-4B79-811D-87641220F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252404" cy="4758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+mj-lt"/>
              </a:rPr>
              <a:t>MODFLOW 6 has conceptualized a hydrologic process model into a “Numerical Model”</a:t>
            </a:r>
          </a:p>
          <a:p>
            <a:r>
              <a:rPr lang="nl-NL" dirty="0">
                <a:solidFill>
                  <a:schemeClr val="tx2"/>
                </a:solidFill>
                <a:latin typeface="+mj-lt"/>
              </a:rPr>
              <a:t>Multiple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models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can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be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connected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with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Exchanges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to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be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solved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in a single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Numerical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Solution</a:t>
            </a:r>
          </a:p>
          <a:p>
            <a:r>
              <a:rPr lang="nl-NL" dirty="0" err="1">
                <a:solidFill>
                  <a:schemeClr val="tx2"/>
                </a:solidFill>
                <a:latin typeface="+mj-lt"/>
              </a:rPr>
              <a:t>When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models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are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distributed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over processors, “Virtual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Models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” are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used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dirty="0" err="1">
                <a:solidFill>
                  <a:schemeClr val="tx2"/>
                </a:solidFill>
                <a:latin typeface="+mj-lt"/>
              </a:rPr>
              <a:t>to</a:t>
            </a:r>
            <a:r>
              <a:rPr lang="nl-NL" dirty="0">
                <a:solidFill>
                  <a:schemeClr val="tx2"/>
                </a:solidFill>
                <a:latin typeface="+mj-lt"/>
              </a:rPr>
              <a:t> access remote data</a:t>
            </a:r>
          </a:p>
          <a:p>
            <a:r>
              <a:rPr lang="nl-NL" dirty="0">
                <a:solidFill>
                  <a:schemeClr val="tx2"/>
                </a:solidFill>
                <a:latin typeface="+mj-lt"/>
              </a:rPr>
              <a:t>The IMS solver is silently replaced internally with a PETSc solver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47355-FF35-4CC6-AC4C-14880046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solidFill>
                  <a:schemeClr val="tx2"/>
                </a:solidFill>
              </a:rPr>
              <a:t>Framework Solution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DF9AA-7576-E24C-123A-38E9283824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40"/>
          <a:stretch/>
        </p:blipFill>
        <p:spPr>
          <a:xfrm>
            <a:off x="8402046" y="679452"/>
            <a:ext cx="2378248" cy="2815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A65982-FBD1-DE71-2E36-E63B55D33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369" y="3584300"/>
            <a:ext cx="3124430" cy="309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2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B61E-897F-D5D1-CB8F-6EEFE8FD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b="1">
                <a:solidFill>
                  <a:schemeClr val="tx2"/>
                </a:solidFill>
              </a:rPr>
              <a:t>Parallel Solver: PETSc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31E6C-442F-78E0-B072-64CC5F20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53526" cy="4875800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600" dirty="0">
                <a:solidFill>
                  <a:schemeClr val="tx2"/>
                </a:solidFill>
                <a:latin typeface="+mj-lt"/>
              </a:rPr>
              <a:t>The Portable,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Extensible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Toolkit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for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Scientific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Computation</a:t>
            </a:r>
            <a:endParaRPr lang="nl-NL" sz="2600" dirty="0">
              <a:solidFill>
                <a:schemeClr val="tx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  <a:latin typeface="+mj-lt"/>
              </a:rPr>
              <a:t>Suite of data structures and routines developed and maintained by ANL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2"/>
                </a:solidFill>
                <a:latin typeface="+mj-lt"/>
              </a:rPr>
              <a:t>Scalable (parallel) solution of scientific applications modeled by partial differential equations</a:t>
            </a:r>
          </a:p>
          <a:p>
            <a:r>
              <a:rPr lang="nl-NL" sz="2600" dirty="0" err="1">
                <a:solidFill>
                  <a:schemeClr val="tx2"/>
                </a:solidFill>
                <a:latin typeface="+mj-lt"/>
              </a:rPr>
              <a:t>Robust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,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Efficient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, Portable</a:t>
            </a:r>
          </a:p>
          <a:p>
            <a:r>
              <a:rPr lang="nl-NL" sz="2600" dirty="0">
                <a:solidFill>
                  <a:schemeClr val="tx2"/>
                </a:solidFill>
                <a:latin typeface="+mj-lt"/>
              </a:rPr>
              <a:t>Fortran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bindings</a:t>
            </a:r>
            <a:endParaRPr lang="nl-NL" sz="2600" dirty="0">
              <a:solidFill>
                <a:schemeClr val="tx2"/>
              </a:solidFill>
              <a:latin typeface="+mj-lt"/>
            </a:endParaRPr>
          </a:p>
          <a:p>
            <a:r>
              <a:rPr lang="nl-NL" sz="2600" dirty="0" err="1">
                <a:solidFill>
                  <a:schemeClr val="tx2"/>
                </a:solidFill>
                <a:latin typeface="+mj-lt"/>
              </a:rPr>
              <a:t>And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: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PETSc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solver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configured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from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IMS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settings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,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including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MILU(T)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02281F-8F7F-08C8-0477-55E54110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55023"/>
            <a:ext cx="5938310" cy="3347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C25B23-C3F4-E77E-B359-FE172AEABC64}"/>
              </a:ext>
            </a:extLst>
          </p:cNvPr>
          <p:cNvSpPr txBox="1"/>
          <p:nvPr/>
        </p:nvSpPr>
        <p:spPr>
          <a:xfrm>
            <a:off x="5970396" y="5538768"/>
            <a:ext cx="6063914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nl-NL" sz="2800" dirty="0"/>
              <a:t>The </a:t>
            </a:r>
            <a:r>
              <a:rPr lang="nl-NL" sz="2800" dirty="0" err="1"/>
              <a:t>good</a:t>
            </a:r>
            <a:r>
              <a:rPr lang="nl-NL" sz="2800" dirty="0"/>
              <a:t> news: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don’t</a:t>
            </a:r>
            <a:r>
              <a:rPr lang="nl-NL" sz="2800" dirty="0"/>
              <a:t> </a:t>
            </a:r>
            <a:r>
              <a:rPr lang="nl-NL" sz="2800" dirty="0" err="1"/>
              <a:t>need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</a:t>
            </a:r>
            <a:r>
              <a:rPr lang="nl-NL" sz="2800" dirty="0" err="1"/>
              <a:t>know</a:t>
            </a:r>
            <a:r>
              <a:rPr lang="nl-NL" sz="2800" dirty="0"/>
              <a:t> </a:t>
            </a:r>
            <a:r>
              <a:rPr lang="nl-NL" sz="2800" dirty="0" err="1"/>
              <a:t>any</a:t>
            </a:r>
            <a:r>
              <a:rPr lang="nl-NL" sz="2800" dirty="0"/>
              <a:t> of </a:t>
            </a:r>
            <a:r>
              <a:rPr lang="nl-NL" sz="2800" dirty="0" err="1"/>
              <a:t>this</a:t>
            </a:r>
            <a:r>
              <a:rPr lang="nl-NL" sz="2800" dirty="0"/>
              <a:t> </a:t>
            </a:r>
            <a:r>
              <a:rPr lang="nl-NL" sz="2800" dirty="0" err="1"/>
              <a:t>to</a:t>
            </a:r>
            <a:r>
              <a:rPr lang="nl-NL" sz="2800" dirty="0"/>
              <a:t> run Parallel MODFLOW!</a:t>
            </a:r>
          </a:p>
        </p:txBody>
      </p:sp>
    </p:spTree>
    <p:extLst>
      <p:ext uri="{BB962C8B-B14F-4D97-AF65-F5344CB8AC3E}">
        <p14:creationId xmlns:p14="http://schemas.microsoft.com/office/powerpoint/2010/main" val="42707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386 Laptop | eBay">
            <a:extLst>
              <a:ext uri="{FF2B5EF4-FFF2-40B4-BE49-F238E27FC236}">
                <a16:creationId xmlns:a16="http://schemas.microsoft.com/office/drawing/2014/main" id="{3870C4FA-8B4E-B8D2-75D9-361B89F67E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5542" y="1357166"/>
            <a:ext cx="1204749" cy="1606332"/>
          </a:xfrm>
          <a:prstGeom prst="rect">
            <a:avLst/>
          </a:prstGeom>
        </p:spPr>
      </p:pic>
      <p:pic>
        <p:nvPicPr>
          <p:cNvPr id="14" name="Picture 13" descr="Netherlands obtains computing time on Europe's most powerful supercomputer  LUMI | SURF.nl">
            <a:extLst>
              <a:ext uri="{FF2B5EF4-FFF2-40B4-BE49-F238E27FC236}">
                <a16:creationId xmlns:a16="http://schemas.microsoft.com/office/drawing/2014/main" id="{F496303F-5B02-894B-3136-855E278011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0245542" y="1517440"/>
            <a:ext cx="1670966" cy="8772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C47355-FF35-4CC6-AC4C-14880046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chemeClr val="tx2"/>
                </a:solidFill>
              </a:rPr>
              <a:t>How </a:t>
            </a:r>
            <a:r>
              <a:rPr lang="nl-NL" b="1" dirty="0" err="1">
                <a:solidFill>
                  <a:schemeClr val="tx2"/>
                </a:solidFill>
              </a:rPr>
              <a:t>to</a:t>
            </a:r>
            <a:r>
              <a:rPr lang="nl-NL" b="1" dirty="0">
                <a:solidFill>
                  <a:schemeClr val="tx2"/>
                </a:solidFill>
              </a:rPr>
              <a:t> get </a:t>
            </a:r>
            <a:r>
              <a:rPr lang="nl-NL" b="1" i="1" dirty="0">
                <a:solidFill>
                  <a:schemeClr val="tx2"/>
                </a:solidFill>
              </a:rPr>
              <a:t>Extended</a:t>
            </a:r>
            <a:r>
              <a:rPr lang="nl-NL" b="1" dirty="0">
                <a:solidFill>
                  <a:schemeClr val="tx2"/>
                </a:solidFill>
              </a:rPr>
              <a:t> MODFLOW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4626C5-3444-919B-15C8-3E42573D5660}"/>
              </a:ext>
            </a:extLst>
          </p:cNvPr>
          <p:cNvSpPr/>
          <p:nvPr/>
        </p:nvSpPr>
        <p:spPr>
          <a:xfrm>
            <a:off x="838199" y="1584813"/>
            <a:ext cx="503506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+mj-lt"/>
              </a:rPr>
              <a:t>On your laptop</a:t>
            </a:r>
          </a:p>
          <a:p>
            <a:pPr lvl="1"/>
            <a:r>
              <a:rPr lang="en-US" sz="2400" dirty="0">
                <a:solidFill>
                  <a:schemeClr val="tx2"/>
                </a:solidFill>
                <a:latin typeface="+mj-lt"/>
              </a:rPr>
              <a:t>		</a:t>
            </a:r>
          </a:p>
          <a:p>
            <a:pPr lvl="1"/>
            <a:r>
              <a:rPr lang="en-US" sz="2400" b="1" dirty="0">
                <a:solidFill>
                  <a:schemeClr val="tx2"/>
                </a:solidFill>
                <a:latin typeface="+mj-lt"/>
              </a:rPr>
              <a:t>Windows</a:t>
            </a:r>
          </a:p>
          <a:p>
            <a:pPr lvl="1"/>
            <a:r>
              <a:rPr lang="en-US" sz="2400" dirty="0">
                <a:solidFill>
                  <a:schemeClr val="tx2"/>
                </a:solidFill>
                <a:latin typeface="+mj-lt"/>
              </a:rPr>
              <a:t>get the zip file from the release (or nightly build)</a:t>
            </a:r>
          </a:p>
          <a:p>
            <a:pPr lvl="1"/>
            <a:r>
              <a:rPr lang="en-US" sz="2400" dirty="0">
                <a:solidFill>
                  <a:schemeClr val="tx2"/>
                </a:solidFill>
                <a:latin typeface="+mj-lt"/>
              </a:rPr>
              <a:t>					</a:t>
            </a:r>
          </a:p>
          <a:p>
            <a:pPr lvl="1"/>
            <a:r>
              <a:rPr lang="en-US" sz="2400" b="1" dirty="0">
                <a:solidFill>
                  <a:schemeClr val="tx2"/>
                </a:solidFill>
                <a:latin typeface="+mj-lt"/>
              </a:rPr>
              <a:t>Linux/MacOS</a:t>
            </a:r>
          </a:p>
          <a:p>
            <a:pPr lvl="1"/>
            <a:r>
              <a:rPr lang="en-US" sz="2400" i="1" dirty="0">
                <a:solidFill>
                  <a:srgbClr val="0070C0"/>
                </a:solidFill>
                <a:latin typeface="+mj-lt"/>
              </a:rPr>
              <a:t>Easy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: use the </a:t>
            </a:r>
            <a:r>
              <a:rPr lang="en-US" sz="2400" dirty="0" err="1">
                <a:solidFill>
                  <a:schemeClr val="tx2"/>
                </a:solidFill>
                <a:latin typeface="+mj-lt"/>
              </a:rPr>
              <a:t>pixi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 environment for this class, and modify</a:t>
            </a:r>
          </a:p>
          <a:p>
            <a:pPr lvl="1"/>
            <a:r>
              <a:rPr lang="en-US" sz="2400" i="1" dirty="0">
                <a:solidFill>
                  <a:srgbClr val="C00000"/>
                </a:solidFill>
                <a:latin typeface="+mj-lt"/>
              </a:rPr>
              <a:t>Advanced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: Install </a:t>
            </a:r>
            <a:r>
              <a:rPr lang="en-US" sz="2400" dirty="0" err="1">
                <a:solidFill>
                  <a:schemeClr val="tx2"/>
                </a:solidFill>
                <a:latin typeface="+mj-lt"/>
              </a:rPr>
              <a:t>PETSc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400" dirty="0" err="1">
                <a:solidFill>
                  <a:schemeClr val="tx2"/>
                </a:solidFill>
                <a:latin typeface="+mj-lt"/>
              </a:rPr>
              <a:t>netcdf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, MPI, ... yourself and use the meson build system for the extended build</a:t>
            </a:r>
          </a:p>
          <a:p>
            <a:endParaRPr lang="en-US" sz="2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B0839D-866F-8F4B-DF44-7AEF82D6D1A2}"/>
              </a:ext>
            </a:extLst>
          </p:cNvPr>
          <p:cNvSpPr/>
          <p:nvPr/>
        </p:nvSpPr>
        <p:spPr>
          <a:xfrm>
            <a:off x="6881445" y="1565562"/>
            <a:ext cx="5035063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+mj-lt"/>
              </a:rPr>
              <a:t>On your supercomputer</a:t>
            </a:r>
          </a:p>
          <a:p>
            <a:endParaRPr lang="en-US" sz="2400" dirty="0">
              <a:solidFill>
                <a:schemeClr val="tx2"/>
              </a:solidFill>
              <a:latin typeface="+mj-lt"/>
            </a:endParaRPr>
          </a:p>
          <a:p>
            <a:r>
              <a:rPr lang="en-US" sz="2400" dirty="0">
                <a:solidFill>
                  <a:schemeClr val="tx2"/>
                </a:solidFill>
                <a:latin typeface="+mj-lt"/>
              </a:rPr>
              <a:t>Ideally use the system MPI libraries for optimal performance</a:t>
            </a:r>
          </a:p>
          <a:p>
            <a:endParaRPr lang="en-US" sz="2400" dirty="0">
              <a:solidFill>
                <a:schemeClr val="tx2"/>
              </a:solidFill>
              <a:latin typeface="+mj-lt"/>
            </a:endParaRPr>
          </a:p>
          <a:p>
            <a:r>
              <a:rPr lang="en-US" sz="2400" i="1" dirty="0">
                <a:solidFill>
                  <a:srgbClr val="0070C0"/>
                </a:solidFill>
                <a:latin typeface="+mj-lt"/>
              </a:rPr>
              <a:t>Easy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: Load the MODFLOW 6 module if available</a:t>
            </a:r>
          </a:p>
          <a:p>
            <a:r>
              <a:rPr lang="en-US" sz="2400" i="1" dirty="0">
                <a:solidFill>
                  <a:srgbClr val="0070C0"/>
                </a:solidFill>
                <a:latin typeface="+mj-lt"/>
              </a:rPr>
              <a:t>Easy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: follow the approach on the left with the </a:t>
            </a:r>
            <a:r>
              <a:rPr lang="en-US" sz="2400" dirty="0" err="1">
                <a:solidFill>
                  <a:schemeClr val="tx2"/>
                </a:solidFill>
                <a:latin typeface="+mj-lt"/>
              </a:rPr>
              <a:t>pixi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 environment (suboptimal)</a:t>
            </a:r>
          </a:p>
          <a:p>
            <a:r>
              <a:rPr lang="en-US" sz="2400" i="1" dirty="0">
                <a:solidFill>
                  <a:srgbClr val="C00000"/>
                </a:solidFill>
                <a:latin typeface="+mj-lt"/>
              </a:rPr>
              <a:t>Advanced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: use the system libs and build extended MODFLOW using meson</a:t>
            </a:r>
          </a:p>
          <a:p>
            <a:r>
              <a:rPr lang="en-US" sz="2400" i="1" dirty="0">
                <a:solidFill>
                  <a:srgbClr val="C00000"/>
                </a:solidFill>
                <a:latin typeface="+mj-lt"/>
              </a:rPr>
              <a:t>Advanced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: add MODFLOW 6 extended to the system’s software catalog (module, </a:t>
            </a:r>
            <a:r>
              <a:rPr lang="en-US" sz="2400" dirty="0" err="1">
                <a:solidFill>
                  <a:schemeClr val="tx2"/>
                </a:solidFill>
                <a:latin typeface="+mj-lt"/>
              </a:rPr>
              <a:t>easybuild</a:t>
            </a:r>
            <a:r>
              <a:rPr lang="en-US" sz="2400" dirty="0">
                <a:solidFill>
                  <a:schemeClr val="tx2"/>
                </a:solidFill>
                <a:latin typeface="+mj-lt"/>
              </a:rPr>
              <a:t>, …)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72AE6B-D075-FF13-AE30-BE67299E1E12}"/>
              </a:ext>
            </a:extLst>
          </p:cNvPr>
          <p:cNvCxnSpPr>
            <a:cxnSpLocks/>
          </p:cNvCxnSpPr>
          <p:nvPr/>
        </p:nvCxnSpPr>
        <p:spPr>
          <a:xfrm flipH="1">
            <a:off x="6095999" y="1840523"/>
            <a:ext cx="1" cy="4759570"/>
          </a:xfrm>
          <a:prstGeom prst="line">
            <a:avLst/>
          </a:prstGeom>
          <a:ln w="57150">
            <a:solidFill>
              <a:srgbClr val="44546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48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488A-F56D-CD7E-6701-CAF53BF1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CC31-A54D-53C9-D76B-54A99371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chemeClr val="tx2"/>
                </a:solidFill>
              </a:rPr>
              <a:t>How </a:t>
            </a:r>
            <a:r>
              <a:rPr lang="nl-NL" b="1" dirty="0" err="1">
                <a:solidFill>
                  <a:schemeClr val="tx2"/>
                </a:solidFill>
              </a:rPr>
              <a:t>to</a:t>
            </a:r>
            <a:r>
              <a:rPr lang="nl-NL" b="1" dirty="0">
                <a:solidFill>
                  <a:schemeClr val="tx2"/>
                </a:solidFill>
              </a:rPr>
              <a:t> get </a:t>
            </a:r>
            <a:r>
              <a:rPr lang="nl-NL" b="1" i="1" dirty="0">
                <a:solidFill>
                  <a:schemeClr val="tx2"/>
                </a:solidFill>
              </a:rPr>
              <a:t>Extended</a:t>
            </a:r>
            <a:r>
              <a:rPr lang="nl-NL" b="1" dirty="0">
                <a:solidFill>
                  <a:schemeClr val="tx2"/>
                </a:solidFill>
              </a:rPr>
              <a:t> MODFLOW (support)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AA931-0351-EAD8-AA28-6C250FA6B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12"/>
          <a:stretch>
            <a:fillRect/>
          </a:stretch>
        </p:blipFill>
        <p:spPr>
          <a:xfrm>
            <a:off x="6554802" y="2011430"/>
            <a:ext cx="4855413" cy="4197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E89C83-94DB-3084-4422-DCF9561A115D}"/>
              </a:ext>
            </a:extLst>
          </p:cNvPr>
          <p:cNvSpPr txBox="1"/>
          <p:nvPr/>
        </p:nvSpPr>
        <p:spPr>
          <a:xfrm>
            <a:off x="6554802" y="6389381"/>
            <a:ext cx="5775158" cy="2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https://github.com/MODFLOW-ORG/modflow6/wiki/Extended-MODFLOW-User-Guide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5CE7F4-7E00-BED5-2455-A0D63405D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46" y="2011430"/>
            <a:ext cx="5359501" cy="40236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9C2E28B-1ADD-40E4-59FE-F60AE8E2E108}"/>
              </a:ext>
            </a:extLst>
          </p:cNvPr>
          <p:cNvSpPr txBox="1"/>
          <p:nvPr/>
        </p:nvSpPr>
        <p:spPr>
          <a:xfrm>
            <a:off x="242318" y="6395670"/>
            <a:ext cx="6155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https://github.com/MODFLOW-ORG/modflow6/discussions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9B7FF7-07C5-E484-0837-EE281171F653}"/>
              </a:ext>
            </a:extLst>
          </p:cNvPr>
          <p:cNvSpPr txBox="1"/>
          <p:nvPr/>
        </p:nvSpPr>
        <p:spPr>
          <a:xfrm>
            <a:off x="2183000" y="1537877"/>
            <a:ext cx="1992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Discussion Board</a:t>
            </a:r>
            <a:endParaRPr lang="nl-NL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2B0462-B317-2A51-E31C-4E898CDCD648}"/>
              </a:ext>
            </a:extLst>
          </p:cNvPr>
          <p:cNvSpPr txBox="1"/>
          <p:nvPr/>
        </p:nvSpPr>
        <p:spPr>
          <a:xfrm>
            <a:off x="7398132" y="1526087"/>
            <a:ext cx="3665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Extended MODFLOW User Guide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940010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82DA-FABB-B749-FCA3-51672BCD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FloPy Model Splitter</a:t>
            </a:r>
            <a:endParaRPr lang="nl-NL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B8D3F-BEAE-F78B-EAE9-2A0D644E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42608" cy="5032376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solidFill>
                  <a:schemeClr val="tx2"/>
                </a:solidFill>
                <a:latin typeface="+mj-lt"/>
              </a:rPr>
              <a:t>FloPy contains a tool for partitioning a MODFLOW 6 model:</a:t>
            </a:r>
          </a:p>
          <a:p>
            <a:pPr lvl="1"/>
            <a:r>
              <a:rPr lang="en-US" sz="2600" dirty="0">
                <a:solidFill>
                  <a:schemeClr val="tx2"/>
                </a:solidFill>
                <a:latin typeface="+mj-lt"/>
              </a:rPr>
              <a:t>flopy/mf6/utils/model_splitter.py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2"/>
                </a:solidFill>
                <a:latin typeface="+mj-lt"/>
              </a:rPr>
              <a:t>Configure with the simulation object: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nl-NL" sz="18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mfsplit</a:t>
            </a:r>
            <a:r>
              <a:rPr lang="nl-NL" sz="1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= Mf6Splitter(</a:t>
            </a:r>
            <a:r>
              <a:rPr lang="nl-NL" sz="18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base_sim</a:t>
            </a:r>
            <a:r>
              <a:rPr lang="nl-NL" sz="1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nl-NL" sz="2600" dirty="0" err="1">
                <a:solidFill>
                  <a:schemeClr val="tx2"/>
                </a:solidFill>
                <a:latin typeface="+mj-lt"/>
              </a:rPr>
              <a:t>Methods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to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generate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a </a:t>
            </a:r>
            <a:r>
              <a:rPr lang="nl-NL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split_array</a:t>
            </a:r>
            <a:r>
              <a:rPr lang="nl-NL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by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</a:p>
          <a:p>
            <a:pPr marL="971550" lvl="1" indent="-514350">
              <a:buAutoNum type="arabicPeriod"/>
            </a:pPr>
            <a:r>
              <a:rPr lang="nl-NL" sz="2600" dirty="0" err="1">
                <a:solidFill>
                  <a:schemeClr val="tx2"/>
                </a:solidFill>
                <a:latin typeface="+mj-lt"/>
              </a:rPr>
              <a:t>division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in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rectangular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blocks</a:t>
            </a:r>
            <a:endParaRPr lang="nl-NL" sz="2600" dirty="0">
              <a:solidFill>
                <a:schemeClr val="tx2"/>
              </a:solidFill>
              <a:latin typeface="+mj-lt"/>
            </a:endParaRPr>
          </a:p>
          <a:p>
            <a:pPr marL="971550" lvl="1" indent="-514350">
              <a:buAutoNum type="arabicPeriod"/>
            </a:pPr>
            <a:r>
              <a:rPr lang="nl-NL" sz="2600" dirty="0" err="1">
                <a:solidFill>
                  <a:schemeClr val="tx2"/>
                </a:solidFill>
                <a:latin typeface="+mj-lt"/>
              </a:rPr>
              <a:t>optimized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splitting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with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b="1" dirty="0" err="1">
                <a:solidFill>
                  <a:schemeClr val="tx2"/>
                </a:solidFill>
                <a:latin typeface="+mj-lt"/>
              </a:rPr>
              <a:t>Metis</a:t>
            </a:r>
            <a:endParaRPr lang="nl-NL" sz="2600" b="1" dirty="0">
              <a:solidFill>
                <a:schemeClr val="tx2"/>
              </a:solidFill>
              <a:latin typeface="+mj-lt"/>
            </a:endParaRPr>
          </a:p>
          <a:p>
            <a:r>
              <a:rPr lang="nl-NL" sz="2600" dirty="0">
                <a:solidFill>
                  <a:schemeClr val="tx2"/>
                </a:solidFill>
                <a:latin typeface="+mj-lt"/>
              </a:rPr>
              <a:t>Split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the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model: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nl-NL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new_sim</a:t>
            </a:r>
            <a:r>
              <a:rPr lang="nl-NL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nl-NL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mfsplit.split_model</a:t>
            </a:r>
            <a:r>
              <a:rPr lang="nl-NL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nl-NL" sz="1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split_array</a:t>
            </a:r>
            <a:r>
              <a:rPr lang="nl-NL" sz="1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2600" dirty="0">
                <a:solidFill>
                  <a:schemeClr val="tx2"/>
                </a:solidFill>
                <a:latin typeface="+mj-lt"/>
              </a:rPr>
              <a:t>…</a:t>
            </a:r>
            <a:r>
              <a:rPr lang="nl-NL" dirty="0"/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and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we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will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use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this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in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today’s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exercise</a:t>
            </a:r>
            <a:endParaRPr lang="nl-NL" sz="2600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6FA87E-DFD9-55F1-76B3-36F005561B13}"/>
              </a:ext>
            </a:extLst>
          </p:cNvPr>
          <p:cNvGrpSpPr/>
          <p:nvPr/>
        </p:nvGrpSpPr>
        <p:grpSpPr>
          <a:xfrm>
            <a:off x="8242715" y="1296258"/>
            <a:ext cx="3528139" cy="2260618"/>
            <a:chOff x="7742201" y="1594642"/>
            <a:chExt cx="3528139" cy="22606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DEEEFF-B353-1A6F-0968-1728D6FE0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42201" y="1888353"/>
              <a:ext cx="3528139" cy="196690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D5387E-371F-AA46-3182-286032F2FE25}"/>
                </a:ext>
              </a:extLst>
            </p:cNvPr>
            <p:cNvSpPr txBox="1"/>
            <p:nvPr/>
          </p:nvSpPr>
          <p:spPr>
            <a:xfrm>
              <a:off x="8081567" y="1594642"/>
              <a:ext cx="2083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/>
                <a:t>Rectangular split: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E0AF92-579E-9AD2-B500-D8D78DE56AB8}"/>
              </a:ext>
            </a:extLst>
          </p:cNvPr>
          <p:cNvGrpSpPr/>
          <p:nvPr/>
        </p:nvGrpSpPr>
        <p:grpSpPr>
          <a:xfrm>
            <a:off x="8242714" y="3905154"/>
            <a:ext cx="3528139" cy="2286508"/>
            <a:chOff x="7742200" y="4203538"/>
            <a:chExt cx="3528139" cy="22865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1F6092-1DCD-B3BD-8E63-021B2BF1F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2200" y="4523140"/>
              <a:ext cx="3528139" cy="196690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1DE9FB-8E00-A599-EED0-83C2310F52CD}"/>
                </a:ext>
              </a:extLst>
            </p:cNvPr>
            <p:cNvSpPr txBox="1"/>
            <p:nvPr/>
          </p:nvSpPr>
          <p:spPr>
            <a:xfrm>
              <a:off x="8081567" y="4203538"/>
              <a:ext cx="12254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/>
                <a:t>Metis split: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050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149A-F8BC-2B09-1DE9-95D7CB9C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A43A-C876-8DB6-7487-48E14DDA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chemeClr val="tx2"/>
                </a:solidFill>
              </a:rPr>
              <a:t>Running</a:t>
            </a:r>
            <a:r>
              <a:rPr lang="nl-NL" b="1" i="1" dirty="0">
                <a:solidFill>
                  <a:schemeClr val="tx2"/>
                </a:solidFill>
              </a:rPr>
              <a:t> Extended</a:t>
            </a:r>
            <a:r>
              <a:rPr lang="nl-NL" b="1" dirty="0">
                <a:solidFill>
                  <a:schemeClr val="tx2"/>
                </a:solidFill>
              </a:rPr>
              <a:t> MODFLOW: FloPy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C261CA-6131-D1F9-A311-3120909D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73" b="85476"/>
          <a:stretch>
            <a:fillRect/>
          </a:stretch>
        </p:blipFill>
        <p:spPr>
          <a:xfrm>
            <a:off x="1168266" y="2479022"/>
            <a:ext cx="7814912" cy="79241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736C60-E790-9585-6B3E-4DFC6A197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267300" cy="5032376"/>
          </a:xfrm>
        </p:spPr>
        <p:txBody>
          <a:bodyPr>
            <a:normAutofit/>
          </a:bodyPr>
          <a:lstStyle/>
          <a:p>
            <a:r>
              <a:rPr lang="nl-NL" sz="2600" dirty="0" err="1">
                <a:solidFill>
                  <a:schemeClr val="tx2"/>
                </a:solidFill>
                <a:latin typeface="+mj-lt"/>
              </a:rPr>
              <a:t>To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run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extended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MODFLOW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from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FloPy on multiple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cores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endParaRPr lang="nl-NL" sz="2600" dirty="0">
              <a:solidFill>
                <a:schemeClr val="tx2"/>
              </a:solidFill>
              <a:latin typeface="+mj-lt"/>
            </a:endParaRPr>
          </a:p>
          <a:p>
            <a:endParaRPr lang="nl-NL" sz="2600" dirty="0">
              <a:solidFill>
                <a:schemeClr val="tx2"/>
              </a:solidFill>
              <a:latin typeface="+mj-lt"/>
            </a:endParaRPr>
          </a:p>
          <a:p>
            <a:endParaRPr lang="nl-NL" sz="2600" dirty="0">
              <a:solidFill>
                <a:schemeClr val="tx2"/>
              </a:solidFill>
              <a:latin typeface="+mj-lt"/>
            </a:endParaRPr>
          </a:p>
          <a:p>
            <a:r>
              <a:rPr lang="nl-NL" sz="2600" dirty="0" err="1">
                <a:solidFill>
                  <a:schemeClr val="tx2"/>
                </a:solidFill>
                <a:latin typeface="+mj-lt"/>
              </a:rPr>
              <a:t>Alternatively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,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to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run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from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</a:t>
            </a:r>
            <a:r>
              <a:rPr lang="nl-NL" sz="2600" dirty="0" err="1">
                <a:solidFill>
                  <a:schemeClr val="tx2"/>
                </a:solidFill>
                <a:latin typeface="+mj-lt"/>
              </a:rPr>
              <a:t>the</a:t>
            </a:r>
            <a:r>
              <a:rPr lang="nl-NL" sz="2600" dirty="0">
                <a:solidFill>
                  <a:schemeClr val="tx2"/>
                </a:solidFill>
                <a:latin typeface="+mj-lt"/>
              </a:rPr>
              <a:t> CLI: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402B73-2707-C130-5EE9-3AB42C8DC3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199"/>
          <a:stretch>
            <a:fillRect/>
          </a:stretch>
        </p:blipFill>
        <p:spPr>
          <a:xfrm>
            <a:off x="1168266" y="4514937"/>
            <a:ext cx="7814911" cy="13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AA71-8433-2C5B-B140-1691ABD3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2C4D6-62CF-2237-6D34-4B9A9B85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090" y="1433521"/>
            <a:ext cx="8145222" cy="515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4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37759</TotalTime>
  <Words>1255</Words>
  <Application>Microsoft Office PowerPoint</Application>
  <PresentationFormat>Widescreen</PresentationFormat>
  <Paragraphs>170</Paragraphs>
  <Slides>16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</vt:lpstr>
      <vt:lpstr>Calibri</vt:lpstr>
      <vt:lpstr>Calibri Light</vt:lpstr>
      <vt:lpstr>Cambria Math</vt:lpstr>
      <vt:lpstr>Consolas</vt:lpstr>
      <vt:lpstr>Google Sans</vt:lpstr>
      <vt:lpstr>Office Theme</vt:lpstr>
      <vt:lpstr>Parallel MODFLOW 6</vt:lpstr>
      <vt:lpstr>Motivation</vt:lpstr>
      <vt:lpstr>Motivation</vt:lpstr>
      <vt:lpstr>Moore’s Law</vt:lpstr>
      <vt:lpstr>Moore’s Law: the end of it…</vt:lpstr>
      <vt:lpstr>Strategy: Domain Decomposition</vt:lpstr>
      <vt:lpstr>Limit on Speedup</vt:lpstr>
      <vt:lpstr>Parallel Solution</vt:lpstr>
      <vt:lpstr>Earlier Work</vt:lpstr>
      <vt:lpstr>Framework Solution</vt:lpstr>
      <vt:lpstr>Parallel Solver: PETSc</vt:lpstr>
      <vt:lpstr>How to get Extended MODFLOW</vt:lpstr>
      <vt:lpstr>How to get Extended MODFLOW (support)</vt:lpstr>
      <vt:lpstr>FloPy Model Splitter</vt:lpstr>
      <vt:lpstr>Running Extended MODFLOW: FloPy</vt:lpstr>
      <vt:lpstr>Today’s example: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MODFLOW Developments</dc:title>
  <dc:creator>Langevin, Christian D</dc:creator>
  <cp:lastModifiedBy>Larsen, Joshua D</cp:lastModifiedBy>
  <cp:revision>454</cp:revision>
  <dcterms:created xsi:type="dcterms:W3CDTF">2023-08-03T18:21:27Z</dcterms:created>
  <dcterms:modified xsi:type="dcterms:W3CDTF">2026-09-08T23:27:28Z</dcterms:modified>
</cp:coreProperties>
</file>