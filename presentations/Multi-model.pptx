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1174" r:id="rId2"/>
    <p:sldId id="1344" r:id="rId3"/>
    <p:sldId id="863" r:id="rId4"/>
    <p:sldId id="864" r:id="rId5"/>
    <p:sldId id="1466" r:id="rId6"/>
    <p:sldId id="14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1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149580-DA96-4419-BB52-D06DB6CE6F5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6BE0D3-99AC-492D-80DE-B48E330D3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438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6875" y="692150"/>
            <a:ext cx="6157913" cy="34639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piece of the MF framework.  Any number of models can be included in a simulation.  The unique thing here is that the models can be tightly coupled in the simulation, so even though you the user works with them individually, they are solved simultaneously with a mass-balanced solution.  Can have a patch-work of models.</a:t>
            </a:r>
          </a:p>
        </p:txBody>
      </p:sp>
    </p:spTree>
    <p:extLst>
      <p:ext uri="{BB962C8B-B14F-4D97-AF65-F5344CB8AC3E}">
        <p14:creationId xmlns:p14="http://schemas.microsoft.com/office/powerpoint/2010/main" val="1921320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6875" y="692150"/>
            <a:ext cx="6157913" cy="34639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MODFLOW doesn’t care how many of the these models you have.  Complete flexibility in how these models are wired-up, just need to establish the connections between them.  </a:t>
            </a:r>
          </a:p>
        </p:txBody>
      </p:sp>
    </p:spTree>
    <p:extLst>
      <p:ext uri="{BB962C8B-B14F-4D97-AF65-F5344CB8AC3E}">
        <p14:creationId xmlns:p14="http://schemas.microsoft.com/office/powerpoint/2010/main" val="1440851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1ED9-BFF8-9B72-1834-5602FEC2F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34820-8267-AE37-B2DE-2340AD59B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4092A-BCCE-3A87-4FD6-C6994D342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91A4E-71FB-479A-A3D0-204B18098B3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B8BEA-6B13-3408-3DAB-11FD15441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C4FB9-31E5-DAA4-84D0-785A2A38A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A2C8-6470-4E3B-AFD4-645FD66C0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676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B260B-BB2A-73E6-EAD7-CAB10DB7B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023DE-BE34-BB41-266D-BD4AAC205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C8B77-BB62-CCA6-1655-FD45A5BE8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91A4E-71FB-479A-A3D0-204B18098B3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E624F-835D-AEEE-A619-0998407D3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F9C42-7773-BBB5-1CC9-651604F5C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A2C8-6470-4E3B-AFD4-645FD66C0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04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DB2C6-8F5A-B865-0B8B-0689AB3DC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2AFCD-CC9F-CFFF-70FB-43392B55A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D2C9F-ED03-AD9E-AFF2-B8DF77DAE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91A4E-71FB-479A-A3D0-204B18098B3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04020-3D8F-A094-F653-429310641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DB9DA-A357-B953-48DB-5D77670BD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A2C8-6470-4E3B-AFD4-645FD66C0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4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522B-EC45-B480-FD65-7BD6A6118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8A26E-AB05-EB6D-101C-F5E4934025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F030D2-2426-3E74-539D-E77BD5938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0D3AA-B62A-B900-9E72-4EDB8CB70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91A4E-71FB-479A-A3D0-204B18098B3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4A2BF-C2BD-CAE8-8ED7-69DC3CB0D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0D492-A279-EA9F-743C-16FAA0016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A2C8-6470-4E3B-AFD4-645FD66C0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211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B74BB-9F59-F70A-56EE-E3CFFDA00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130E4-1C03-3D0C-AEB2-3281FA2DB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57D3C5-F9F7-58AC-C6F1-4D02A1852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ECF284-2929-B64C-6251-2BE95DF452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77B9F9-68B1-1050-5DA4-50F476AAE7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16A6B9-58AD-6E53-C0D2-5438D378C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91A4E-71FB-479A-A3D0-204B18098B3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B05FE5-C625-E56C-3546-A03D7B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F92A25-51AB-6960-2617-3C1B77AC2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A2C8-6470-4E3B-AFD4-645FD66C0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66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6008F-8ECA-9268-8884-1DF1894CF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40984B-37D7-9AA3-5675-9EF700D28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91A4E-71FB-479A-A3D0-204B18098B3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1146DA-4CC5-CEF5-1BA6-C235282F2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2FB1B2-78B0-8C70-60F9-27452EE10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A2C8-6470-4E3B-AFD4-645FD66C0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84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00DCC-0DBC-E36D-EC8D-053523A88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91A4E-71FB-479A-A3D0-204B18098B3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F2146-5E9D-EF1D-1F1B-C3E8E7E02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2B11E-58D1-4D98-9440-9E80DE24D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A2C8-6470-4E3B-AFD4-645FD66C0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65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DE9DB-A2F7-8FC5-58D7-59D79C82D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4F080-50AE-A795-8F55-7AEF48648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C45C7-B9DF-EAE6-2691-9D418FF84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E13D6-DD9E-756A-6140-ABE46075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91A4E-71FB-479A-A3D0-204B18098B3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96732-EB5E-19DE-08A6-78DBDFC69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F45CF-1286-A131-9E89-7382EFCE6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A2C8-6470-4E3B-AFD4-645FD66C0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18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1B0D3-A9F2-CCB7-C51E-B49FE4649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F73D47-6010-2CF3-9BFA-5F480AE49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EB499-25A6-9CDD-4DDC-657D0F214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40174-07F5-705F-05DF-E7A8C0D65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91A4E-71FB-479A-A3D0-204B18098B3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12D3B-869E-898D-9F10-66FE73540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B6ADD-E573-0729-F3C7-20B867002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A2C8-6470-4E3B-AFD4-645FD66C0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6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B02E6-FE67-086E-03FD-7CCF70C71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524A78-2909-4290-B629-022DDCCA0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94019-ECAC-B659-F09F-56E133662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91A4E-71FB-479A-A3D0-204B18098B3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A440C-A67A-DEB7-05C7-E2D13FF80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63681-D7E1-F325-37A4-71B3CB4CF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A2C8-6470-4E3B-AFD4-645FD66C0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537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11D7C7-624D-A321-FF65-C1DA03403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890950-B7B1-DB39-9C68-4509A21EB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448B6-76AA-BD71-5236-AC0768F12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91A4E-71FB-479A-A3D0-204B18098B3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A7D3A-CFC6-813F-2B79-5AA477241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938B6-3830-2E7F-C81C-2C7BBB349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A2C8-6470-4E3B-AFD4-645FD66C0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64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DE3EEF-4E33-A061-71B3-93DDFB4B0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F5517-3BCF-6975-DBDC-4FBD42546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3DC64-12A0-96C0-93B7-6E90B059FA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791A4E-71FB-479A-A3D0-204B18098B3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BB83C-B847-1020-EEE2-5D893A9813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123E3-608E-95AA-C924-D014E22BE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EDA2C8-6470-4E3B-AFD4-645FD66C0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15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640CF6-C1B2-DA46-9F5F-AB7FF7AC5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534" y="1794403"/>
            <a:ext cx="6505066" cy="47331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DADFB7-3535-2E45-AD8E-2223547F5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828800"/>
            <a:ext cx="5753096" cy="41860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23D316-C6C4-9340-8390-A01E7B2E6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Multi-Model Coupling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C5B2725-6E8B-F64B-8615-12EF25EA0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8000" y="1371600"/>
            <a:ext cx="6197600" cy="4495800"/>
          </a:xfrm>
        </p:spPr>
        <p:txBody>
          <a:bodyPr/>
          <a:lstStyle/>
          <a:p>
            <a:r>
              <a:rPr lang="en-US" dirty="0"/>
              <a:t>Any number of models can be included in a simulation</a:t>
            </a:r>
          </a:p>
          <a:p>
            <a:r>
              <a:rPr lang="en-US" dirty="0"/>
              <a:t>Models coupled at matrix level</a:t>
            </a:r>
          </a:p>
          <a:p>
            <a:r>
              <a:rPr lang="en-US" dirty="0"/>
              <a:t>Flexibility supports coupling of parent, child, grandchild models, stacked models or adjacent models</a:t>
            </a:r>
          </a:p>
        </p:txBody>
      </p:sp>
    </p:spTree>
    <p:extLst>
      <p:ext uri="{BB962C8B-B14F-4D97-AF65-F5344CB8AC3E}">
        <p14:creationId xmlns:p14="http://schemas.microsoft.com/office/powerpoint/2010/main" val="4011863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CA1829-4AC2-0435-B02E-A0CB7484A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4191000" cy="881614"/>
          </a:xfrm>
        </p:spPr>
        <p:txBody>
          <a:bodyPr/>
          <a:lstStyle/>
          <a:p>
            <a:r>
              <a:rPr lang="en-US" dirty="0"/>
              <a:t>Simulation Types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407C579-5018-AEFA-A856-DBB14C27C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56252"/>
            <a:ext cx="5386917" cy="639762"/>
          </a:xfrm>
        </p:spPr>
        <p:txBody>
          <a:bodyPr/>
          <a:lstStyle/>
          <a:p>
            <a:r>
              <a:rPr lang="en-US" dirty="0"/>
              <a:t>Single Model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2DC3B1B-B808-198D-F7A8-0A42C840B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3200" y="33890"/>
            <a:ext cx="5160433" cy="481495"/>
          </a:xfrm>
        </p:spPr>
        <p:txBody>
          <a:bodyPr/>
          <a:lstStyle/>
          <a:p>
            <a:r>
              <a:rPr lang="en-US" dirty="0"/>
              <a:t>Multiple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22E53B-50CA-F022-D047-7EF45D971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38018"/>
            <a:ext cx="5524800" cy="4538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B2B9AD-6983-1F51-F5CD-E3A8D8FA9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515384"/>
            <a:ext cx="4572000" cy="595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716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LGR Simulation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" y="1295400"/>
            <a:ext cx="1788575" cy="351600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prstClr val="black"/>
                </a:solidFill>
                <a:latin typeface="Arial"/>
                <a:cs typeface="Arial"/>
              </a:rPr>
              <a:t>Simulation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59130" y="4501899"/>
            <a:ext cx="3428998" cy="351600"/>
          </a:xfrm>
          <a:prstGeom prst="roundRect">
            <a:avLst/>
          </a:prstGeom>
          <a:gradFill flip="none" rotWithShape="1">
            <a:gsLst>
              <a:gs pos="0">
                <a:schemeClr val="accent2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prstClr val="black"/>
                </a:solidFill>
                <a:latin typeface="Arial"/>
                <a:cs typeface="Arial"/>
              </a:rPr>
              <a:t>Iterative Model Solution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59130" y="2343900"/>
            <a:ext cx="3432072" cy="351600"/>
          </a:xfrm>
          <a:prstGeom prst="roundRect">
            <a:avLst/>
          </a:prstGeom>
          <a:gradFill flip="none" rotWithShape="1">
            <a:gsLst>
              <a:gs pos="0">
                <a:srgbClr val="3366FF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prstClr val="black"/>
                </a:solidFill>
                <a:latin typeface="Arial"/>
                <a:cs typeface="Arial"/>
              </a:rPr>
              <a:t>PARENT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53288" y="1804400"/>
            <a:ext cx="3437914" cy="351600"/>
          </a:xfrm>
          <a:prstGeom prst="roundRect">
            <a:avLst/>
          </a:prstGeom>
          <a:gradFill flip="none" rotWithShape="1">
            <a:gsLst>
              <a:gs pos="0">
                <a:srgbClr val="FFCC99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prstClr val="black"/>
                </a:solidFill>
                <a:latin typeface="Arial"/>
                <a:cs typeface="Arial"/>
              </a:rPr>
              <a:t>Temporal Discretization</a:t>
            </a:r>
          </a:p>
        </p:txBody>
      </p:sp>
      <p:cxnSp>
        <p:nvCxnSpPr>
          <p:cNvPr id="36" name="Elbow Connector 35"/>
          <p:cNvCxnSpPr>
            <a:cxnSpLocks/>
            <a:stCxn id="27" idx="2"/>
            <a:endCxn id="28" idx="1"/>
          </p:cNvCxnSpPr>
          <p:nvPr/>
        </p:nvCxnSpPr>
        <p:spPr>
          <a:xfrm rot="16200000" flipH="1">
            <a:off x="492360" y="2810928"/>
            <a:ext cx="3030699" cy="702842"/>
          </a:xfrm>
          <a:prstGeom prst="bentConnector2">
            <a:avLst/>
          </a:prstGeom>
          <a:ln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cxnSpLocks/>
            <a:stCxn id="27" idx="2"/>
            <a:endCxn id="31" idx="1"/>
          </p:cNvCxnSpPr>
          <p:nvPr/>
        </p:nvCxnSpPr>
        <p:spPr>
          <a:xfrm rot="16200000" flipH="1">
            <a:off x="1838188" y="1465100"/>
            <a:ext cx="333200" cy="697000"/>
          </a:xfrm>
          <a:prstGeom prst="bentConnector2">
            <a:avLst/>
          </a:prstGeom>
          <a:ln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cxnSpLocks/>
            <a:stCxn id="27" idx="2"/>
            <a:endCxn id="29" idx="1"/>
          </p:cNvCxnSpPr>
          <p:nvPr/>
        </p:nvCxnSpPr>
        <p:spPr>
          <a:xfrm rot="16200000" flipH="1">
            <a:off x="1571359" y="1731929"/>
            <a:ext cx="872700" cy="702842"/>
          </a:xfrm>
          <a:prstGeom prst="bentConnector2">
            <a:avLst/>
          </a:prstGeom>
          <a:ln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62200" y="2883400"/>
            <a:ext cx="3429001" cy="351600"/>
          </a:xfrm>
          <a:prstGeom prst="roundRect">
            <a:avLst/>
          </a:prstGeom>
          <a:gradFill flip="none" rotWithShape="1">
            <a:gsLst>
              <a:gs pos="0">
                <a:srgbClr val="3366FF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prstClr val="black"/>
                </a:solidFill>
                <a:latin typeface="Arial"/>
                <a:cs typeface="Arial"/>
              </a:rPr>
              <a:t>C1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62200" y="3962400"/>
            <a:ext cx="3428999" cy="351600"/>
          </a:xfrm>
          <a:prstGeom prst="roundRect">
            <a:avLst/>
          </a:prstGeom>
          <a:gradFill flip="none" rotWithShape="1">
            <a:gsLst>
              <a:gs pos="0">
                <a:srgbClr val="3366FF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prstClr val="black"/>
                </a:solidFill>
                <a:latin typeface="Arial"/>
                <a:cs typeface="Arial"/>
              </a:rPr>
              <a:t>GC</a:t>
            </a:r>
          </a:p>
        </p:txBody>
      </p:sp>
      <p:cxnSp>
        <p:nvCxnSpPr>
          <p:cNvPr id="12" name="Elbow Connector 11"/>
          <p:cNvCxnSpPr>
            <a:cxnSpLocks/>
            <a:stCxn id="27" idx="2"/>
            <a:endCxn id="10" idx="1"/>
          </p:cNvCxnSpPr>
          <p:nvPr/>
        </p:nvCxnSpPr>
        <p:spPr>
          <a:xfrm rot="16200000" flipH="1">
            <a:off x="1303144" y="2000144"/>
            <a:ext cx="1412200" cy="705912"/>
          </a:xfrm>
          <a:prstGeom prst="bentConnector2">
            <a:avLst/>
          </a:prstGeom>
          <a:ln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cxnSpLocks/>
            <a:stCxn id="27" idx="2"/>
            <a:endCxn id="11" idx="1"/>
          </p:cNvCxnSpPr>
          <p:nvPr/>
        </p:nvCxnSpPr>
        <p:spPr>
          <a:xfrm rot="16200000" flipH="1">
            <a:off x="763644" y="2539644"/>
            <a:ext cx="2491200" cy="705912"/>
          </a:xfrm>
          <a:prstGeom prst="bentConnector2">
            <a:avLst/>
          </a:prstGeom>
          <a:ln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" descr="D:\users\langevin\ModelDevelopment\mfusg\presentations\2013_MODFLOW_Langevin\test_grids\structured\pp_lgr03.tif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947883"/>
            <a:ext cx="5636448" cy="27025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ounded Rectangle 31"/>
          <p:cNvSpPr/>
          <p:nvPr/>
        </p:nvSpPr>
        <p:spPr>
          <a:xfrm>
            <a:off x="2362201" y="3422900"/>
            <a:ext cx="3429000" cy="351600"/>
          </a:xfrm>
          <a:prstGeom prst="roundRect">
            <a:avLst/>
          </a:prstGeom>
          <a:gradFill flip="none" rotWithShape="1">
            <a:gsLst>
              <a:gs pos="0">
                <a:srgbClr val="3366FF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prstClr val="black"/>
                </a:solidFill>
                <a:latin typeface="Arial"/>
                <a:cs typeface="Arial"/>
              </a:rPr>
              <a:t>C2</a:t>
            </a:r>
          </a:p>
        </p:txBody>
      </p:sp>
      <p:cxnSp>
        <p:nvCxnSpPr>
          <p:cNvPr id="33" name="Elbow Connector 32"/>
          <p:cNvCxnSpPr>
            <a:cxnSpLocks/>
            <a:endCxn id="32" idx="1"/>
          </p:cNvCxnSpPr>
          <p:nvPr/>
        </p:nvCxnSpPr>
        <p:spPr>
          <a:xfrm rot="16200000" flipH="1">
            <a:off x="1033393" y="2269892"/>
            <a:ext cx="1951702" cy="705914"/>
          </a:xfrm>
          <a:prstGeom prst="bentConnector2">
            <a:avLst/>
          </a:prstGeom>
          <a:ln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027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25B865-2167-79BD-284A-251126AEF158}"/>
              </a:ext>
            </a:extLst>
          </p:cNvPr>
          <p:cNvSpPr/>
          <p:nvPr/>
        </p:nvSpPr>
        <p:spPr bwMode="auto">
          <a:xfrm>
            <a:off x="381000" y="6019800"/>
            <a:ext cx="1905000" cy="533400"/>
          </a:xfrm>
          <a:prstGeom prst="rect">
            <a:avLst/>
          </a:prstGeom>
          <a:solidFill>
            <a:srgbClr val="002F57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0"/>
            </a:endParaRPr>
          </a:p>
        </p:txBody>
      </p:sp>
      <p:pic>
        <p:nvPicPr>
          <p:cNvPr id="3" name="Picture 2" descr="D:\users\langevin\ModelDevelopment\mfusg\presentations\2013_MODFLOW_Langevin\test_grids\structured\pp_lgr03.tif">
            <a:extLst>
              <a:ext uri="{FF2B5EF4-FFF2-40B4-BE49-F238E27FC236}">
                <a16:creationId xmlns:a16="http://schemas.microsoft.com/office/drawing/2014/main" id="{1F68E2BF-1D70-9296-704B-FFF0A63D6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947883"/>
            <a:ext cx="5636448" cy="27025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D:\users\langevin\ModelDevelopment\mfusg\presentations\2013_MODFLOW_Langevin\test_grids\structured\pp_lgr03.tif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397" y="1961320"/>
            <a:ext cx="5603451" cy="268677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0" y="70355"/>
            <a:ext cx="11074400" cy="1037144"/>
          </a:xfrm>
        </p:spPr>
        <p:txBody>
          <a:bodyPr/>
          <a:lstStyle/>
          <a:p>
            <a:r>
              <a:rPr lang="en-US" dirty="0"/>
              <a:t>GWF Exchanges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401" y="1066800"/>
            <a:ext cx="2209800" cy="351600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prstClr val="black"/>
                </a:solidFill>
                <a:latin typeface="Arial"/>
                <a:cs typeface="Arial"/>
              </a:rPr>
              <a:t>Simulation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75471" y="4449000"/>
            <a:ext cx="3417458" cy="351600"/>
          </a:xfrm>
          <a:prstGeom prst="roundRect">
            <a:avLst/>
          </a:prstGeom>
          <a:gradFill flip="none" rotWithShape="1">
            <a:gsLst>
              <a:gs pos="0">
                <a:schemeClr val="accent2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prstClr val="black"/>
                </a:solidFill>
                <a:latin typeface="Arial"/>
                <a:cs typeface="Arial"/>
              </a:rPr>
              <a:t>Iterative Model 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75471" y="2291001"/>
            <a:ext cx="3417458" cy="351600"/>
          </a:xfrm>
          <a:prstGeom prst="roundRect">
            <a:avLst/>
          </a:prstGeom>
          <a:gradFill flip="none" rotWithShape="1">
            <a:gsLst>
              <a:gs pos="0">
                <a:srgbClr val="3366FF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prstClr val="black"/>
                </a:solidFill>
                <a:latin typeface="Arial"/>
                <a:cs typeface="Arial"/>
              </a:rPr>
              <a:t>PARENT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69628" y="1751501"/>
            <a:ext cx="3417453" cy="351600"/>
          </a:xfrm>
          <a:prstGeom prst="roundRect">
            <a:avLst/>
          </a:prstGeom>
          <a:gradFill flip="none" rotWithShape="1">
            <a:gsLst>
              <a:gs pos="0">
                <a:srgbClr val="FFCC99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prstClr val="black"/>
                </a:solidFill>
                <a:latin typeface="Arial"/>
                <a:cs typeface="Arial"/>
              </a:rPr>
              <a:t>Temporal Discretization</a:t>
            </a:r>
          </a:p>
        </p:txBody>
      </p:sp>
      <p:cxnSp>
        <p:nvCxnSpPr>
          <p:cNvPr id="20" name="Elbow Connector 19"/>
          <p:cNvCxnSpPr>
            <a:cxnSpLocks/>
            <a:stCxn id="16" idx="2"/>
            <a:endCxn id="17" idx="1"/>
          </p:cNvCxnSpPr>
          <p:nvPr/>
        </p:nvCxnSpPr>
        <p:spPr>
          <a:xfrm rot="16200000" flipH="1">
            <a:off x="553686" y="2503015"/>
            <a:ext cx="3206400" cy="1037170"/>
          </a:xfrm>
          <a:prstGeom prst="bentConnector2">
            <a:avLst/>
          </a:prstGeom>
          <a:ln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cxnSpLocks/>
            <a:stCxn id="16" idx="2"/>
            <a:endCxn id="19" idx="1"/>
          </p:cNvCxnSpPr>
          <p:nvPr/>
        </p:nvCxnSpPr>
        <p:spPr>
          <a:xfrm rot="16200000" flipH="1">
            <a:off x="1899514" y="1157186"/>
            <a:ext cx="508901" cy="1031327"/>
          </a:xfrm>
          <a:prstGeom prst="bentConnector2">
            <a:avLst/>
          </a:prstGeom>
          <a:ln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cxnSpLocks/>
            <a:stCxn id="16" idx="2"/>
            <a:endCxn id="18" idx="1"/>
          </p:cNvCxnSpPr>
          <p:nvPr/>
        </p:nvCxnSpPr>
        <p:spPr>
          <a:xfrm rot="16200000" flipH="1">
            <a:off x="1632686" y="1424015"/>
            <a:ext cx="1048401" cy="1037170"/>
          </a:xfrm>
          <a:prstGeom prst="bentConnector2">
            <a:avLst/>
          </a:prstGeom>
          <a:ln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678542" y="2830501"/>
            <a:ext cx="3417458" cy="351600"/>
          </a:xfrm>
          <a:prstGeom prst="roundRect">
            <a:avLst/>
          </a:prstGeom>
          <a:gradFill flip="none" rotWithShape="1">
            <a:gsLst>
              <a:gs pos="0">
                <a:srgbClr val="3366FF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prstClr val="black"/>
                </a:solidFill>
                <a:latin typeface="Arial"/>
                <a:cs typeface="Arial"/>
              </a:rPr>
              <a:t>C1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78542" y="3909501"/>
            <a:ext cx="3417458" cy="351600"/>
          </a:xfrm>
          <a:prstGeom prst="roundRect">
            <a:avLst/>
          </a:prstGeom>
          <a:gradFill flip="none" rotWithShape="1">
            <a:gsLst>
              <a:gs pos="0">
                <a:srgbClr val="3366FF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prstClr val="black"/>
                </a:solidFill>
                <a:latin typeface="Arial"/>
                <a:cs typeface="Arial"/>
              </a:rPr>
              <a:t>GC</a:t>
            </a:r>
          </a:p>
        </p:txBody>
      </p:sp>
      <p:cxnSp>
        <p:nvCxnSpPr>
          <p:cNvPr id="25" name="Elbow Connector 24"/>
          <p:cNvCxnSpPr>
            <a:cxnSpLocks/>
            <a:stCxn id="16" idx="2"/>
            <a:endCxn id="23" idx="1"/>
          </p:cNvCxnSpPr>
          <p:nvPr/>
        </p:nvCxnSpPr>
        <p:spPr>
          <a:xfrm rot="16200000" flipH="1">
            <a:off x="1364471" y="1692229"/>
            <a:ext cx="1587901" cy="1040241"/>
          </a:xfrm>
          <a:prstGeom prst="bentConnector2">
            <a:avLst/>
          </a:prstGeom>
          <a:ln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cxnSpLocks/>
            <a:stCxn id="16" idx="2"/>
            <a:endCxn id="24" idx="1"/>
          </p:cNvCxnSpPr>
          <p:nvPr/>
        </p:nvCxnSpPr>
        <p:spPr>
          <a:xfrm rot="16200000" flipH="1">
            <a:off x="824971" y="2231729"/>
            <a:ext cx="2666901" cy="1040241"/>
          </a:xfrm>
          <a:prstGeom prst="bentConnector2">
            <a:avLst/>
          </a:prstGeom>
          <a:ln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678542" y="3370001"/>
            <a:ext cx="3417458" cy="351600"/>
          </a:xfrm>
          <a:prstGeom prst="roundRect">
            <a:avLst/>
          </a:prstGeom>
          <a:gradFill flip="none" rotWithShape="1">
            <a:gsLst>
              <a:gs pos="0">
                <a:srgbClr val="3366FF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prstClr val="black"/>
                </a:solidFill>
                <a:latin typeface="Arial"/>
                <a:cs typeface="Arial"/>
              </a:rPr>
              <a:t>C2</a:t>
            </a:r>
          </a:p>
        </p:txBody>
      </p:sp>
      <p:cxnSp>
        <p:nvCxnSpPr>
          <p:cNvPr id="33" name="Elbow Connector 32"/>
          <p:cNvCxnSpPr>
            <a:cxnSpLocks/>
            <a:stCxn id="16" idx="2"/>
            <a:endCxn id="32" idx="1"/>
          </p:cNvCxnSpPr>
          <p:nvPr/>
        </p:nvCxnSpPr>
        <p:spPr>
          <a:xfrm rot="16200000" flipH="1">
            <a:off x="1094721" y="1961979"/>
            <a:ext cx="2127401" cy="1040241"/>
          </a:xfrm>
          <a:prstGeom prst="bentConnector2">
            <a:avLst/>
          </a:prstGeom>
          <a:ln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678542" y="4982400"/>
            <a:ext cx="3417458" cy="351600"/>
          </a:xfrm>
          <a:prstGeom prst="roundRect">
            <a:avLst/>
          </a:prstGeom>
          <a:gradFill flip="none" rotWithShape="1">
            <a:gsLst>
              <a:gs pos="0">
                <a:srgbClr val="660066"/>
              </a:gs>
              <a:gs pos="100000">
                <a:srgbClr val="FFFFFF"/>
              </a:gs>
            </a:gsLst>
            <a:lin ang="16200000" scaled="0"/>
            <a:tileRect/>
          </a:gradFill>
          <a:effectLst>
            <a:glow rad="254000">
              <a:srgbClr val="FF00FF">
                <a:alpha val="75000"/>
              </a:srgb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prstClr val="black"/>
                </a:solidFill>
                <a:latin typeface="Arial"/>
                <a:cs typeface="Arial"/>
              </a:rPr>
              <a:t>PARENT-C1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78542" y="5515800"/>
            <a:ext cx="3417458" cy="351600"/>
          </a:xfrm>
          <a:prstGeom prst="roundRect">
            <a:avLst/>
          </a:prstGeom>
          <a:gradFill flip="none" rotWithShape="1">
            <a:gsLst>
              <a:gs pos="0">
                <a:srgbClr val="660066"/>
              </a:gs>
              <a:gs pos="100000">
                <a:srgbClr val="FFFFFF"/>
              </a:gs>
            </a:gsLst>
            <a:lin ang="16200000" scaled="0"/>
            <a:tileRect/>
          </a:gradFill>
          <a:effectLst>
            <a:glow rad="254000">
              <a:srgbClr val="FF00FF">
                <a:alpha val="75000"/>
              </a:srgb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prstClr val="black"/>
                </a:solidFill>
                <a:latin typeface="Arial"/>
                <a:cs typeface="Arial"/>
              </a:rPr>
              <a:t>PARENT-C2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78542" y="6049200"/>
            <a:ext cx="3417458" cy="351600"/>
          </a:xfrm>
          <a:prstGeom prst="roundRect">
            <a:avLst/>
          </a:prstGeom>
          <a:gradFill flip="none" rotWithShape="1">
            <a:gsLst>
              <a:gs pos="0">
                <a:srgbClr val="660066"/>
              </a:gs>
              <a:gs pos="100000">
                <a:srgbClr val="FFFFFF"/>
              </a:gs>
            </a:gsLst>
            <a:lin ang="16200000" scaled="0"/>
            <a:tileRect/>
          </a:gradFill>
          <a:effectLst>
            <a:glow rad="254000">
              <a:srgbClr val="FF00FF">
                <a:alpha val="75000"/>
              </a:srgb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prstClr val="black"/>
                </a:solidFill>
                <a:latin typeface="Arial"/>
                <a:cs typeface="Arial"/>
              </a:rPr>
              <a:t>C1-GC</a:t>
            </a:r>
          </a:p>
        </p:txBody>
      </p:sp>
      <p:cxnSp>
        <p:nvCxnSpPr>
          <p:cNvPr id="39" name="Elbow Connector 38"/>
          <p:cNvCxnSpPr>
            <a:cxnSpLocks/>
            <a:stCxn id="16" idx="2"/>
            <a:endCxn id="34" idx="1"/>
          </p:cNvCxnSpPr>
          <p:nvPr/>
        </p:nvCxnSpPr>
        <p:spPr>
          <a:xfrm rot="16200000" flipH="1">
            <a:off x="288521" y="2768179"/>
            <a:ext cx="3739800" cy="1040241"/>
          </a:xfrm>
          <a:prstGeom prst="bentConnector2">
            <a:avLst/>
          </a:prstGeom>
          <a:ln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/>
          <p:cNvCxnSpPr>
            <a:cxnSpLocks/>
            <a:stCxn id="16" idx="2"/>
            <a:endCxn id="35" idx="1"/>
          </p:cNvCxnSpPr>
          <p:nvPr/>
        </p:nvCxnSpPr>
        <p:spPr>
          <a:xfrm rot="16200000" flipH="1">
            <a:off x="21821" y="3034879"/>
            <a:ext cx="4273200" cy="1040241"/>
          </a:xfrm>
          <a:prstGeom prst="bentConnector2">
            <a:avLst/>
          </a:prstGeom>
          <a:ln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/>
          <p:cNvCxnSpPr>
            <a:cxnSpLocks/>
            <a:stCxn id="16" idx="2"/>
            <a:endCxn id="38" idx="1"/>
          </p:cNvCxnSpPr>
          <p:nvPr/>
        </p:nvCxnSpPr>
        <p:spPr>
          <a:xfrm rot="16200000" flipH="1">
            <a:off x="-244879" y="3301579"/>
            <a:ext cx="4806600" cy="1040241"/>
          </a:xfrm>
          <a:prstGeom prst="bentConnector2">
            <a:avLst/>
          </a:prstGeom>
          <a:ln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1"/>
          <p:cNvSpPr/>
          <p:nvPr/>
        </p:nvSpPr>
        <p:spPr>
          <a:xfrm>
            <a:off x="7855756" y="3325063"/>
            <a:ext cx="558629" cy="204037"/>
          </a:xfrm>
          <a:custGeom>
            <a:avLst/>
            <a:gdLst>
              <a:gd name="connsiteX0" fmla="*/ 0 w 452328"/>
              <a:gd name="connsiteY0" fmla="*/ 100904 h 180932"/>
              <a:gd name="connsiteX1" fmla="*/ 90465 w 452328"/>
              <a:gd name="connsiteY1" fmla="*/ 0 h 180932"/>
              <a:gd name="connsiteX2" fmla="*/ 452328 w 452328"/>
              <a:gd name="connsiteY2" fmla="*/ 38274 h 180932"/>
              <a:gd name="connsiteX3" fmla="*/ 403616 w 452328"/>
              <a:gd name="connsiteY3" fmla="*/ 180932 h 180932"/>
              <a:gd name="connsiteX4" fmla="*/ 0 w 452328"/>
              <a:gd name="connsiteY4" fmla="*/ 100904 h 180932"/>
              <a:gd name="connsiteX0" fmla="*/ 0 w 475300"/>
              <a:gd name="connsiteY0" fmla="*/ 100904 h 180932"/>
              <a:gd name="connsiteX1" fmla="*/ 90465 w 475300"/>
              <a:gd name="connsiteY1" fmla="*/ 0 h 180932"/>
              <a:gd name="connsiteX2" fmla="*/ 475300 w 475300"/>
              <a:gd name="connsiteY2" fmla="*/ 25147 h 180932"/>
              <a:gd name="connsiteX3" fmla="*/ 403616 w 475300"/>
              <a:gd name="connsiteY3" fmla="*/ 180932 h 180932"/>
              <a:gd name="connsiteX4" fmla="*/ 0 w 475300"/>
              <a:gd name="connsiteY4" fmla="*/ 100904 h 180932"/>
              <a:gd name="connsiteX0" fmla="*/ 0 w 475300"/>
              <a:gd name="connsiteY0" fmla="*/ 100904 h 157959"/>
              <a:gd name="connsiteX1" fmla="*/ 90465 w 475300"/>
              <a:gd name="connsiteY1" fmla="*/ 0 h 157959"/>
              <a:gd name="connsiteX2" fmla="*/ 475300 w 475300"/>
              <a:gd name="connsiteY2" fmla="*/ 25147 h 157959"/>
              <a:gd name="connsiteX3" fmla="*/ 403616 w 475300"/>
              <a:gd name="connsiteY3" fmla="*/ 157959 h 157959"/>
              <a:gd name="connsiteX4" fmla="*/ 0 w 475300"/>
              <a:gd name="connsiteY4" fmla="*/ 100904 h 157959"/>
              <a:gd name="connsiteX0" fmla="*/ 0 w 475300"/>
              <a:gd name="connsiteY0" fmla="*/ 130440 h 187495"/>
              <a:gd name="connsiteX1" fmla="*/ 93747 w 475300"/>
              <a:gd name="connsiteY1" fmla="*/ 0 h 187495"/>
              <a:gd name="connsiteX2" fmla="*/ 475300 w 475300"/>
              <a:gd name="connsiteY2" fmla="*/ 54683 h 187495"/>
              <a:gd name="connsiteX3" fmla="*/ 403616 w 475300"/>
              <a:gd name="connsiteY3" fmla="*/ 187495 h 187495"/>
              <a:gd name="connsiteX4" fmla="*/ 0 w 475300"/>
              <a:gd name="connsiteY4" fmla="*/ 130440 h 187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00" h="187495">
                <a:moveTo>
                  <a:pt x="0" y="130440"/>
                </a:moveTo>
                <a:lnTo>
                  <a:pt x="93747" y="0"/>
                </a:lnTo>
                <a:lnTo>
                  <a:pt x="475300" y="54683"/>
                </a:lnTo>
                <a:lnTo>
                  <a:pt x="403616" y="187495"/>
                </a:lnTo>
                <a:lnTo>
                  <a:pt x="0" y="130440"/>
                </a:lnTo>
                <a:close/>
              </a:path>
            </a:pathLst>
          </a:custGeom>
          <a:ln w="25400">
            <a:solidFill>
              <a:srgbClr val="FF00FF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n>
                <a:solidFill>
                  <a:srgbClr val="FF00FF"/>
                </a:solidFill>
              </a:ln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7622286" y="3116589"/>
            <a:ext cx="1526742" cy="600447"/>
          </a:xfrm>
          <a:custGeom>
            <a:avLst/>
            <a:gdLst>
              <a:gd name="connsiteX0" fmla="*/ 0 w 452328"/>
              <a:gd name="connsiteY0" fmla="*/ 100904 h 180932"/>
              <a:gd name="connsiteX1" fmla="*/ 90465 w 452328"/>
              <a:gd name="connsiteY1" fmla="*/ 0 h 180932"/>
              <a:gd name="connsiteX2" fmla="*/ 452328 w 452328"/>
              <a:gd name="connsiteY2" fmla="*/ 38274 h 180932"/>
              <a:gd name="connsiteX3" fmla="*/ 403616 w 452328"/>
              <a:gd name="connsiteY3" fmla="*/ 180932 h 180932"/>
              <a:gd name="connsiteX4" fmla="*/ 0 w 452328"/>
              <a:gd name="connsiteY4" fmla="*/ 100904 h 180932"/>
              <a:gd name="connsiteX0" fmla="*/ 0 w 475300"/>
              <a:gd name="connsiteY0" fmla="*/ 100904 h 180932"/>
              <a:gd name="connsiteX1" fmla="*/ 90465 w 475300"/>
              <a:gd name="connsiteY1" fmla="*/ 0 h 180932"/>
              <a:gd name="connsiteX2" fmla="*/ 475300 w 475300"/>
              <a:gd name="connsiteY2" fmla="*/ 25147 h 180932"/>
              <a:gd name="connsiteX3" fmla="*/ 403616 w 475300"/>
              <a:gd name="connsiteY3" fmla="*/ 180932 h 180932"/>
              <a:gd name="connsiteX4" fmla="*/ 0 w 475300"/>
              <a:gd name="connsiteY4" fmla="*/ 100904 h 180932"/>
              <a:gd name="connsiteX0" fmla="*/ 0 w 475300"/>
              <a:gd name="connsiteY0" fmla="*/ 100904 h 157959"/>
              <a:gd name="connsiteX1" fmla="*/ 90465 w 475300"/>
              <a:gd name="connsiteY1" fmla="*/ 0 h 157959"/>
              <a:gd name="connsiteX2" fmla="*/ 475300 w 475300"/>
              <a:gd name="connsiteY2" fmla="*/ 25147 h 157959"/>
              <a:gd name="connsiteX3" fmla="*/ 403616 w 475300"/>
              <a:gd name="connsiteY3" fmla="*/ 157959 h 157959"/>
              <a:gd name="connsiteX4" fmla="*/ 0 w 475300"/>
              <a:gd name="connsiteY4" fmla="*/ 100904 h 157959"/>
              <a:gd name="connsiteX0" fmla="*/ 0 w 475300"/>
              <a:gd name="connsiteY0" fmla="*/ 130440 h 187495"/>
              <a:gd name="connsiteX1" fmla="*/ 93747 w 475300"/>
              <a:gd name="connsiteY1" fmla="*/ 0 h 187495"/>
              <a:gd name="connsiteX2" fmla="*/ 475300 w 475300"/>
              <a:gd name="connsiteY2" fmla="*/ 54683 h 187495"/>
              <a:gd name="connsiteX3" fmla="*/ 403616 w 475300"/>
              <a:gd name="connsiteY3" fmla="*/ 187495 h 187495"/>
              <a:gd name="connsiteX4" fmla="*/ 0 w 475300"/>
              <a:gd name="connsiteY4" fmla="*/ 130440 h 187495"/>
              <a:gd name="connsiteX0" fmla="*/ 0 w 475300"/>
              <a:gd name="connsiteY0" fmla="*/ 153412 h 187495"/>
              <a:gd name="connsiteX1" fmla="*/ 93747 w 475300"/>
              <a:gd name="connsiteY1" fmla="*/ 0 h 187495"/>
              <a:gd name="connsiteX2" fmla="*/ 475300 w 475300"/>
              <a:gd name="connsiteY2" fmla="*/ 54683 h 187495"/>
              <a:gd name="connsiteX3" fmla="*/ 403616 w 475300"/>
              <a:gd name="connsiteY3" fmla="*/ 187495 h 187495"/>
              <a:gd name="connsiteX4" fmla="*/ 0 w 475300"/>
              <a:gd name="connsiteY4" fmla="*/ 153412 h 187495"/>
              <a:gd name="connsiteX0" fmla="*/ 0 w 475300"/>
              <a:gd name="connsiteY0" fmla="*/ 343753 h 377836"/>
              <a:gd name="connsiteX1" fmla="*/ 303775 w 475300"/>
              <a:gd name="connsiteY1" fmla="*/ 0 h 377836"/>
              <a:gd name="connsiteX2" fmla="*/ 475300 w 475300"/>
              <a:gd name="connsiteY2" fmla="*/ 245024 h 377836"/>
              <a:gd name="connsiteX3" fmla="*/ 403616 w 475300"/>
              <a:gd name="connsiteY3" fmla="*/ 377836 h 377836"/>
              <a:gd name="connsiteX4" fmla="*/ 0 w 475300"/>
              <a:gd name="connsiteY4" fmla="*/ 343753 h 377836"/>
              <a:gd name="connsiteX0" fmla="*/ 0 w 1299003"/>
              <a:gd name="connsiteY0" fmla="*/ 343753 h 377836"/>
              <a:gd name="connsiteX1" fmla="*/ 303775 w 1299003"/>
              <a:gd name="connsiteY1" fmla="*/ 0 h 377836"/>
              <a:gd name="connsiteX2" fmla="*/ 1299003 w 1299003"/>
              <a:gd name="connsiteY2" fmla="*/ 113754 h 377836"/>
              <a:gd name="connsiteX3" fmla="*/ 403616 w 1299003"/>
              <a:gd name="connsiteY3" fmla="*/ 377836 h 377836"/>
              <a:gd name="connsiteX4" fmla="*/ 0 w 1299003"/>
              <a:gd name="connsiteY4" fmla="*/ 343753 h 377836"/>
              <a:gd name="connsiteX0" fmla="*/ 0 w 1299003"/>
              <a:gd name="connsiteY0" fmla="*/ 343753 h 551768"/>
              <a:gd name="connsiteX1" fmla="*/ 303775 w 1299003"/>
              <a:gd name="connsiteY1" fmla="*/ 0 h 551768"/>
              <a:gd name="connsiteX2" fmla="*/ 1299003 w 1299003"/>
              <a:gd name="connsiteY2" fmla="*/ 113754 h 551768"/>
              <a:gd name="connsiteX3" fmla="*/ 1250290 w 1299003"/>
              <a:gd name="connsiteY3" fmla="*/ 551768 h 551768"/>
              <a:gd name="connsiteX4" fmla="*/ 0 w 1299003"/>
              <a:gd name="connsiteY4" fmla="*/ 343753 h 55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9003" h="551768">
                <a:moveTo>
                  <a:pt x="0" y="343753"/>
                </a:moveTo>
                <a:lnTo>
                  <a:pt x="303775" y="0"/>
                </a:lnTo>
                <a:lnTo>
                  <a:pt x="1299003" y="113754"/>
                </a:lnTo>
                <a:lnTo>
                  <a:pt x="1250290" y="551768"/>
                </a:lnTo>
                <a:lnTo>
                  <a:pt x="0" y="343753"/>
                </a:lnTo>
                <a:close/>
              </a:path>
            </a:pathLst>
          </a:custGeom>
          <a:ln w="25400">
            <a:solidFill>
              <a:srgbClr val="FF00FF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n>
                <a:solidFill>
                  <a:srgbClr val="FF00FF"/>
                </a:solidFill>
              </a:ln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9629361" y="2879742"/>
            <a:ext cx="807753" cy="371712"/>
          </a:xfrm>
          <a:custGeom>
            <a:avLst/>
            <a:gdLst>
              <a:gd name="connsiteX0" fmla="*/ 0 w 452328"/>
              <a:gd name="connsiteY0" fmla="*/ 100904 h 180932"/>
              <a:gd name="connsiteX1" fmla="*/ 90465 w 452328"/>
              <a:gd name="connsiteY1" fmla="*/ 0 h 180932"/>
              <a:gd name="connsiteX2" fmla="*/ 452328 w 452328"/>
              <a:gd name="connsiteY2" fmla="*/ 38274 h 180932"/>
              <a:gd name="connsiteX3" fmla="*/ 403616 w 452328"/>
              <a:gd name="connsiteY3" fmla="*/ 180932 h 180932"/>
              <a:gd name="connsiteX4" fmla="*/ 0 w 452328"/>
              <a:gd name="connsiteY4" fmla="*/ 100904 h 180932"/>
              <a:gd name="connsiteX0" fmla="*/ 0 w 475300"/>
              <a:gd name="connsiteY0" fmla="*/ 100904 h 180932"/>
              <a:gd name="connsiteX1" fmla="*/ 90465 w 475300"/>
              <a:gd name="connsiteY1" fmla="*/ 0 h 180932"/>
              <a:gd name="connsiteX2" fmla="*/ 475300 w 475300"/>
              <a:gd name="connsiteY2" fmla="*/ 25147 h 180932"/>
              <a:gd name="connsiteX3" fmla="*/ 403616 w 475300"/>
              <a:gd name="connsiteY3" fmla="*/ 180932 h 180932"/>
              <a:gd name="connsiteX4" fmla="*/ 0 w 475300"/>
              <a:gd name="connsiteY4" fmla="*/ 100904 h 180932"/>
              <a:gd name="connsiteX0" fmla="*/ 0 w 475300"/>
              <a:gd name="connsiteY0" fmla="*/ 100904 h 157959"/>
              <a:gd name="connsiteX1" fmla="*/ 90465 w 475300"/>
              <a:gd name="connsiteY1" fmla="*/ 0 h 157959"/>
              <a:gd name="connsiteX2" fmla="*/ 475300 w 475300"/>
              <a:gd name="connsiteY2" fmla="*/ 25147 h 157959"/>
              <a:gd name="connsiteX3" fmla="*/ 403616 w 475300"/>
              <a:gd name="connsiteY3" fmla="*/ 157959 h 157959"/>
              <a:gd name="connsiteX4" fmla="*/ 0 w 475300"/>
              <a:gd name="connsiteY4" fmla="*/ 100904 h 157959"/>
              <a:gd name="connsiteX0" fmla="*/ 0 w 475300"/>
              <a:gd name="connsiteY0" fmla="*/ 130440 h 187495"/>
              <a:gd name="connsiteX1" fmla="*/ 93747 w 475300"/>
              <a:gd name="connsiteY1" fmla="*/ 0 h 187495"/>
              <a:gd name="connsiteX2" fmla="*/ 475300 w 475300"/>
              <a:gd name="connsiteY2" fmla="*/ 54683 h 187495"/>
              <a:gd name="connsiteX3" fmla="*/ 403616 w 475300"/>
              <a:gd name="connsiteY3" fmla="*/ 187495 h 187495"/>
              <a:gd name="connsiteX4" fmla="*/ 0 w 475300"/>
              <a:gd name="connsiteY4" fmla="*/ 130440 h 187495"/>
              <a:gd name="connsiteX0" fmla="*/ 0 w 458891"/>
              <a:gd name="connsiteY0" fmla="*/ 364549 h 421604"/>
              <a:gd name="connsiteX1" fmla="*/ 93747 w 458891"/>
              <a:gd name="connsiteY1" fmla="*/ 234109 h 421604"/>
              <a:gd name="connsiteX2" fmla="*/ 458891 w 458891"/>
              <a:gd name="connsiteY2" fmla="*/ 0 h 421604"/>
              <a:gd name="connsiteX3" fmla="*/ 403616 w 458891"/>
              <a:gd name="connsiteY3" fmla="*/ 421604 h 421604"/>
              <a:gd name="connsiteX4" fmla="*/ 0 w 458891"/>
              <a:gd name="connsiteY4" fmla="*/ 364549 h 421604"/>
              <a:gd name="connsiteX0" fmla="*/ 0 w 662869"/>
              <a:gd name="connsiteY0" fmla="*/ 364549 h 364549"/>
              <a:gd name="connsiteX1" fmla="*/ 93747 w 662869"/>
              <a:gd name="connsiteY1" fmla="*/ 234109 h 364549"/>
              <a:gd name="connsiteX2" fmla="*/ 458891 w 662869"/>
              <a:gd name="connsiteY2" fmla="*/ 0 h 364549"/>
              <a:gd name="connsiteX3" fmla="*/ 662869 w 662869"/>
              <a:gd name="connsiteY3" fmla="*/ 270645 h 364549"/>
              <a:gd name="connsiteX4" fmla="*/ 0 w 662869"/>
              <a:gd name="connsiteY4" fmla="*/ 364549 h 364549"/>
              <a:gd name="connsiteX0" fmla="*/ 24394 w 687263"/>
              <a:gd name="connsiteY0" fmla="*/ 364549 h 364549"/>
              <a:gd name="connsiteX1" fmla="*/ 0 w 687263"/>
              <a:gd name="connsiteY1" fmla="*/ 14233 h 364549"/>
              <a:gd name="connsiteX2" fmla="*/ 483285 w 687263"/>
              <a:gd name="connsiteY2" fmla="*/ 0 h 364549"/>
              <a:gd name="connsiteX3" fmla="*/ 687263 w 687263"/>
              <a:gd name="connsiteY3" fmla="*/ 270645 h 364549"/>
              <a:gd name="connsiteX4" fmla="*/ 24394 w 687263"/>
              <a:gd name="connsiteY4" fmla="*/ 364549 h 364549"/>
              <a:gd name="connsiteX0" fmla="*/ 63775 w 687263"/>
              <a:gd name="connsiteY0" fmla="*/ 341577 h 341577"/>
              <a:gd name="connsiteX1" fmla="*/ 0 w 687263"/>
              <a:gd name="connsiteY1" fmla="*/ 14233 h 341577"/>
              <a:gd name="connsiteX2" fmla="*/ 483285 w 687263"/>
              <a:gd name="connsiteY2" fmla="*/ 0 h 341577"/>
              <a:gd name="connsiteX3" fmla="*/ 687263 w 687263"/>
              <a:gd name="connsiteY3" fmla="*/ 270645 h 341577"/>
              <a:gd name="connsiteX4" fmla="*/ 63775 w 687263"/>
              <a:gd name="connsiteY4" fmla="*/ 341577 h 341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263" h="341577">
                <a:moveTo>
                  <a:pt x="63775" y="341577"/>
                </a:moveTo>
                <a:lnTo>
                  <a:pt x="0" y="14233"/>
                </a:lnTo>
                <a:lnTo>
                  <a:pt x="483285" y="0"/>
                </a:lnTo>
                <a:lnTo>
                  <a:pt x="687263" y="270645"/>
                </a:lnTo>
                <a:lnTo>
                  <a:pt x="63775" y="341577"/>
                </a:lnTo>
                <a:close/>
              </a:path>
            </a:pathLst>
          </a:custGeom>
          <a:ln w="25400">
            <a:solidFill>
              <a:srgbClr val="FF00FF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n>
                <a:solidFill>
                  <a:srgbClr val="FF00FF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103369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31F86-DC3D-2517-D92B-14D3D43C2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BB1E7E-3D66-4A99-4729-ED961F823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334" y="1210"/>
            <a:ext cx="10905066" cy="1143000"/>
          </a:xfrm>
        </p:spPr>
        <p:txBody>
          <a:bodyPr/>
          <a:lstStyle/>
          <a:p>
            <a:r>
              <a:rPr lang="en-US" sz="3100" dirty="0">
                <a:cs typeface="Arial"/>
              </a:rPr>
              <a:t>Models of a Different Type May Be Coupled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0D8B34F7-1A92-EC08-FE42-0521CE189201}"/>
              </a:ext>
            </a:extLst>
          </p:cNvPr>
          <p:cNvSpPr>
            <a:spLocks noGrp="1"/>
          </p:cNvSpPr>
          <p:nvPr/>
        </p:nvSpPr>
        <p:spPr bwMode="auto">
          <a:xfrm>
            <a:off x="421753" y="995799"/>
            <a:ext cx="3836521" cy="5248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lc="http://schemas.openxmlformats.org/drawingml/2006/lockedCanvas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lc="http://schemas.openxmlformats.org/drawingml/2006/lockedCanvas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lc="http://schemas.openxmlformats.org/drawingml/2006/lockedCanvas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:lc="http://schemas.openxmlformats.org/drawingml/2006/lockedCanvas" xmlns="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25000"/>
              <a:buFont typeface="Wingdings" charset="0"/>
              <a:buChar char="§"/>
              <a:defRPr sz="2800" b="1">
                <a:solidFill>
                  <a:schemeClr val="bg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25000"/>
              <a:buFont typeface="Wingdings" charset="0"/>
              <a:buChar char="§"/>
              <a:defRPr sz="2400" b="1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25000"/>
              <a:buFont typeface="Wingdings" charset="0"/>
              <a:buChar char="§"/>
              <a:defRPr sz="2000" b="1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25000"/>
              <a:buFont typeface="Wingdings" charset="0"/>
              <a:buChar char="§"/>
              <a:defRPr sz="1800" b="1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25000"/>
              <a:buFont typeface="Wingdings" charset="0"/>
              <a:buChar char="§"/>
              <a:defRPr sz="1800" b="1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25000"/>
              <a:buFont typeface="Wingdings" charset="0"/>
              <a:buChar char="§"/>
              <a:defRPr sz="1800" b="1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25000"/>
              <a:buFont typeface="Wingdings" charset="0"/>
              <a:buChar char="§"/>
              <a:defRPr sz="1800" b="1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25000"/>
              <a:buFont typeface="Wingdings" charset="0"/>
              <a:buChar char="§"/>
              <a:defRPr sz="1800" b="1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25000"/>
              <a:buFont typeface="Wingdings" charset="0"/>
              <a:buChar char="§"/>
              <a:defRPr sz="1800" b="1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cs typeface="Arial"/>
              </a:rPr>
              <a:t>GWF-GWT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cs typeface="Arial"/>
              </a:rPr>
              <a:t>Pass fluxes in memory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cs typeface="Arial"/>
              </a:rPr>
              <a:t>Retrieve saved fluxes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cs typeface="Arial"/>
              </a:rPr>
              <a:t>GWF-GWE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cs typeface="Arial"/>
              </a:rPr>
              <a:t>Pass fluxes in memory</a:t>
            </a:r>
            <a:endParaRPr lang="en-US" sz="1800" b="0" dirty="0">
              <a:solidFill>
                <a:schemeClr val="tx1"/>
              </a:solidFill>
              <a:cs typeface="Arial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cs typeface="Arial"/>
              </a:rPr>
              <a:t>Retrieve saved fluxes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cs typeface="Arial"/>
              </a:rPr>
              <a:t>GWF-PRT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cs typeface="Arial"/>
              </a:rPr>
              <a:t>Pass fluxes in memory</a:t>
            </a:r>
            <a:endParaRPr lang="en-US" sz="1800" b="0" dirty="0">
              <a:solidFill>
                <a:schemeClr val="tx1"/>
              </a:solidFill>
              <a:cs typeface="Arial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cs typeface="Arial"/>
              </a:rPr>
              <a:t>Retrieve saved fluxes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3B5E7B-8389-369E-CA5A-99D7A8AA80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44" t="1922" r="-54" b="1502"/>
          <a:stretch>
            <a:fillRect/>
          </a:stretch>
        </p:blipFill>
        <p:spPr>
          <a:xfrm>
            <a:off x="3929495" y="1019031"/>
            <a:ext cx="8088430" cy="560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12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B3451-780B-16E1-9708-0ABAF0CCF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0593A7-3CBB-B4C5-4E93-ED5DE1238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334" y="1210"/>
            <a:ext cx="10905066" cy="826325"/>
          </a:xfrm>
        </p:spPr>
        <p:txBody>
          <a:bodyPr/>
          <a:lstStyle/>
          <a:p>
            <a:r>
              <a:rPr lang="en-US" sz="3100">
                <a:cs typeface="Arial"/>
              </a:rPr>
              <a:t>Models of the Same or Different Type May Be Coupled</a:t>
            </a:r>
            <a:endParaRPr lang="en-US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6528E92-F34D-5597-D64A-5E79E5385B96}"/>
              </a:ext>
            </a:extLst>
          </p:cNvPr>
          <p:cNvSpPr>
            <a:spLocks noGrp="1"/>
          </p:cNvSpPr>
          <p:nvPr/>
        </p:nvSpPr>
        <p:spPr bwMode="auto">
          <a:xfrm>
            <a:off x="421753" y="1361954"/>
            <a:ext cx="2743002" cy="3920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lc="http://schemas.openxmlformats.org/drawingml/2006/lockedCanvas" xmlns:ma14="http://schemas.microsoft.com/office/mac/drawingml/2011/main" xmlns="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25000"/>
              <a:buFont typeface="Wingdings" charset="0"/>
              <a:buChar char="§"/>
              <a:defRPr sz="2800" b="1">
                <a:solidFill>
                  <a:schemeClr val="bg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25000"/>
              <a:buFont typeface="Wingdings" charset="0"/>
              <a:buChar char="§"/>
              <a:defRPr sz="2400" b="1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25000"/>
              <a:buFont typeface="Wingdings" charset="0"/>
              <a:buChar char="§"/>
              <a:defRPr sz="2000" b="1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25000"/>
              <a:buFont typeface="Wingdings" charset="0"/>
              <a:buChar char="§"/>
              <a:defRPr sz="1800" b="1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25000"/>
              <a:buFont typeface="Wingdings" charset="0"/>
              <a:buChar char="§"/>
              <a:defRPr sz="1800" b="1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25000"/>
              <a:buFont typeface="Wingdings" charset="0"/>
              <a:buChar char="§"/>
              <a:defRPr sz="1800" b="1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25000"/>
              <a:buFont typeface="Wingdings" charset="0"/>
              <a:buChar char="§"/>
              <a:defRPr sz="1800" b="1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25000"/>
              <a:buFont typeface="Wingdings" charset="0"/>
              <a:buChar char="§"/>
              <a:defRPr sz="1800" b="1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25000"/>
              <a:buFont typeface="Wingdings" charset="0"/>
              <a:buChar char="§"/>
              <a:defRPr sz="1800" b="1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14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GWF-GWF</a:t>
            </a:r>
          </a:p>
          <a:p>
            <a:pPr>
              <a:spcBef>
                <a:spcPts val="14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cs typeface="Arial"/>
              </a:rPr>
              <a:t>GWF-GWT</a:t>
            </a:r>
          </a:p>
          <a:p>
            <a:pPr>
              <a:spcBef>
                <a:spcPts val="14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cs typeface="Arial"/>
              </a:rPr>
              <a:t>GWF-GWE</a:t>
            </a:r>
          </a:p>
          <a:p>
            <a:pPr>
              <a:spcBef>
                <a:spcPts val="14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cs typeface="Arial"/>
              </a:rPr>
              <a:t>GWF-PRT</a:t>
            </a:r>
          </a:p>
          <a:p>
            <a:pPr>
              <a:spcBef>
                <a:spcPts val="14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cs typeface="Arial"/>
              </a:rPr>
              <a:t>GWT-GWT</a:t>
            </a:r>
          </a:p>
          <a:p>
            <a:pPr>
              <a:spcBef>
                <a:spcPts val="14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cs typeface="Arial"/>
              </a:rPr>
              <a:t>GWE-GWE</a:t>
            </a:r>
          </a:p>
          <a:p>
            <a:pPr>
              <a:spcBef>
                <a:spcPts val="14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cs typeface="Arial"/>
              </a:rPr>
              <a:t>PRT-PRT (coming in ’27)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35CB68-1A34-B26C-1044-60649D5A8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649" y="791688"/>
            <a:ext cx="2762663" cy="59673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A21CE8-BCAC-1ED8-A4E1-2624E006B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466" y="791688"/>
            <a:ext cx="4930430" cy="59624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B8C0E8-E6F4-7128-AA61-961963C1A6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3549" b="395"/>
          <a:stretch>
            <a:fillRect/>
          </a:stretch>
        </p:blipFill>
        <p:spPr>
          <a:xfrm>
            <a:off x="5963578" y="3082203"/>
            <a:ext cx="1042271" cy="124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42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dd02d64-b7f3-43f7-a145-cfd68d338edf}" enabled="1" method="Standard" siteId="{0693b5ba-4b18-4d7b-9341-f32f400a549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211</Words>
  <Application>Microsoft Office PowerPoint</Application>
  <PresentationFormat>Widescreen</PresentationFormat>
  <Paragraphs>46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Multi-Model Coupling</vt:lpstr>
      <vt:lpstr>Simulation Types</vt:lpstr>
      <vt:lpstr>LGR Simulation</vt:lpstr>
      <vt:lpstr>GWF Exchanges</vt:lpstr>
      <vt:lpstr>Models of a Different Type May Be Coupled</vt:lpstr>
      <vt:lpstr>Models of the Same or Different Type May Be Coupled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Morway, Eric</dc:creator>
  <cp:lastModifiedBy>Morway, Eric</cp:lastModifiedBy>
  <cp:revision>2</cp:revision>
  <dcterms:created xsi:type="dcterms:W3CDTF">2026-09-10T15:26:31Z</dcterms:created>
  <dcterms:modified xsi:type="dcterms:W3CDTF">2026-09-10T15:42:50Z</dcterms:modified>
</cp:coreProperties>
</file>